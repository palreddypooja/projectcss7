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98" r:id="rId5"/>
    <p:sldId id="257" r:id="rId6"/>
    <p:sldId id="270" r:id="rId7"/>
    <p:sldId id="271" r:id="rId8"/>
    <p:sldId id="273" r:id="rId9"/>
    <p:sldId id="278" r:id="rId10"/>
    <p:sldId id="299" r:id="rId11"/>
    <p:sldId id="300" r:id="rId12"/>
    <p:sldId id="301" r:id="rId13"/>
    <p:sldId id="263" r:id="rId14"/>
    <p:sldId id="284" r:id="rId15"/>
    <p:sldId id="289" r:id="rId16"/>
    <p:sldId id="285" r:id="rId17"/>
    <p:sldId id="290" r:id="rId18"/>
    <p:sldId id="288" r:id="rId19"/>
    <p:sldId id="280" r:id="rId20"/>
    <p:sldId id="291" r:id="rId21"/>
    <p:sldId id="302" r:id="rId22"/>
    <p:sldId id="303" r:id="rId23"/>
    <p:sldId id="306" r:id="rId24"/>
    <p:sldId id="286"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9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9927" autoAdjust="0"/>
    <p:restoredTop sz="94660"/>
  </p:normalViewPr>
  <p:slideViewPr>
    <p:cSldViewPr showGuides="1">
      <p:cViewPr varScale="1">
        <p:scale>
          <a:sx n="68" d="100"/>
          <a:sy n="68" d="100"/>
        </p:scale>
        <p:origin x="-1674" y="-96"/>
      </p:cViewPr>
      <p:guideLst>
        <p:guide orient="horz" pos="2160"/>
        <p:guide pos="2896"/>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3552D1E-EBCD-4E1C-99A0-7116E97B5D0D}"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C317D81-0B31-4578-A522-4E7E109B55A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pPr algn="just">
              <a:buNone/>
            </a:pPr>
            <a:endParaRPr lang="en-US" dirty="0">
              <a:solidFill>
                <a:schemeClr val="tx1"/>
              </a:solidFill>
              <a:latin typeface="Times New Roman" panose="02020603050405020304" pitchFamily="18" charset="0"/>
              <a:cs typeface="Times New Roman" panose="02020603050405020304" pitchFamily="18" charset="0"/>
            </a:endParaRPr>
          </a:p>
          <a:p>
            <a:endParaRPr lang="en-US" dirty="0">
              <a:solidFill>
                <a:schemeClr val="tx1"/>
              </a:solidFill>
            </a:endParaRPr>
          </a:p>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1" dirty="0">
              <a:solidFill>
                <a:schemeClr val="tx1"/>
              </a:solidFill>
              <a:latin typeface="Times New Roman" panose="02020603050405020304" pitchFamily="18" charset="0"/>
              <a:cs typeface="Times New Roman" panose="02020603050405020304" pitchFamily="18" charset="0"/>
            </a:endParaRPr>
          </a:p>
          <a:p>
            <a:endParaRPr lang="en-US" dirty="0"/>
          </a:p>
        </p:txBody>
      </p:sp>
      <p:sp>
        <p:nvSpPr>
          <p:cNvPr id="4" name="Slide Number Placeholder 3"/>
          <p:cNvSpPr>
            <a:spLocks noGrp="1"/>
          </p:cNvSpPr>
          <p:nvPr>
            <p:ph type="sldNum" sz="quarter" idx="10"/>
          </p:nvPr>
        </p:nvSpPr>
        <p:spPr/>
        <p:txBody>
          <a:bodyPr/>
          <a:lstStyle/>
          <a:p>
            <a:fld id="{4C317D81-0B31-4578-A522-4E7E109B55A7}"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C317D81-0B31-4578-A522-4E7E109B55A7}"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pPr indent="0">
              <a:buClr>
                <a:srgbClr val="009DD9"/>
              </a:buClr>
              <a:buFont typeface="Wingdings" panose="05000000000000000000" charset="0"/>
              <a:buNone/>
            </a:pPr>
            <a:r>
              <a:rPr lang="en-US" dirty="0" smtClean="0">
                <a:latin typeface="Times New Roman" panose="02020603050405020304" pitchFamily="18" charset="0"/>
                <a:cs typeface="Times New Roman" panose="02020603050405020304" pitchFamily="18" charset="0"/>
                <a:sym typeface="+mn-ea"/>
              </a:rPr>
              <a:t>                                                                                                   </a:t>
            </a:r>
            <a:endParaRPr lang="en-US" dirty="0"/>
          </a:p>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82972F2A-9A6A-441E-9A86-36C79E5189DB}" type="datetimeFigureOut">
              <a:rPr lang="en-US" smtClean="0"/>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2FE6471B-1E35-410C-B2BE-6C79435CCB88}" type="slidenum">
              <a:rPr lang="en-US" smtClean="0"/>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2972F2A-9A6A-441E-9A86-36C79E5189D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E6471B-1E35-410C-B2BE-6C79435CCB88}"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endParaRPr kumimoji="0" lang="en-US" smtClean="0"/>
          </a:p>
        </p:txBody>
      </p:sp>
      <p:sp>
        <p:nvSpPr>
          <p:cNvPr id="4" name="Date Placeholder 3"/>
          <p:cNvSpPr>
            <a:spLocks noGrp="1"/>
          </p:cNvSpPr>
          <p:nvPr>
            <p:ph type="dt" sz="half" idx="10"/>
          </p:nvPr>
        </p:nvSpPr>
        <p:spPr/>
        <p:txBody>
          <a:bodyPr/>
          <a:lstStyle/>
          <a:p>
            <a:fld id="{82972F2A-9A6A-441E-9A86-36C79E5189D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E6471B-1E35-410C-B2BE-6C79435CCB88}" type="slidenum">
              <a:rPr lang="en-US" smtClean="0"/>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82972F2A-9A6A-441E-9A86-36C79E5189D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E6471B-1E35-410C-B2BE-6C79435CCB88}"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endParaRPr kumimoji="0" lang="en-US" smtClean="0"/>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endParaRPr kumimoji="0" lang="en-US" smtClean="0"/>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82972F2A-9A6A-441E-9A86-36C79E5189DB}"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FE6471B-1E35-410C-B2BE-6C79435CCB88}"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82972F2A-9A6A-441E-9A86-36C79E5189DB}"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FE6471B-1E35-410C-B2BE-6C79435CCB88}"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2972F2A-9A6A-441E-9A86-36C79E5189DB}"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FE6471B-1E35-410C-B2BE-6C79435CCB88}"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endParaRPr kumimoji="0" lang="en-US" smtClean="0"/>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82972F2A-9A6A-441E-9A86-36C79E5189D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E6471B-1E35-410C-B2BE-6C79435CCB88}"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endParaRPr kumimoji="0" lang="en-US" smtClean="0"/>
          </a:p>
        </p:txBody>
      </p:sp>
      <p:sp>
        <p:nvSpPr>
          <p:cNvPr id="5" name="Date Placeholder 4"/>
          <p:cNvSpPr>
            <a:spLocks noGrp="1"/>
          </p:cNvSpPr>
          <p:nvPr>
            <p:ph type="dt" sz="half" idx="10"/>
          </p:nvPr>
        </p:nvSpPr>
        <p:spPr/>
        <p:txBody>
          <a:bodyPr/>
          <a:lstStyle/>
          <a:p>
            <a:fld id="{82972F2A-9A6A-441E-9A86-36C79E5189D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2FE6471B-1E35-410C-B2BE-6C79435CCB88}" type="slidenum">
              <a:rPr lang="en-US" smtClean="0"/>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2972F2A-9A6A-441E-9A86-36C79E5189D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E6471B-1E35-410C-B2BE-6C79435CCB88}"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2972F2A-9A6A-441E-9A86-36C79E5189D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E6471B-1E35-410C-B2BE-6C79435CCB88}"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82972F2A-9A6A-441E-9A86-36C79E5189D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E6471B-1E35-410C-B2BE-6C79435CCB88}"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endParaRPr kumimoji="0" lang="en-US" smtClean="0"/>
          </a:p>
          <a:p>
            <a:pPr lvl="1" eaLnBrk="1" latinLnBrk="0" hangingPunct="1"/>
            <a:r>
              <a:rPr kumimoji="0" lang="en-US" smtClean="0"/>
              <a:t>Second level</a:t>
            </a:r>
            <a:endParaRPr kumimoji="0" lang="en-US" smtClean="0"/>
          </a:p>
          <a:p>
            <a:pPr lvl="2" eaLnBrk="1" latinLnBrk="0" hangingPunct="1"/>
            <a:r>
              <a:rPr kumimoji="0" lang="en-US" smtClean="0"/>
              <a:t>Third level</a:t>
            </a:r>
            <a:endParaRPr kumimoji="0" lang="en-US" smtClean="0"/>
          </a:p>
          <a:p>
            <a:pPr lvl="3" eaLnBrk="1" latinLnBrk="0" hangingPunct="1"/>
            <a:r>
              <a:rPr kumimoji="0" lang="en-US" smtClean="0"/>
              <a:t>Fourth level</a:t>
            </a:r>
            <a:endParaRPr kumimoji="0" lang="en-US" smtClean="0"/>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82972F2A-9A6A-441E-9A86-36C79E5189DB}" type="datetimeFigureOut">
              <a:rPr lang="en-US" smtClean="0"/>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2FE6471B-1E35-410C-B2BE-6C79435CCB88}" type="slidenum">
              <a:rPr lang="en-US" smtClean="0"/>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panose="05020102010507070707"/>
        <a:buChar char=""/>
        <a:defRPr kumimoji="0" sz="2600" kern="1200">
          <a:solidFill>
            <a:schemeClr val="tx1"/>
          </a:solidFill>
          <a:latin typeface="+mn-lt"/>
          <a:ea typeface="+mn-ea"/>
          <a:cs typeface="+mn-cs"/>
        </a:defRPr>
      </a:lvl1pPr>
      <a:lvl2pPr marL="640080" indent="-247015" algn="l" rtl="0" eaLnBrk="1" latinLnBrk="0" hangingPunct="1">
        <a:spcBef>
          <a:spcPct val="20000"/>
        </a:spcBef>
        <a:buClr>
          <a:schemeClr val="accent1"/>
        </a:buClr>
        <a:buSzPct val="85000"/>
        <a:buFont typeface="Wingdings 2" panose="05020102010507070707"/>
        <a:buChar char=""/>
        <a:defRPr kumimoji="0" sz="2400" kern="1200">
          <a:solidFill>
            <a:schemeClr val="tx1"/>
          </a:solidFill>
          <a:latin typeface="+mn-lt"/>
          <a:ea typeface="+mn-ea"/>
          <a:cs typeface="+mn-cs"/>
        </a:defRPr>
      </a:lvl2pPr>
      <a:lvl3pPr marL="914400" indent="-247015" algn="l" rtl="0" eaLnBrk="1" latinLnBrk="0" hangingPunct="1">
        <a:spcBef>
          <a:spcPct val="20000"/>
        </a:spcBef>
        <a:buClr>
          <a:schemeClr val="accent2"/>
        </a:buClr>
        <a:buSzPct val="70000"/>
        <a:buFont typeface="Wingdings 2" panose="05020102010507070707"/>
        <a:buChar char=""/>
        <a:defRPr kumimoji="0" sz="2100" kern="1200">
          <a:solidFill>
            <a:schemeClr val="tx1"/>
          </a:solidFill>
          <a:latin typeface="+mn-lt"/>
          <a:ea typeface="+mn-ea"/>
          <a:cs typeface="+mn-cs"/>
        </a:defRPr>
      </a:lvl3pPr>
      <a:lvl4pPr marL="1188720" indent="-210185" algn="l" rtl="0" eaLnBrk="1" latinLnBrk="0" hangingPunct="1">
        <a:spcBef>
          <a:spcPct val="20000"/>
        </a:spcBef>
        <a:buClr>
          <a:schemeClr val="accent3"/>
        </a:buClr>
        <a:buSzPct val="65000"/>
        <a:buFont typeface="Wingdings 2" panose="05020102010507070707"/>
        <a:buChar char=""/>
        <a:defRPr kumimoji="0" sz="2000" kern="1200">
          <a:solidFill>
            <a:schemeClr val="tx1"/>
          </a:solidFill>
          <a:latin typeface="+mn-lt"/>
          <a:ea typeface="+mn-ea"/>
          <a:cs typeface="+mn-cs"/>
        </a:defRPr>
      </a:lvl4pPr>
      <a:lvl5pPr marL="1463040" indent="-210185" algn="l" rtl="0" eaLnBrk="1" latinLnBrk="0" hangingPunct="1">
        <a:spcBef>
          <a:spcPct val="20000"/>
        </a:spcBef>
        <a:buClr>
          <a:schemeClr val="accent4"/>
        </a:buClr>
        <a:buSzPct val="65000"/>
        <a:buFont typeface="Wingdings 2" panose="05020102010507070707"/>
        <a:buChar char=""/>
        <a:defRPr kumimoji="0"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jpe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1.png"/><Relationship Id="rId1"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3.png"/><Relationship Id="rId1"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7.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1371600" y="0"/>
            <a:ext cx="7772400" cy="1752600"/>
          </a:xfrm>
        </p:spPr>
        <p:txBody>
          <a:bodyPr>
            <a:normAutofit/>
          </a:bodyPr>
          <a:lstStyle/>
          <a:p>
            <a:br>
              <a:rPr lang="en-US" sz="700" dirty="0"/>
            </a:br>
            <a:r>
              <a:rPr lang="en-US" sz="700" dirty="0" smtClean="0"/>
              <a:t>    </a:t>
            </a:r>
            <a:endParaRPr lang="en-US" dirty="0"/>
          </a:p>
        </p:txBody>
      </p:sp>
      <p:sp>
        <p:nvSpPr>
          <p:cNvPr id="3" name="Subtitle 2"/>
          <p:cNvSpPr>
            <a:spLocks noGrp="1"/>
          </p:cNvSpPr>
          <p:nvPr>
            <p:ph type="subTitle" idx="4294967295"/>
          </p:nvPr>
        </p:nvSpPr>
        <p:spPr>
          <a:xfrm>
            <a:off x="368300" y="2016760"/>
            <a:ext cx="8604885" cy="4606925"/>
          </a:xfrm>
        </p:spPr>
        <p:txBody>
          <a:bodyPr>
            <a:normAutofit lnSpcReduction="10000"/>
          </a:bodyPr>
          <a:lstStyle/>
          <a:p>
            <a:pPr algn="ctr">
              <a:buNone/>
            </a:pPr>
            <a:r>
              <a:rPr lang="en-US" sz="2160" b="1" dirty="0" smtClean="0">
                <a:solidFill>
                  <a:schemeClr val="tx1"/>
                </a:solidFill>
                <a:latin typeface="Times New Roman" panose="02020603050405020304" pitchFamily="18" charset="0"/>
                <a:cs typeface="Times New Roman" panose="02020603050405020304" pitchFamily="18" charset="0"/>
              </a:rPr>
              <a:t>“5G SMART DIABETES TOWARDS PERSONALIZED DIABETES DIAGNOSIS WITH HEALTH CARE BIG DATA CLOUDS”</a:t>
            </a:r>
            <a:endParaRPr lang="en-US" sz="2160" b="1" dirty="0" smtClean="0">
              <a:solidFill>
                <a:schemeClr val="tx1"/>
              </a:solidFill>
              <a:latin typeface="Times New Roman" panose="02020603050405020304" pitchFamily="18" charset="0"/>
              <a:cs typeface="Times New Roman" panose="02020603050405020304" pitchFamily="18" charset="0"/>
            </a:endParaRPr>
          </a:p>
          <a:p>
            <a:pPr algn="ctr">
              <a:buNone/>
            </a:pPr>
            <a:endParaRPr lang="en-US" sz="2160" b="1" dirty="0" smtClean="0">
              <a:solidFill>
                <a:schemeClr val="tx1"/>
              </a:solidFill>
              <a:latin typeface="Times New Roman" panose="02020603050405020304" pitchFamily="18" charset="0"/>
              <a:cs typeface="Times New Roman" panose="02020603050405020304" pitchFamily="18" charset="0"/>
            </a:endParaRPr>
          </a:p>
          <a:p>
            <a:pPr algn="ctr">
              <a:buNone/>
            </a:pPr>
            <a:r>
              <a:rPr lang="en-US" sz="1800" b="1" i="1" dirty="0" smtClean="0">
                <a:solidFill>
                  <a:schemeClr val="tx1"/>
                </a:solidFill>
                <a:latin typeface="Times New Roman" panose="02020603050405020304" pitchFamily="18" charset="0"/>
                <a:cs typeface="Times New Roman" panose="02020603050405020304" pitchFamily="18" charset="0"/>
              </a:rPr>
              <a:t>Submitted </a:t>
            </a:r>
            <a:r>
              <a:rPr lang="en-US" sz="1800" b="1" i="1" dirty="0">
                <a:solidFill>
                  <a:schemeClr val="tx1"/>
                </a:solidFill>
                <a:latin typeface="Times New Roman" panose="02020603050405020304" pitchFamily="18" charset="0"/>
                <a:cs typeface="Times New Roman" panose="02020603050405020304" pitchFamily="18" charset="0"/>
              </a:rPr>
              <a:t>by </a:t>
            </a:r>
            <a:endParaRPr lang="en-US" sz="1800" b="1" i="1" dirty="0">
              <a:solidFill>
                <a:schemeClr val="tx1"/>
              </a:solidFill>
              <a:latin typeface="Times New Roman" panose="02020603050405020304" pitchFamily="18" charset="0"/>
              <a:cs typeface="Times New Roman" panose="02020603050405020304" pitchFamily="18" charset="0"/>
            </a:endParaRPr>
          </a:p>
          <a:p>
            <a:pPr algn="ctr">
              <a:buNone/>
            </a:pPr>
            <a:endParaRPr lang="en-US" sz="1800" dirty="0">
              <a:solidFill>
                <a:schemeClr val="tx1"/>
              </a:solidFill>
              <a:latin typeface="Times New Roman" panose="02020603050405020304" pitchFamily="18" charset="0"/>
              <a:cs typeface="Times New Roman" panose="02020603050405020304" pitchFamily="18" charset="0"/>
            </a:endParaRPr>
          </a:p>
          <a:p>
            <a:pPr algn="just">
              <a:buNone/>
            </a:pPr>
            <a:r>
              <a:rPr lang="en-US" sz="2000" b="1" dirty="0" smtClean="0">
                <a:solidFill>
                  <a:schemeClr val="tx1"/>
                </a:solidFill>
                <a:latin typeface="Times New Roman" panose="02020603050405020304" pitchFamily="18" charset="0"/>
                <a:cs typeface="Times New Roman" panose="02020603050405020304" pitchFamily="18" charset="0"/>
              </a:rPr>
              <a:t>                          P.POOJA                                         21RG1A0540</a:t>
            </a:r>
            <a:endParaRPr lang="en-US" sz="2000" dirty="0">
              <a:solidFill>
                <a:schemeClr val="tx1"/>
              </a:solidFill>
              <a:latin typeface="Times New Roman" panose="02020603050405020304" pitchFamily="18" charset="0"/>
              <a:cs typeface="Times New Roman" panose="02020603050405020304" pitchFamily="18" charset="0"/>
            </a:endParaRPr>
          </a:p>
          <a:p>
            <a:pPr marL="1188720" lvl="2" indent="457200" algn="just">
              <a:buNone/>
            </a:pPr>
            <a:r>
              <a:rPr lang="en-US" sz="2000" b="1" dirty="0" smtClean="0">
                <a:solidFill>
                  <a:schemeClr val="tx1"/>
                </a:solidFill>
                <a:latin typeface="Times New Roman" panose="02020603050405020304" pitchFamily="18" charset="0"/>
                <a:cs typeface="Times New Roman" panose="02020603050405020304" pitchFamily="18" charset="0"/>
              </a:rPr>
              <a:t>S.ARCHANA                                  21RG1A0550</a:t>
            </a:r>
            <a:endParaRPr lang="en-US" sz="2000" dirty="0">
              <a:solidFill>
                <a:schemeClr val="tx1"/>
              </a:solidFill>
              <a:latin typeface="Times New Roman" panose="02020603050405020304" pitchFamily="18" charset="0"/>
              <a:cs typeface="Times New Roman" panose="02020603050405020304" pitchFamily="18" charset="0"/>
            </a:endParaRPr>
          </a:p>
          <a:p>
            <a:pPr marL="1188720" lvl="2" indent="457200" algn="just">
              <a:buNone/>
            </a:pPr>
            <a:r>
              <a:rPr lang="en-US" sz="2000" b="1" dirty="0" smtClean="0">
                <a:solidFill>
                  <a:schemeClr val="tx1"/>
                </a:solidFill>
                <a:latin typeface="Times New Roman" panose="02020603050405020304" pitchFamily="18" charset="0"/>
                <a:cs typeface="Times New Roman" panose="02020603050405020304" pitchFamily="18" charset="0"/>
              </a:rPr>
              <a:t>S.KAVYACHANDRIKA</a:t>
            </a:r>
            <a:r>
              <a:rPr lang="en-US" sz="2000" b="1" dirty="0">
                <a:solidFill>
                  <a:schemeClr val="tx1"/>
                </a:solidFill>
                <a:latin typeface="Times New Roman" panose="02020603050405020304" pitchFamily="18" charset="0"/>
                <a:cs typeface="Times New Roman" panose="02020603050405020304" pitchFamily="18" charset="0"/>
              </a:rPr>
              <a:t>	           </a:t>
            </a:r>
            <a:r>
              <a:rPr lang="en-US" sz="2000" b="1" dirty="0" smtClean="0">
                <a:solidFill>
                  <a:schemeClr val="tx1"/>
                </a:solidFill>
                <a:latin typeface="Times New Roman" panose="02020603050405020304" pitchFamily="18" charset="0"/>
                <a:cs typeface="Times New Roman" panose="02020603050405020304" pitchFamily="18" charset="0"/>
              </a:rPr>
              <a:t>21RG1A0552</a:t>
            </a:r>
            <a:endParaRPr lang="en-US" sz="2000" dirty="0">
              <a:solidFill>
                <a:schemeClr val="tx1"/>
              </a:solidFill>
              <a:latin typeface="Times New Roman" panose="02020603050405020304" pitchFamily="18" charset="0"/>
              <a:cs typeface="Times New Roman" panose="02020603050405020304" pitchFamily="18" charset="0"/>
            </a:endParaRPr>
          </a:p>
          <a:p>
            <a:pPr marL="1188720" lvl="2" indent="457200" algn="just">
              <a:buNone/>
            </a:pPr>
            <a:r>
              <a:rPr lang="en-US" sz="2000" b="1" dirty="0" smtClean="0">
                <a:solidFill>
                  <a:schemeClr val="tx1"/>
                </a:solidFill>
                <a:latin typeface="Times New Roman" panose="02020603050405020304" pitchFamily="18" charset="0"/>
                <a:cs typeface="Times New Roman" panose="02020603050405020304" pitchFamily="18" charset="0"/>
              </a:rPr>
              <a:t>T.AKHILA                                      22RG5A0506</a:t>
            </a:r>
            <a:endParaRPr lang="en-US" sz="2000" b="1" dirty="0">
              <a:solidFill>
                <a:schemeClr val="tx1"/>
              </a:solidFill>
              <a:latin typeface="Times New Roman" panose="02020603050405020304" pitchFamily="18" charset="0"/>
              <a:cs typeface="Times New Roman" panose="02020603050405020304" pitchFamily="18" charset="0"/>
            </a:endParaRPr>
          </a:p>
          <a:p>
            <a:pPr algn="just">
              <a:buNone/>
            </a:pPr>
            <a:r>
              <a:rPr lang="en-US" sz="2000" b="1" i="1" dirty="0" smtClean="0">
                <a:solidFill>
                  <a:schemeClr val="tx1"/>
                </a:solidFill>
                <a:latin typeface="Times New Roman" panose="02020603050405020304" pitchFamily="18" charset="0"/>
                <a:cs typeface="Times New Roman" panose="02020603050405020304" pitchFamily="18" charset="0"/>
              </a:rPr>
              <a:t>                               </a:t>
            </a:r>
            <a:endParaRPr lang="en-US" sz="2000" b="1" i="1" dirty="0" smtClean="0">
              <a:solidFill>
                <a:schemeClr val="tx1"/>
              </a:solidFill>
              <a:latin typeface="Times New Roman" panose="02020603050405020304" pitchFamily="18" charset="0"/>
              <a:cs typeface="Times New Roman" panose="02020603050405020304" pitchFamily="18" charset="0"/>
            </a:endParaRPr>
          </a:p>
          <a:p>
            <a:pPr algn="just">
              <a:buNone/>
            </a:pPr>
            <a:r>
              <a:rPr lang="en-US" sz="2000" b="1" i="1" dirty="0" smtClean="0">
                <a:solidFill>
                  <a:schemeClr val="tx1"/>
                </a:solidFill>
                <a:latin typeface="Times New Roman" panose="02020603050405020304" pitchFamily="18" charset="0"/>
                <a:cs typeface="Times New Roman" panose="02020603050405020304" pitchFamily="18" charset="0"/>
              </a:rPr>
              <a:t>                                      	Under </a:t>
            </a:r>
            <a:r>
              <a:rPr lang="en-US" sz="2000" b="1" i="1" dirty="0">
                <a:solidFill>
                  <a:schemeClr val="tx1"/>
                </a:solidFill>
                <a:latin typeface="Times New Roman" panose="02020603050405020304" pitchFamily="18" charset="0"/>
                <a:cs typeface="Times New Roman" panose="02020603050405020304" pitchFamily="18" charset="0"/>
              </a:rPr>
              <a:t>the Guidance of </a:t>
            </a:r>
            <a:endParaRPr lang="en-US" sz="2000" i="1" dirty="0">
              <a:solidFill>
                <a:schemeClr val="tx1"/>
              </a:solidFill>
              <a:latin typeface="Times New Roman" panose="02020603050405020304" pitchFamily="18" charset="0"/>
              <a:cs typeface="Times New Roman" panose="02020603050405020304" pitchFamily="18" charset="0"/>
            </a:endParaRPr>
          </a:p>
          <a:p>
            <a:pPr algn="just">
              <a:buNone/>
            </a:pPr>
            <a:r>
              <a:rPr lang="en-US" sz="2000" b="1" i="1" dirty="0" smtClean="0">
                <a:solidFill>
                  <a:schemeClr val="tx1"/>
                </a:solidFill>
                <a:latin typeface="Times New Roman" panose="02020603050405020304" pitchFamily="18" charset="0"/>
                <a:cs typeface="Times New Roman" panose="02020603050405020304" pitchFamily="18" charset="0"/>
              </a:rPr>
              <a:t>              		                      </a:t>
            </a:r>
            <a:r>
              <a:rPr lang="en-US" sz="2000" b="1" i="1" dirty="0" smtClean="0">
                <a:latin typeface="Times New Roman" panose="02020603050405020304" pitchFamily="18" charset="0"/>
                <a:cs typeface="Times New Roman" panose="02020603050405020304" pitchFamily="18" charset="0"/>
                <a:sym typeface="+mn-ea"/>
              </a:rPr>
              <a:t>AVYAKTHA.E</a:t>
            </a:r>
            <a:endParaRPr lang="en-US" sz="2000" b="1" i="1" dirty="0" smtClean="0">
              <a:latin typeface="Times New Roman" panose="02020603050405020304" pitchFamily="18" charset="0"/>
              <a:cs typeface="Times New Roman" panose="02020603050405020304" pitchFamily="18" charset="0"/>
              <a:sym typeface="+mn-ea"/>
            </a:endParaRPr>
          </a:p>
          <a:p>
            <a:pPr algn="just">
              <a:buNone/>
            </a:pPr>
            <a:r>
              <a:rPr lang="en-US" sz="2000" b="1" i="1" dirty="0" smtClean="0">
                <a:latin typeface="Times New Roman" panose="02020603050405020304" pitchFamily="18" charset="0"/>
                <a:cs typeface="Times New Roman" panose="02020603050405020304" pitchFamily="18" charset="0"/>
                <a:sym typeface="+mn-ea"/>
              </a:rPr>
              <a:t>                                                                </a:t>
            </a:r>
            <a:r>
              <a:rPr lang="en-US" sz="1600" i="1" dirty="0" smtClean="0">
                <a:latin typeface="Times New Roman" panose="02020603050405020304" pitchFamily="18" charset="0"/>
                <a:cs typeface="Times New Roman" panose="02020603050405020304" pitchFamily="18" charset="0"/>
                <a:sym typeface="+mn-ea"/>
              </a:rPr>
              <a:t>M.TECH</a:t>
            </a:r>
            <a:endParaRPr lang="en-US" sz="1600" i="1" dirty="0" smtClean="0">
              <a:latin typeface="Times New Roman" panose="02020603050405020304" pitchFamily="18" charset="0"/>
              <a:cs typeface="Times New Roman" panose="02020603050405020304" pitchFamily="18" charset="0"/>
              <a:sym typeface="+mn-ea"/>
            </a:endParaRPr>
          </a:p>
          <a:p>
            <a:pPr algn="just">
              <a:buNone/>
            </a:pPr>
            <a:r>
              <a:rPr lang="en-US" sz="1600" i="1" dirty="0" smtClean="0">
                <a:latin typeface="Times New Roman" panose="02020603050405020304" pitchFamily="18" charset="0"/>
                <a:cs typeface="Times New Roman" panose="02020603050405020304" pitchFamily="18" charset="0"/>
                <a:sym typeface="+mn-ea"/>
              </a:rPr>
              <a:t>                                                            </a:t>
            </a:r>
            <a:r>
              <a:rPr lang="en-US" sz="1600" b="1" i="1" dirty="0" smtClean="0">
                <a:solidFill>
                  <a:schemeClr val="tx1"/>
                </a:solidFill>
                <a:latin typeface="Times New Roman" panose="02020603050405020304" pitchFamily="18" charset="0"/>
                <a:cs typeface="Times New Roman" panose="02020603050405020304" pitchFamily="18" charset="0"/>
              </a:rPr>
              <a:t>  </a:t>
            </a:r>
            <a:r>
              <a:rPr lang="en-US" sz="1600" i="1" dirty="0" smtClean="0">
                <a:latin typeface="Times New Roman" panose="02020603050405020304" pitchFamily="18" charset="0"/>
                <a:cs typeface="Times New Roman" panose="02020603050405020304" pitchFamily="18" charset="0"/>
                <a:sym typeface="+mn-ea"/>
              </a:rPr>
              <a:t>ASSISTANT  PROFESSOR</a:t>
            </a:r>
            <a:endParaRPr lang="en-US" sz="1600" dirty="0"/>
          </a:p>
        </p:txBody>
      </p:sp>
      <p:sp>
        <p:nvSpPr>
          <p:cNvPr id="4097" name="Rectangle 1"/>
          <p:cNvSpPr>
            <a:spLocks noChangeArrowheads="1"/>
          </p:cNvSpPr>
          <p:nvPr/>
        </p:nvSpPr>
        <p:spPr bwMode="auto">
          <a:xfrm>
            <a:off x="457200" y="2057400"/>
            <a:ext cx="990600" cy="1169551"/>
          </a:xfrm>
          <a:prstGeom prst="rect">
            <a:avLst/>
          </a:prstGeom>
          <a:noFill/>
          <a:ln w="9525">
            <a:noFill/>
            <a:miter lim="800000"/>
          </a:ln>
          <a:effectLst/>
        </p:spPr>
        <p:txBody>
          <a:bodyPr vert="horz" wrap="squar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b="1" i="0" u="none" strike="noStrike" cap="none" normalizeH="0" baseline="0" dirty="0">
              <a:ln>
                <a:noFill/>
              </a:ln>
              <a:solidFill>
                <a:srgbClr val="FF3399"/>
              </a:solidFill>
              <a:effectLst/>
              <a:latin typeface="Calibri" panose="020F0502020204030204" pitchFamily="34" charset="0"/>
              <a:ea typeface="Bookman Old Style" panose="02050604050505020204" pitchFamily="18" charset="0"/>
              <a:cs typeface="Bookman Old Style" panose="02050604050505020204" pitchFamily="18" charset="0"/>
            </a:endParaRPr>
          </a:p>
          <a:p>
            <a:pPr lvl="0"/>
            <a:endParaRPr lang="en-US" dirty="0" smtClean="0"/>
          </a:p>
          <a:p>
            <a:br>
              <a:rPr lang="en-US" dirty="0" smtClean="0"/>
            </a:br>
            <a:endParaRPr kumimoji="0" lang="en-US" sz="800" b="0" i="0" u="none" strike="noStrike" cap="none" normalizeH="0" baseline="0" dirty="0">
              <a:ln>
                <a:noFill/>
              </a:ln>
              <a:solidFill>
                <a:schemeClr val="tx1"/>
              </a:solidFill>
              <a:effectLst/>
              <a:latin typeface="Bookman Old Style" panose="02050604050505020204" pitchFamily="18" charset="0"/>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pPr>
            <a:endParaRPr kumimoji="0" lang="en-US" sz="800" b="0" i="0" u="none" strike="noStrike" cap="none" normalizeH="0" baseline="0" dirty="0">
              <a:ln>
                <a:noFill/>
              </a:ln>
              <a:solidFill>
                <a:schemeClr val="tx1"/>
              </a:solidFill>
              <a:effectLst/>
              <a:latin typeface="Bookman Old Style" panose="02050604050505020204" pitchFamily="18" charset="0"/>
              <a:cs typeface="Arial" panose="020B0604020202020204" pitchFamily="34" charset="0"/>
            </a:endParaRPr>
          </a:p>
        </p:txBody>
      </p:sp>
      <p:pic>
        <p:nvPicPr>
          <p:cNvPr id="5" name="Picture 4"/>
          <p:cNvPicPr/>
          <p:nvPr/>
        </p:nvPicPr>
        <p:blipFill>
          <a:blip r:embed="rId1">
            <a:extLst>
              <a:ext uri="{28A0092B-C50C-407E-A947-70E740481C1C}">
                <a14:useLocalDpi xmlns:a14="http://schemas.microsoft.com/office/drawing/2010/main" val="0"/>
              </a:ext>
            </a:extLst>
          </a:blip>
          <a:srcRect/>
          <a:stretch>
            <a:fillRect/>
          </a:stretch>
        </p:blipFill>
        <p:spPr bwMode="auto">
          <a:xfrm>
            <a:off x="533400" y="533400"/>
            <a:ext cx="1265851" cy="1066800"/>
          </a:xfrm>
          <a:prstGeom prst="rect">
            <a:avLst/>
          </a:prstGeom>
          <a:noFill/>
          <a:ln>
            <a:noFill/>
          </a:ln>
        </p:spPr>
      </p:pic>
      <p:sp>
        <p:nvSpPr>
          <p:cNvPr id="21505" name="Rectangle 1"/>
          <p:cNvSpPr>
            <a:spLocks noChangeArrowheads="1"/>
          </p:cNvSpPr>
          <p:nvPr/>
        </p:nvSpPr>
        <p:spPr bwMode="auto">
          <a:xfrm>
            <a:off x="1447800" y="76200"/>
            <a:ext cx="8153400" cy="2018069"/>
          </a:xfrm>
          <a:prstGeom prst="rect">
            <a:avLst/>
          </a:prstGeom>
          <a:noFill/>
          <a:ln w="9525">
            <a:noFill/>
            <a:miter lim="800000"/>
          </a:ln>
          <a:effectLst/>
        </p:spPr>
        <p:txBody>
          <a:bodyPr vert="horz" wrap="square" lIns="736368" tIns="850632" rIns="596712" bIns="50784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sz="2400" b="0" i="0" u="none" strike="noStrike" cap="none" normalizeH="0" baseline="0" dirty="0" smtClean="0">
                <a:ln>
                  <a:noFill/>
                </a:ln>
                <a:solidFill>
                  <a:schemeClr val="tx1"/>
                </a:solidFill>
                <a:effectLst/>
                <a:latin typeface="Arial" panose="020B0604020202020204" pitchFamily="34" charset="0"/>
                <a:ea typeface="Cambria" panose="02040503050406030204" pitchFamily="18" charset="0"/>
                <a:cs typeface="Cambria" panose="02040503050406030204" pitchFamily="18" charset="0"/>
              </a:rPr>
            </a:br>
            <a:endParaRPr kumimoji="0" lang="en-US" sz="18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p:txBody>
      </p:sp>
      <p:pic>
        <p:nvPicPr>
          <p:cNvPr id="7" name="Picture 6"/>
          <p:cNvPicPr>
            <a:picLocks noChangeAspect="1"/>
          </p:cNvPicPr>
          <p:nvPr/>
        </p:nvPicPr>
        <p:blipFill>
          <a:blip r:embed="rId2"/>
          <a:stretch>
            <a:fillRect/>
          </a:stretch>
        </p:blipFill>
        <p:spPr>
          <a:xfrm>
            <a:off x="311150" y="534035"/>
            <a:ext cx="8451850" cy="1370965"/>
          </a:xfrm>
          <a:prstGeom prst="rect">
            <a:avLst/>
          </a:prstGeom>
        </p:spPr>
      </p:pic>
    </p:spTree>
  </p:cSld>
  <p:clrMapOvr>
    <a:masterClrMapping/>
  </p:clrMapOvr>
  <p:transition>
    <p:wipe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625475" y="1953895"/>
            <a:ext cx="5424170" cy="4599940"/>
          </a:xfrm>
          <a:prstGeom prst="rect">
            <a:avLst/>
          </a:prstGeom>
          <a:noFill/>
        </p:spPr>
        <p:txBody>
          <a:bodyPr wrap="square" rtlCol="0" anchor="t">
            <a:noAutofit/>
          </a:bodyPr>
          <a:lstStyle/>
          <a:p>
            <a:pPr indent="0">
              <a:buClr>
                <a:srgbClr val="009DD9"/>
              </a:buClr>
              <a:buFont typeface="Wingdings" panose="05000000000000000000" charset="0"/>
              <a:buChar char="Ø"/>
            </a:pPr>
            <a:r>
              <a:rPr lang="en-US" sz="2000" dirty="0" smtClean="0">
                <a:latin typeface="Times New Roman" panose="02020603050405020304" pitchFamily="18" charset="0"/>
                <a:cs typeface="Times New Roman" panose="02020603050405020304" pitchFamily="18" charset="0"/>
                <a:sym typeface="+mn-ea"/>
              </a:rPr>
              <a:t> </a:t>
            </a:r>
            <a:r>
              <a:rPr lang="en-US" sz="2000" b="1" dirty="0" smtClean="0">
                <a:latin typeface="Times New Roman" panose="02020603050405020304" pitchFamily="18" charset="0"/>
                <a:cs typeface="Times New Roman" panose="02020603050405020304" pitchFamily="18" charset="0"/>
                <a:sym typeface="+mn-ea"/>
              </a:rPr>
              <a:t>Abstract</a:t>
            </a:r>
            <a:endParaRPr lang="en-US" sz="2000" b="1" dirty="0" smtClean="0">
              <a:latin typeface="Times New Roman" panose="02020603050405020304" pitchFamily="18" charset="0"/>
              <a:cs typeface="Times New Roman" panose="02020603050405020304" pitchFamily="18" charset="0"/>
              <a:sym typeface="+mn-ea"/>
            </a:endParaRPr>
          </a:p>
          <a:p>
            <a:pPr indent="0">
              <a:buClr>
                <a:srgbClr val="009DD9"/>
              </a:buClr>
              <a:buFont typeface="Wingdings" panose="05000000000000000000" charset="0"/>
              <a:buChar char="Ø"/>
            </a:pPr>
            <a:r>
              <a:rPr lang="en-US" sz="2000" b="1" dirty="0" smtClean="0">
                <a:latin typeface="Times New Roman" panose="02020603050405020304" pitchFamily="18" charset="0"/>
                <a:cs typeface="Times New Roman" panose="02020603050405020304" pitchFamily="18" charset="0"/>
                <a:sym typeface="+mn-ea"/>
              </a:rPr>
              <a:t> Introduction</a:t>
            </a:r>
            <a:endParaRPr lang="en-US" sz="2000" b="1" dirty="0" smtClean="0">
              <a:latin typeface="Times New Roman" panose="02020603050405020304" pitchFamily="18" charset="0"/>
              <a:cs typeface="Times New Roman" panose="02020603050405020304" pitchFamily="18" charset="0"/>
              <a:sym typeface="+mn-ea"/>
            </a:endParaRPr>
          </a:p>
          <a:p>
            <a:pPr indent="0">
              <a:buClr>
                <a:srgbClr val="009DD9"/>
              </a:buClr>
              <a:buFont typeface="Wingdings" panose="05000000000000000000" charset="0"/>
              <a:buChar char="Ø"/>
            </a:pPr>
            <a:r>
              <a:rPr lang="en-US" sz="2000" b="1" dirty="0" smtClean="0">
                <a:latin typeface="Times New Roman" panose="02020603050405020304" pitchFamily="18" charset="0"/>
                <a:cs typeface="Times New Roman" panose="02020603050405020304" pitchFamily="18" charset="0"/>
                <a:sym typeface="+mn-ea"/>
              </a:rPr>
              <a:t> Existing System</a:t>
            </a:r>
            <a:endParaRPr lang="en-US" sz="2000" b="1" dirty="0" smtClean="0">
              <a:latin typeface="Times New Roman" panose="02020603050405020304" pitchFamily="18" charset="0"/>
              <a:cs typeface="Times New Roman" panose="02020603050405020304" pitchFamily="18" charset="0"/>
              <a:sym typeface="+mn-ea"/>
            </a:endParaRPr>
          </a:p>
          <a:p>
            <a:pPr indent="0">
              <a:buClr>
                <a:srgbClr val="009DD9"/>
              </a:buClr>
              <a:buFont typeface="Wingdings" panose="05000000000000000000" charset="0"/>
              <a:buChar char="Ø"/>
            </a:pPr>
            <a:r>
              <a:rPr lang="en-US" sz="2000" b="1" dirty="0" smtClean="0">
                <a:latin typeface="Times New Roman" panose="02020603050405020304" pitchFamily="18" charset="0"/>
                <a:cs typeface="Times New Roman" panose="02020603050405020304" pitchFamily="18" charset="0"/>
                <a:sym typeface="+mn-ea"/>
              </a:rPr>
              <a:t> Literature Survey</a:t>
            </a:r>
            <a:endParaRPr lang="en-US" sz="2000" b="1" dirty="0" smtClean="0">
              <a:latin typeface="Times New Roman" panose="02020603050405020304" pitchFamily="18" charset="0"/>
              <a:cs typeface="Times New Roman" panose="02020603050405020304" pitchFamily="18" charset="0"/>
              <a:sym typeface="+mn-ea"/>
            </a:endParaRPr>
          </a:p>
          <a:p>
            <a:pPr indent="0">
              <a:buClr>
                <a:srgbClr val="009DD9"/>
              </a:buClr>
              <a:buFont typeface="Wingdings" panose="05000000000000000000" charset="0"/>
              <a:buChar char="Ø"/>
            </a:pPr>
            <a:r>
              <a:rPr lang="en-US" sz="2000" b="1" dirty="0" smtClean="0">
                <a:latin typeface="Times New Roman" panose="02020603050405020304" pitchFamily="18" charset="0"/>
                <a:cs typeface="Times New Roman" panose="02020603050405020304" pitchFamily="18" charset="0"/>
                <a:sym typeface="+mn-ea"/>
              </a:rPr>
              <a:t> Proposed Method</a:t>
            </a:r>
            <a:endParaRPr lang="en-US" sz="2000" b="1" dirty="0" smtClean="0">
              <a:latin typeface="Times New Roman" panose="02020603050405020304" pitchFamily="18" charset="0"/>
              <a:cs typeface="Times New Roman" panose="02020603050405020304" pitchFamily="18" charset="0"/>
              <a:sym typeface="+mn-ea"/>
            </a:endParaRPr>
          </a:p>
          <a:p>
            <a:pPr indent="0">
              <a:buClr>
                <a:srgbClr val="009DD9"/>
              </a:buClr>
              <a:buFont typeface="Wingdings" panose="05000000000000000000" charset="0"/>
              <a:buChar char="Ø"/>
            </a:pPr>
            <a:r>
              <a:rPr lang="en-US" sz="2000" b="1" dirty="0" smtClean="0">
                <a:latin typeface="Times New Roman" panose="02020603050405020304" pitchFamily="18" charset="0"/>
                <a:cs typeface="Times New Roman" panose="02020603050405020304" pitchFamily="18" charset="0"/>
                <a:sym typeface="+mn-ea"/>
              </a:rPr>
              <a:t> Hardware &amp; Software Requirements</a:t>
            </a:r>
            <a:endParaRPr lang="en-US" sz="2000" b="1" dirty="0" smtClean="0">
              <a:latin typeface="Times New Roman" panose="02020603050405020304" pitchFamily="18" charset="0"/>
              <a:cs typeface="Times New Roman" panose="02020603050405020304" pitchFamily="18" charset="0"/>
              <a:sym typeface="+mn-ea"/>
            </a:endParaRPr>
          </a:p>
          <a:p>
            <a:pPr indent="0">
              <a:buClr>
                <a:srgbClr val="009DD9"/>
              </a:buClr>
              <a:buFont typeface="Wingdings" panose="05000000000000000000" charset="0"/>
              <a:buChar char="Ø"/>
            </a:pPr>
            <a:r>
              <a:rPr lang="en-US" sz="2000" b="1" dirty="0" smtClean="0">
                <a:latin typeface="Times New Roman" panose="02020603050405020304" pitchFamily="18" charset="0"/>
                <a:cs typeface="Times New Roman" panose="02020603050405020304" pitchFamily="18" charset="0"/>
                <a:sym typeface="+mn-ea"/>
              </a:rPr>
              <a:t> Advantages</a:t>
            </a:r>
            <a:endParaRPr lang="en-US" sz="2000" b="1" dirty="0" smtClean="0">
              <a:latin typeface="Times New Roman" panose="02020603050405020304" pitchFamily="18" charset="0"/>
              <a:cs typeface="Times New Roman" panose="02020603050405020304" pitchFamily="18" charset="0"/>
              <a:sym typeface="+mn-ea"/>
            </a:endParaRPr>
          </a:p>
          <a:p>
            <a:pPr indent="0">
              <a:buClr>
                <a:srgbClr val="009DD9"/>
              </a:buClr>
              <a:buFont typeface="Wingdings" panose="05000000000000000000" charset="0"/>
              <a:buChar char="Ø"/>
            </a:pPr>
            <a:r>
              <a:rPr lang="en-US" sz="2000" b="1" dirty="0" smtClean="0">
                <a:latin typeface="Times New Roman" panose="02020603050405020304" pitchFamily="18" charset="0"/>
                <a:cs typeface="Times New Roman" panose="02020603050405020304" pitchFamily="18" charset="0"/>
                <a:sym typeface="+mn-ea"/>
              </a:rPr>
              <a:t> Applications</a:t>
            </a:r>
            <a:endParaRPr lang="en-US" sz="2000" b="1" dirty="0" smtClean="0">
              <a:latin typeface="Times New Roman" panose="02020603050405020304" pitchFamily="18" charset="0"/>
              <a:cs typeface="Times New Roman" panose="02020603050405020304" pitchFamily="18" charset="0"/>
              <a:sym typeface="+mn-ea"/>
            </a:endParaRPr>
          </a:p>
          <a:p>
            <a:pPr indent="0">
              <a:buClr>
                <a:srgbClr val="009DD9"/>
              </a:buClr>
              <a:buFont typeface="Wingdings" panose="05000000000000000000" charset="0"/>
              <a:buChar char="Ø"/>
            </a:pPr>
            <a:r>
              <a:rPr lang="en-US" sz="2000" b="1" dirty="0" smtClean="0">
                <a:latin typeface="Times New Roman" panose="02020603050405020304" pitchFamily="18" charset="0"/>
                <a:cs typeface="Times New Roman" panose="02020603050405020304" pitchFamily="18" charset="0"/>
                <a:sym typeface="+mn-ea"/>
              </a:rPr>
              <a:t> Result  Analysis</a:t>
            </a:r>
            <a:endParaRPr lang="en-US" sz="2000" b="1" dirty="0" smtClean="0">
              <a:latin typeface="Times New Roman" panose="02020603050405020304" pitchFamily="18" charset="0"/>
              <a:cs typeface="Times New Roman" panose="02020603050405020304" pitchFamily="18" charset="0"/>
              <a:sym typeface="+mn-ea"/>
            </a:endParaRPr>
          </a:p>
          <a:p>
            <a:pPr indent="0">
              <a:buClr>
                <a:srgbClr val="009DD9"/>
              </a:buClr>
              <a:buFont typeface="Wingdings" panose="05000000000000000000" charset="0"/>
              <a:buChar char="Ø"/>
            </a:pPr>
            <a:r>
              <a:rPr lang="en-US" sz="2000" b="1" dirty="0" smtClean="0">
                <a:latin typeface="Times New Roman" panose="02020603050405020304" pitchFamily="18" charset="0"/>
                <a:cs typeface="Times New Roman" panose="02020603050405020304" pitchFamily="18" charset="0"/>
                <a:sym typeface="+mn-ea"/>
              </a:rPr>
              <a:t> Future Scope</a:t>
            </a:r>
            <a:endParaRPr lang="en-US" sz="2000" b="1" dirty="0" smtClean="0">
              <a:latin typeface="Times New Roman" panose="02020603050405020304" pitchFamily="18" charset="0"/>
              <a:cs typeface="Times New Roman" panose="02020603050405020304" pitchFamily="18" charset="0"/>
              <a:sym typeface="+mn-ea"/>
            </a:endParaRPr>
          </a:p>
          <a:p>
            <a:pPr indent="0">
              <a:buClr>
                <a:srgbClr val="009DD9"/>
              </a:buClr>
              <a:buFont typeface="Wingdings" panose="05000000000000000000" charset="0"/>
              <a:buChar char="Ø"/>
            </a:pPr>
            <a:r>
              <a:rPr lang="en-US" sz="2000" b="1" dirty="0" smtClean="0">
                <a:latin typeface="Times New Roman" panose="02020603050405020304" pitchFamily="18" charset="0"/>
                <a:cs typeface="Times New Roman" panose="02020603050405020304" pitchFamily="18" charset="0"/>
                <a:sym typeface="+mn-ea"/>
              </a:rPr>
              <a:t> Conclusion</a:t>
            </a:r>
            <a:endParaRPr lang="en-US" sz="2000" b="1" dirty="0" smtClean="0">
              <a:latin typeface="Times New Roman" panose="02020603050405020304" pitchFamily="18" charset="0"/>
              <a:cs typeface="Times New Roman" panose="02020603050405020304" pitchFamily="18" charset="0"/>
              <a:sym typeface="+mn-ea"/>
            </a:endParaRPr>
          </a:p>
          <a:p>
            <a:pPr indent="0">
              <a:buClr>
                <a:srgbClr val="009DD9"/>
              </a:buClr>
              <a:buFont typeface="Wingdings" panose="05000000000000000000" charset="0"/>
              <a:buChar char="Ø"/>
            </a:pPr>
            <a:r>
              <a:rPr lang="en-US" sz="2000" b="1" dirty="0" smtClean="0">
                <a:latin typeface="Times New Roman" panose="02020603050405020304" pitchFamily="18" charset="0"/>
                <a:cs typeface="Times New Roman" panose="02020603050405020304" pitchFamily="18" charset="0"/>
                <a:sym typeface="+mn-ea"/>
              </a:rPr>
              <a:t> References</a:t>
            </a:r>
            <a:endParaRPr lang="en-US" sz="2000" b="1" dirty="0" smtClean="0">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492760" y="1049020"/>
            <a:ext cx="2495550" cy="709295"/>
          </a:xfrm>
          <a:prstGeom prst="rect">
            <a:avLst/>
          </a:prstGeom>
          <a:noFill/>
        </p:spPr>
        <p:txBody>
          <a:bodyPr wrap="square" rtlCol="0" anchor="t">
            <a:noAutofit/>
          </a:bodyPr>
          <a:lstStyle/>
          <a:p>
            <a:pPr algn="ctr"/>
            <a:r>
              <a:rPr lang="en-US" sz="3200" b="1" dirty="0" smtClean="0">
                <a:solidFill>
                  <a:schemeClr val="tx1">
                    <a:lumMod val="95000"/>
                    <a:lumOff val="5000"/>
                  </a:schemeClr>
                </a:solidFill>
                <a:latin typeface="Times New Roman" panose="02020603050405020304" pitchFamily="18" charset="0"/>
                <a:cs typeface="Times New Roman" panose="02020603050405020304" pitchFamily="18" charset="0"/>
                <a:sym typeface="+mn-ea"/>
              </a:rPr>
              <a:t>CONTENT</a:t>
            </a:r>
            <a:endParaRPr lang="en-US" sz="3200" b="1" dirty="0" smtClean="0">
              <a:solidFill>
                <a:schemeClr val="tx1">
                  <a:lumMod val="95000"/>
                  <a:lumOff val="5000"/>
                </a:schemeClr>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769110"/>
            <a:ext cx="8400415" cy="4657725"/>
          </a:xfrm>
        </p:spPr>
        <p:txBody>
          <a:bodyPr>
            <a:noAutofit/>
          </a:bodyPr>
          <a:lstStyle/>
          <a:p>
            <a:pPr algn="just">
              <a:buFont typeface="Wingdings" panose="05000000000000000000" charset="0"/>
              <a:buChar char="Ø"/>
            </a:pPr>
            <a:r>
              <a:rPr lang="en-US" sz="2000" dirty="0">
                <a:latin typeface="Times New Roman" panose="02020603050405020304" pitchFamily="18" charset="0"/>
                <a:cs typeface="Times New Roman" panose="02020603050405020304" pitchFamily="18" charset="0"/>
              </a:rPr>
              <a:t>Recent advances in wireless networking and big data technologies, such as 5G networks, medical big data analytics, and the Internet of Things, along with recent developments in wearable computing and artificial intelligence, are enabling </a:t>
            </a:r>
            <a:endParaRPr lang="en-US" sz="2000" dirty="0">
              <a:latin typeface="Times New Roman" panose="02020603050405020304" pitchFamily="18" charset="0"/>
              <a:cs typeface="Times New Roman" panose="02020603050405020304" pitchFamily="18" charset="0"/>
            </a:endParaRPr>
          </a:p>
          <a:p>
            <a:pPr algn="just">
              <a:buFont typeface="Wingdings" panose="05000000000000000000" charset="0"/>
              <a:buChar char="Ø"/>
            </a:pPr>
            <a:r>
              <a:rPr lang="en-US" sz="2000" dirty="0" smtClean="0">
                <a:latin typeface="Times New Roman" panose="02020603050405020304" pitchFamily="18" charset="0"/>
                <a:cs typeface="Times New Roman" panose="02020603050405020304" pitchFamily="18" charset="0"/>
              </a:rPr>
              <a:t>Based </a:t>
            </a:r>
            <a:r>
              <a:rPr lang="en-US" sz="2000" dirty="0">
                <a:latin typeface="Times New Roman" panose="02020603050405020304" pitchFamily="18" charset="0"/>
                <a:cs typeface="Times New Roman" panose="02020603050405020304" pitchFamily="18" charset="0"/>
              </a:rPr>
              <a:t>on our comprehensive investigation, this article classifies those methods into Diabetes 1.0 and Diabetes </a:t>
            </a:r>
            <a:r>
              <a:rPr lang="en-US" sz="2000" dirty="0" smtClean="0">
                <a:latin typeface="Times New Roman" panose="02020603050405020304" pitchFamily="18" charset="0"/>
                <a:cs typeface="Times New Roman" panose="02020603050405020304" pitchFamily="18" charset="0"/>
              </a:rPr>
              <a:t>2.0 </a:t>
            </a:r>
            <a:r>
              <a:rPr lang="en-US" sz="2000" dirty="0">
                <a:latin typeface="Times New Roman" panose="02020603050405020304" pitchFamily="18" charset="0"/>
                <a:cs typeface="Times New Roman" panose="02020603050405020304" pitchFamily="18" charset="0"/>
              </a:rPr>
              <a:t>which exhibit deficiencies in terms of networking and intelligence. </a:t>
            </a:r>
            <a:endParaRPr lang="en-US" sz="2000" dirty="0">
              <a:latin typeface="Times New Roman" panose="02020603050405020304" pitchFamily="18" charset="0"/>
              <a:cs typeface="Times New Roman" panose="02020603050405020304" pitchFamily="18" charset="0"/>
            </a:endParaRPr>
          </a:p>
          <a:p>
            <a:pPr algn="just">
              <a:buFont typeface="Wingdings" panose="05000000000000000000" charset="0"/>
              <a:buChar char="Ø"/>
            </a:pPr>
            <a:r>
              <a:rPr lang="en-US" sz="2000" dirty="0">
                <a:latin typeface="Times New Roman" panose="02020603050405020304" pitchFamily="18" charset="0"/>
                <a:cs typeface="Times New Roman" panose="02020603050405020304" pitchFamily="18" charset="0"/>
              </a:rPr>
              <a:t>Thus, our goal is to design a </a:t>
            </a:r>
            <a:r>
              <a:rPr lang="en-US" sz="2000" dirty="0" smtClean="0">
                <a:latin typeface="Times New Roman" panose="02020603050405020304" pitchFamily="18" charset="0"/>
                <a:cs typeface="Times New Roman" panose="02020603050405020304" pitchFamily="18" charset="0"/>
              </a:rPr>
              <a:t>sustainable cost-effective</a:t>
            </a:r>
            <a:r>
              <a:rPr lang="en-US" sz="2000" dirty="0">
                <a:latin typeface="Times New Roman" panose="02020603050405020304" pitchFamily="18" charset="0"/>
                <a:cs typeface="Times New Roman" panose="02020603050405020304" pitchFamily="18" charset="0"/>
              </a:rPr>
              <a:t>, and intelligent diabetes diagnosis solution with personalized treatment. </a:t>
            </a:r>
            <a:endParaRPr lang="en-US" sz="2000" dirty="0">
              <a:latin typeface="Times New Roman" panose="02020603050405020304" pitchFamily="18" charset="0"/>
              <a:cs typeface="Times New Roman" panose="02020603050405020304" pitchFamily="18" charset="0"/>
            </a:endParaRPr>
          </a:p>
          <a:p>
            <a:pPr algn="just">
              <a:buFont typeface="Wingdings" panose="05000000000000000000" charset="0"/>
              <a:buChar char="Ø"/>
            </a:pPr>
            <a:r>
              <a:rPr lang="en-US" sz="2000" dirty="0">
                <a:latin typeface="Times New Roman" panose="02020603050405020304" pitchFamily="18" charset="0"/>
                <a:cs typeface="Times New Roman" panose="02020603050405020304" pitchFamily="18" charset="0"/>
              </a:rPr>
              <a:t>Finally, we build a 5G-Smart Diabetes tested that includes smart clothing, smartphone, and big data clouds. </a:t>
            </a:r>
            <a:endParaRPr lang="en-US" sz="2000" dirty="0">
              <a:latin typeface="Times New Roman" panose="02020603050405020304" pitchFamily="18" charset="0"/>
              <a:cs typeface="Times New Roman" panose="02020603050405020304" pitchFamily="18" charset="0"/>
            </a:endParaRPr>
          </a:p>
          <a:p>
            <a:pPr algn="just">
              <a:buFont typeface="Wingdings" panose="05000000000000000000" charset="0"/>
              <a:buChar char="Ø"/>
            </a:pPr>
            <a:r>
              <a:rPr lang="en-US" sz="2000" dirty="0">
                <a:latin typeface="Times New Roman" panose="02020603050405020304" pitchFamily="18" charset="0"/>
                <a:cs typeface="Times New Roman" panose="02020603050405020304" pitchFamily="18" charset="0"/>
              </a:rPr>
              <a:t>The experimental results show that our system can effectively provide personalized diagnosis and treatment suggestions to patients.</a:t>
            </a:r>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p:txBody>
      </p:sp>
      <p:sp>
        <p:nvSpPr>
          <p:cNvPr id="6" name="Title 5"/>
          <p:cNvSpPr>
            <a:spLocks noGrp="1"/>
          </p:cNvSpPr>
          <p:nvPr>
            <p:ph type="title"/>
          </p:nvPr>
        </p:nvSpPr>
        <p:spPr>
          <a:xfrm>
            <a:off x="457200" y="704215"/>
            <a:ext cx="8229600" cy="703580"/>
          </a:xfrm>
        </p:spPr>
        <p:txBody>
          <a:bodyPr>
            <a:normAutofit/>
          </a:bodyPr>
          <a:lstStyle/>
          <a:p>
            <a:r>
              <a:rPr lang="en-US" sz="3200" b="1" dirty="0">
                <a:solidFill>
                  <a:schemeClr val="tx1"/>
                </a:solidFill>
                <a:latin typeface="Times New Roman" panose="02020603050405020304" pitchFamily="18" charset="0"/>
                <a:cs typeface="Times New Roman" panose="02020603050405020304" pitchFamily="18" charset="0"/>
                <a:sym typeface="+mn-ea"/>
              </a:rPr>
              <a:t>   ABSTRACT</a:t>
            </a:r>
            <a:endParaRPr lang="en-US" sz="3200" b="1" dirty="0">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transition>
    <p:wipe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5238750"/>
          </a:xfrm>
        </p:spPr>
        <p:txBody>
          <a:bodyPr>
            <a:normAutofit fontScale="40000"/>
          </a:bodyPr>
          <a:lstStyle/>
          <a:p>
            <a:pPr>
              <a:buFont typeface="Wingdings" panose="05000000000000000000" charset="0"/>
              <a:buChar char="Ø"/>
            </a:pPr>
            <a:endParaRPr lang="en-US" sz="5000" dirty="0" smtClean="0">
              <a:latin typeface="Times New Roman" panose="02020603050405020304" pitchFamily="18" charset="0"/>
              <a:cs typeface="Times New Roman" panose="02020603050405020304" pitchFamily="18" charset="0"/>
              <a:sym typeface="+mn-ea"/>
            </a:endParaRPr>
          </a:p>
          <a:p>
            <a:pPr>
              <a:buFont typeface="Wingdings" panose="05000000000000000000" charset="0"/>
              <a:buChar char="Ø"/>
            </a:pPr>
            <a:r>
              <a:rPr lang="en-US" sz="4500" dirty="0" smtClean="0">
                <a:latin typeface="Times New Roman" panose="02020603050405020304" pitchFamily="18" charset="0"/>
                <a:cs typeface="Times New Roman" panose="02020603050405020304" pitchFamily="18" charset="0"/>
                <a:sym typeface="+mn-ea"/>
              </a:rPr>
              <a:t>Diabetes </a:t>
            </a:r>
            <a:r>
              <a:rPr lang="en-US" sz="4500" dirty="0">
                <a:latin typeface="Times New Roman" panose="02020603050405020304" pitchFamily="18" charset="0"/>
                <a:cs typeface="Times New Roman" panose="02020603050405020304" pitchFamily="18" charset="0"/>
                <a:sym typeface="+mn-ea"/>
              </a:rPr>
              <a:t>is an extremely common chronic disease from which nearly 8.5 percent of </a:t>
            </a:r>
            <a:r>
              <a:rPr lang="en-US" sz="4500" dirty="0" smtClean="0">
                <a:latin typeface="Times New Roman" panose="02020603050405020304" pitchFamily="18" charset="0"/>
                <a:cs typeface="Times New Roman" panose="02020603050405020304" pitchFamily="18" charset="0"/>
                <a:sym typeface="+mn-ea"/>
              </a:rPr>
              <a:t>the world </a:t>
            </a:r>
            <a:r>
              <a:rPr lang="en-US" sz="4500" dirty="0">
                <a:latin typeface="Times New Roman" panose="02020603050405020304" pitchFamily="18" charset="0"/>
                <a:cs typeface="Times New Roman" panose="02020603050405020304" pitchFamily="18" charset="0"/>
                <a:sym typeface="+mn-ea"/>
              </a:rPr>
              <a:t>population suffer; 422 million people worldwide have to struggle with </a:t>
            </a:r>
            <a:r>
              <a:rPr lang="en-US" sz="4500" dirty="0" smtClean="0">
                <a:latin typeface="Times New Roman" panose="02020603050405020304" pitchFamily="18" charset="0"/>
                <a:cs typeface="Times New Roman" panose="02020603050405020304" pitchFamily="18" charset="0"/>
                <a:sym typeface="+mn-ea"/>
              </a:rPr>
              <a:t>diabetes.</a:t>
            </a:r>
            <a:endParaRPr lang="en-US" sz="45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4500" dirty="0" smtClean="0">
                <a:latin typeface="Times New Roman" panose="02020603050405020304" pitchFamily="18" charset="0"/>
                <a:cs typeface="Times New Roman" panose="02020603050405020304" pitchFamily="18" charset="0"/>
                <a:sym typeface="+mn-ea"/>
              </a:rPr>
              <a:t> More </a:t>
            </a:r>
            <a:r>
              <a:rPr lang="en-US" sz="4500" dirty="0">
                <a:latin typeface="Times New Roman" panose="02020603050405020304" pitchFamily="18" charset="0"/>
                <a:cs typeface="Times New Roman" panose="02020603050405020304" pitchFamily="18" charset="0"/>
                <a:sym typeface="+mn-ea"/>
              </a:rPr>
              <a:t>critically, the situation will be worse, as reported in </a:t>
            </a:r>
            <a:r>
              <a:rPr lang="en-US" sz="4500" dirty="0" smtClean="0">
                <a:latin typeface="Times New Roman" panose="02020603050405020304" pitchFamily="18" charset="0"/>
                <a:cs typeface="Times New Roman" panose="02020603050405020304" pitchFamily="18" charset="0"/>
                <a:sym typeface="+mn-ea"/>
              </a:rPr>
              <a:t> </a:t>
            </a:r>
            <a:r>
              <a:rPr lang="en-US" sz="4500" dirty="0">
                <a:latin typeface="Times New Roman" panose="02020603050405020304" pitchFamily="18" charset="0"/>
                <a:cs typeface="Times New Roman" panose="02020603050405020304" pitchFamily="18" charset="0"/>
                <a:sym typeface="+mn-ea"/>
              </a:rPr>
              <a:t>with more teenagers and youth becoming susceptible to diabetes as well</a:t>
            </a:r>
            <a:r>
              <a:rPr lang="en-US" sz="4500" dirty="0" smtClean="0">
                <a:latin typeface="Times New Roman" panose="02020603050405020304" pitchFamily="18" charset="0"/>
                <a:cs typeface="Times New Roman" panose="02020603050405020304" pitchFamily="18" charset="0"/>
                <a:sym typeface="+mn-ea"/>
              </a:rPr>
              <a:t>.</a:t>
            </a:r>
            <a:endParaRPr lang="en-US" sz="45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4500" dirty="0" smtClean="0">
                <a:latin typeface="Times New Roman" panose="02020603050405020304" pitchFamily="18" charset="0"/>
                <a:cs typeface="Times New Roman" panose="02020603050405020304" pitchFamily="18" charset="0"/>
                <a:sym typeface="+mn-ea"/>
              </a:rPr>
              <a:t> </a:t>
            </a:r>
            <a:r>
              <a:rPr lang="en-US" sz="4500" dirty="0">
                <a:latin typeface="Times New Roman" panose="02020603050405020304" pitchFamily="18" charset="0"/>
                <a:cs typeface="Times New Roman" panose="02020603050405020304" pitchFamily="18" charset="0"/>
                <a:sym typeface="+mn-ea"/>
              </a:rPr>
              <a:t>Due to the fact that diabetes has a huge impact on global well being and economy, it is urgent to improve methods for the prevention and treatment of </a:t>
            </a:r>
            <a:r>
              <a:rPr lang="en-US" sz="4500" dirty="0" smtClean="0">
                <a:latin typeface="Times New Roman" panose="02020603050405020304" pitchFamily="18" charset="0"/>
                <a:cs typeface="Times New Roman" panose="02020603050405020304" pitchFamily="18" charset="0"/>
                <a:sym typeface="+mn-ea"/>
              </a:rPr>
              <a:t>diabetes.</a:t>
            </a:r>
            <a:endParaRPr lang="en-US" sz="4500" dirty="0" smtClean="0">
              <a:latin typeface="Times New Roman" panose="02020603050405020304" pitchFamily="18" charset="0"/>
              <a:cs typeface="Times New Roman" panose="02020603050405020304" pitchFamily="18" charset="0"/>
              <a:sym typeface="+mn-ea"/>
            </a:endParaRPr>
          </a:p>
          <a:p>
            <a:pPr>
              <a:buFont typeface="Wingdings" panose="05000000000000000000" pitchFamily="2" charset="2"/>
              <a:buChar char="Ø"/>
            </a:pPr>
            <a:r>
              <a:rPr lang="en-US" sz="4500" dirty="0" smtClean="0">
                <a:latin typeface="Times New Roman" panose="02020603050405020304" pitchFamily="18" charset="0"/>
                <a:cs typeface="Times New Roman" panose="02020603050405020304" pitchFamily="18" charset="0"/>
                <a:sym typeface="+mn-ea"/>
              </a:rPr>
              <a:t>The diabetes detection model lacks a data sharing mechanism and personalized analysis of big data from different sources including lifestyle, sports, diet, and so on.</a:t>
            </a:r>
            <a:endParaRPr lang="en-US" sz="4500" dirty="0" smtClean="0">
              <a:latin typeface="Times New Roman" panose="02020603050405020304" pitchFamily="18" charset="0"/>
              <a:cs typeface="Times New Roman" panose="02020603050405020304" pitchFamily="18" charset="0"/>
              <a:sym typeface="+mn-ea"/>
            </a:endParaRPr>
          </a:p>
          <a:p>
            <a:pPr>
              <a:buFont typeface="Wingdings" panose="05000000000000000000" pitchFamily="2" charset="2"/>
              <a:buChar char="Ø"/>
            </a:pPr>
            <a:r>
              <a:rPr lang="en-US" sz="4500" dirty="0" smtClean="0">
                <a:latin typeface="Times New Roman" panose="02020603050405020304" pitchFamily="18" charset="0"/>
                <a:cs typeface="Times New Roman" panose="02020603050405020304" pitchFamily="18" charset="0"/>
                <a:sym typeface="+mn-ea"/>
              </a:rPr>
              <a:t>To solve the above problem, in this article, we first propose a next generation diabetes solution called the 5G-Smart Diabetes system, which integrates novel technologies including fifth generation (5G) mobile networks, machine learning, medical big data, social networking, smart clothing , and so on. </a:t>
            </a:r>
            <a:endParaRPr lang="en-US" sz="4500" dirty="0">
              <a:latin typeface="Times New Roman" panose="02020603050405020304" pitchFamily="18" charset="0"/>
              <a:cs typeface="Times New Roman" panose="02020603050405020304" pitchFamily="18" charset="0"/>
            </a:endParaRPr>
          </a:p>
          <a:p>
            <a:endParaRPr lang="en-US" sz="4500" dirty="0">
              <a:latin typeface="Times New Roman" panose="02020603050405020304" pitchFamily="18" charset="0"/>
              <a:cs typeface="Times New Roman" panose="02020603050405020304" pitchFamily="18" charset="0"/>
            </a:endParaRPr>
          </a:p>
          <a:p>
            <a:pPr>
              <a:buNone/>
            </a:pPr>
            <a:endParaRPr lang="en-US" sz="4500" dirty="0">
              <a:latin typeface="Times New Roman" panose="02020603050405020304" pitchFamily="18" charset="0"/>
              <a:cs typeface="Times New Roman" panose="02020603050405020304" pitchFamily="18" charset="0"/>
            </a:endParaRPr>
          </a:p>
        </p:txBody>
      </p:sp>
      <p:sp>
        <p:nvSpPr>
          <p:cNvPr id="4" name="Title 3"/>
          <p:cNvSpPr>
            <a:spLocks noGrp="1"/>
          </p:cNvSpPr>
          <p:nvPr>
            <p:ph type="title"/>
          </p:nvPr>
        </p:nvSpPr>
        <p:spPr>
          <a:xfrm>
            <a:off x="615315" y="704215"/>
            <a:ext cx="5634355" cy="835025"/>
          </a:xfrm>
        </p:spPr>
        <p:txBody>
          <a:bodyPr/>
          <a:lstStyle/>
          <a:p>
            <a:r>
              <a:rPr lang="en-IN" sz="3600" b="1" dirty="0" smtClean="0">
                <a:solidFill>
                  <a:schemeClr val="tx1"/>
                </a:solidFill>
                <a:latin typeface="Times New Roman" panose="02020603050405020304" pitchFamily="18" charset="0"/>
                <a:cs typeface="Times New Roman" panose="02020603050405020304" pitchFamily="18" charset="0"/>
                <a:sym typeface="+mn-ea"/>
              </a:rPr>
              <a:t>INTRODUCTION</a:t>
            </a:r>
            <a:endParaRPr lang="en-IN" sz="3600" b="1" dirty="0" smtClean="0">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transition>
    <p:zoom dir="in"/>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980565"/>
            <a:ext cx="8360410" cy="4446270"/>
          </a:xfrm>
        </p:spPr>
        <p:txBody>
          <a:bodyPr>
            <a:normAutofit fontScale="50000" lnSpcReduction="20000"/>
          </a:bodyPr>
          <a:lstStyle/>
          <a:p>
            <a:pPr>
              <a:buNone/>
            </a:pPr>
            <a:r>
              <a:rPr lang="en-US" sz="6000" b="1" dirty="0">
                <a:solidFill>
                  <a:srgbClr val="C00000"/>
                </a:solidFill>
                <a:latin typeface="Times New Roman" panose="02020603050405020304" pitchFamily="18" charset="0"/>
                <a:cs typeface="Times New Roman" panose="02020603050405020304" pitchFamily="18" charset="0"/>
              </a:rPr>
              <a:t>  </a:t>
            </a:r>
            <a:r>
              <a:rPr lang="en-US" sz="6000" b="1" dirty="0" smtClean="0">
                <a:solidFill>
                  <a:srgbClr val="C00000"/>
                </a:solidFill>
                <a:latin typeface="Times New Roman" panose="02020603050405020304" pitchFamily="18" charset="0"/>
                <a:cs typeface="Times New Roman" panose="02020603050405020304" pitchFamily="18" charset="0"/>
              </a:rPr>
              <a:t>EXISTING SYSTEM </a:t>
            </a:r>
            <a:endParaRPr lang="en-US" sz="6000" b="1" dirty="0" smtClean="0">
              <a:solidFill>
                <a:srgbClr val="C00000"/>
              </a:solidFill>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sz="5000" dirty="0" smtClean="0">
                <a:latin typeface="Times New Roman" panose="02020603050405020304" pitchFamily="18" charset="0"/>
                <a:cs typeface="Times New Roman" panose="02020603050405020304" pitchFamily="18" charset="0"/>
              </a:rPr>
              <a:t>5G-Smart </a:t>
            </a:r>
            <a:r>
              <a:rPr lang="en-US" sz="5000" dirty="0" smtClean="0">
                <a:latin typeface="Times New Roman" panose="02020603050405020304" pitchFamily="18" charset="0"/>
                <a:cs typeface="Times New Roman" panose="02020603050405020304" pitchFamily="18" charset="0"/>
              </a:rPr>
              <a:t>Diabetes is a system that uses 5G technology    to </a:t>
            </a:r>
            <a:r>
              <a:rPr lang="en-US" sz="5000" dirty="0" smtClean="0">
                <a:latin typeface="Times New Roman" panose="02020603050405020304" pitchFamily="18" charset="0"/>
                <a:cs typeface="Times New Roman" panose="02020603050405020304" pitchFamily="18" charset="0"/>
              </a:rPr>
              <a:t>monitor  diabetic </a:t>
            </a:r>
            <a:r>
              <a:rPr lang="en-US" sz="5000" dirty="0" smtClean="0">
                <a:latin typeface="Times New Roman" panose="02020603050405020304" pitchFamily="18" charset="0"/>
                <a:cs typeface="Times New Roman" panose="02020603050405020304" pitchFamily="18" charset="0"/>
              </a:rPr>
              <a:t>patients and provide personalized diagnosis and treatment suggestions. </a:t>
            </a:r>
            <a:endParaRPr lang="en-US" sz="50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5000" dirty="0" smtClean="0">
                <a:latin typeface="Times New Roman" panose="02020603050405020304" pitchFamily="18" charset="0"/>
                <a:cs typeface="Times New Roman" panose="02020603050405020304" pitchFamily="18" charset="0"/>
              </a:rPr>
              <a:t>The system includes smart devices, sensors, and </a:t>
            </a:r>
            <a:r>
              <a:rPr lang="en-US" sz="5000" dirty="0" err="1" smtClean="0">
                <a:latin typeface="Times New Roman" panose="02020603050405020304" pitchFamily="18" charset="0"/>
                <a:cs typeface="Times New Roman" panose="02020603050405020304" pitchFamily="18" charset="0"/>
              </a:rPr>
              <a:t>smartphones</a:t>
            </a:r>
            <a:r>
              <a:rPr lang="en-US" sz="5000" dirty="0" smtClean="0">
                <a:latin typeface="Times New Roman" panose="02020603050405020304" pitchFamily="18" charset="0"/>
                <a:cs typeface="Times New Roman" panose="02020603050405020304" pitchFamily="18" charset="0"/>
              </a:rPr>
              <a:t> to collect data from the </a:t>
            </a:r>
            <a:r>
              <a:rPr lang="en-US" sz="5000" dirty="0" smtClean="0">
                <a:latin typeface="Times New Roman" panose="02020603050405020304" pitchFamily="18" charset="0"/>
                <a:cs typeface="Times New Roman" panose="02020603050405020304" pitchFamily="18" charset="0"/>
              </a:rPr>
              <a:t>body</a:t>
            </a:r>
            <a:endParaRPr lang="en-US" sz="50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5000" dirty="0" smtClean="0">
                <a:latin typeface="Times New Roman" panose="02020603050405020304" pitchFamily="18" charset="0"/>
                <a:cs typeface="Times New Roman" panose="02020603050405020304" pitchFamily="18" charset="0"/>
              </a:rPr>
              <a:t>which </a:t>
            </a:r>
            <a:r>
              <a:rPr lang="en-US" sz="5000" dirty="0" smtClean="0">
                <a:latin typeface="Times New Roman" panose="02020603050405020304" pitchFamily="18" charset="0"/>
                <a:cs typeface="Times New Roman" panose="02020603050405020304" pitchFamily="18" charset="0"/>
              </a:rPr>
              <a:t>is then analyzed using machine learning algorithms to make a diagnosis. </a:t>
            </a:r>
            <a:endParaRPr lang="en-US" sz="50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5000" dirty="0" smtClean="0">
                <a:latin typeface="Times New Roman" panose="02020603050405020304" pitchFamily="18" charset="0"/>
                <a:cs typeface="Times New Roman" panose="02020603050405020304" pitchFamily="18" charset="0"/>
              </a:rPr>
              <a:t>The system also includes a data sharing framework and a </a:t>
            </a:r>
            <a:r>
              <a:rPr lang="en-US" sz="5000" dirty="0" err="1" smtClean="0">
                <a:latin typeface="Times New Roman" panose="02020603050405020304" pitchFamily="18" charset="0"/>
                <a:cs typeface="Times New Roman" panose="02020603050405020304" pitchFamily="18" charset="0"/>
              </a:rPr>
              <a:t>testbed</a:t>
            </a:r>
            <a:r>
              <a:rPr lang="en-US" sz="5000" dirty="0" smtClean="0">
                <a:latin typeface="Times New Roman" panose="02020603050405020304" pitchFamily="18" charset="0"/>
                <a:cs typeface="Times New Roman" panose="02020603050405020304" pitchFamily="18" charset="0"/>
              </a:rPr>
              <a:t> that includes smart clothing, </a:t>
            </a:r>
            <a:r>
              <a:rPr lang="en-US" sz="5000" dirty="0" err="1" smtClean="0">
                <a:latin typeface="Times New Roman" panose="02020603050405020304" pitchFamily="18" charset="0"/>
                <a:cs typeface="Times New Roman" panose="02020603050405020304" pitchFamily="18" charset="0"/>
              </a:rPr>
              <a:t>smartphones</a:t>
            </a:r>
            <a:r>
              <a:rPr lang="en-US" sz="5000" dirty="0" smtClean="0">
                <a:latin typeface="Times New Roman" panose="02020603050405020304" pitchFamily="18" charset="0"/>
                <a:cs typeface="Times New Roman" panose="02020603050405020304" pitchFamily="18" charset="0"/>
              </a:rPr>
              <a:t>, and big data clouds</a:t>
            </a:r>
            <a:endParaRPr lang="en-US" sz="5000" dirty="0">
              <a:latin typeface="Times New Roman" panose="02020603050405020304" pitchFamily="18" charset="0"/>
              <a:cs typeface="Times New Roman" panose="02020603050405020304" pitchFamily="18" charset="0"/>
            </a:endParaRPr>
          </a:p>
          <a:p>
            <a:pPr>
              <a:buNone/>
            </a:pPr>
            <a:endParaRPr lang="en-US" sz="5000" dirty="0">
              <a:latin typeface="Times New Roman" panose="02020603050405020304" pitchFamily="18" charset="0"/>
              <a:cs typeface="Times New Roman" panose="02020603050405020304" pitchFamily="18" charset="0"/>
            </a:endParaRPr>
          </a:p>
        </p:txBody>
      </p:sp>
      <p:sp>
        <p:nvSpPr>
          <p:cNvPr id="4" name="Title 3"/>
          <p:cNvSpPr>
            <a:spLocks noGrp="1"/>
          </p:cNvSpPr>
          <p:nvPr>
            <p:ph type="title"/>
          </p:nvPr>
        </p:nvSpPr>
        <p:spPr>
          <a:xfrm>
            <a:off x="748030" y="704215"/>
            <a:ext cx="7938770" cy="667385"/>
          </a:xfrm>
        </p:spPr>
        <p:txBody>
          <a:bodyPr>
            <a:normAutofit/>
          </a:bodyPr>
          <a:lstStyle/>
          <a:p>
            <a:r>
              <a:rPr lang="en-IN" sz="3600" b="1" dirty="0">
                <a:solidFill>
                  <a:schemeClr val="tx1"/>
                </a:solidFill>
                <a:latin typeface="Times New Roman" panose="02020603050405020304" pitchFamily="18" charset="0"/>
                <a:cs typeface="Times New Roman" panose="02020603050405020304" pitchFamily="18" charset="0"/>
                <a:sym typeface="+mn-ea"/>
              </a:rPr>
              <a:t>SYSTEM ANALYSIS</a:t>
            </a:r>
            <a:endParaRPr lang="en-IN" sz="3600" b="1" dirty="0">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transition>
    <p:diamon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None/>
            </a:pPr>
            <a:r>
              <a:rPr lang="en-US" dirty="0"/>
              <a:t>.</a:t>
            </a:r>
            <a:endParaRPr lang="en-US" dirty="0"/>
          </a:p>
        </p:txBody>
      </p:sp>
      <p:sp>
        <p:nvSpPr>
          <p:cNvPr id="4" name="Title 3"/>
          <p:cNvSpPr>
            <a:spLocks noGrp="1"/>
          </p:cNvSpPr>
          <p:nvPr>
            <p:ph type="title"/>
          </p:nvPr>
        </p:nvSpPr>
        <p:spPr>
          <a:xfrm>
            <a:off x="638810" y="704215"/>
            <a:ext cx="8047990" cy="781685"/>
          </a:xfrm>
        </p:spPr>
        <p:txBody>
          <a:bodyPr/>
          <a:lstStyle/>
          <a:p>
            <a:r>
              <a:rPr lang="en-US" sz="3600" b="1" dirty="0" smtClean="0">
                <a:solidFill>
                  <a:schemeClr val="tx1"/>
                </a:solidFill>
                <a:latin typeface="Times New Roman" panose="02020603050405020304" pitchFamily="18" charset="0"/>
                <a:cs typeface="Times New Roman" panose="02020603050405020304" pitchFamily="18" charset="0"/>
                <a:sym typeface="+mn-ea"/>
              </a:rPr>
              <a:t>LITERATURE SURVEY</a:t>
            </a:r>
            <a:endParaRPr lang="en-US" sz="3600" b="1">
              <a:latin typeface="Times New Roman" panose="02020603050405020304" pitchFamily="18" charset="0"/>
              <a:cs typeface="Times New Roman" panose="02020603050405020304" pitchFamily="18" charset="0"/>
            </a:endParaRPr>
          </a:p>
        </p:txBody>
      </p:sp>
      <p:sp>
        <p:nvSpPr>
          <p:cNvPr id="6" name="Rectangle 4"/>
          <p:cNvSpPr/>
          <p:nvPr/>
        </p:nvSpPr>
        <p:spPr>
          <a:xfrm>
            <a:off x="456565" y="1997710"/>
            <a:ext cx="8230235" cy="1245870"/>
          </a:xfrm>
          <a:prstGeom prst="rect">
            <a:avLst/>
          </a:prstGeom>
        </p:spPr>
        <p:txBody>
          <a:bodyPr wrap="square">
            <a:noAutofit/>
          </a:bodyPr>
          <a:lstStyle/>
          <a:p>
            <a:r>
              <a:rPr lang="en-US" sz="2000" b="1" dirty="0" smtClean="0">
                <a:latin typeface="Times New Roman" panose="02020603050405020304" pitchFamily="18" charset="0"/>
                <a:cs typeface="Times New Roman" panose="02020603050405020304" pitchFamily="18" charset="0"/>
              </a:rPr>
              <a:t>Chenet al</a:t>
            </a:r>
            <a:r>
              <a:rPr lang="en-US" sz="2000" dirty="0" smtClean="0">
                <a:latin typeface="Times New Roman" panose="02020603050405020304" pitchFamily="18" charset="0"/>
                <a:cs typeface="Times New Roman" panose="02020603050405020304" pitchFamily="18" charset="0"/>
              </a:rPr>
              <a:t>. proposed the 5G-Smart Diabetes system, which combined the state-    of-the-art technologies such as wearable 2.0, machine learning, and big data to generate comprehensive sensing and analysis for patients suffering from diabetes</a:t>
            </a:r>
            <a:r>
              <a:rPr lang="en-US" dirty="0" smtClean="0"/>
              <a:t>.</a:t>
            </a:r>
            <a:endParaRPr lang="en-US" dirty="0"/>
          </a:p>
        </p:txBody>
      </p:sp>
      <p:sp>
        <p:nvSpPr>
          <p:cNvPr id="7" name="Rectangle 5"/>
          <p:cNvSpPr/>
          <p:nvPr/>
        </p:nvSpPr>
        <p:spPr>
          <a:xfrm>
            <a:off x="452755" y="3195320"/>
            <a:ext cx="8081645" cy="635635"/>
          </a:xfrm>
          <a:prstGeom prst="rect">
            <a:avLst/>
          </a:prstGeom>
        </p:spPr>
        <p:txBody>
          <a:bodyPr wrap="square">
            <a:noAutofit/>
          </a:bodyPr>
          <a:lstStyle/>
          <a:p>
            <a:r>
              <a:rPr lang="en-US" sz="2000" b="1" dirty="0" err="1" smtClean="0">
                <a:latin typeface="Times New Roman" panose="02020603050405020304" pitchFamily="18" charset="0"/>
                <a:cs typeface="Times New Roman" panose="02020603050405020304" pitchFamily="18" charset="0"/>
              </a:rPr>
              <a:t>Rghioui</a:t>
            </a:r>
            <a:r>
              <a:rPr lang="en-US" sz="2000" b="1" dirty="0" smtClean="0">
                <a:latin typeface="Times New Roman" panose="02020603050405020304" pitchFamily="18" charset="0"/>
                <a:cs typeface="Times New Roman" panose="02020603050405020304" pitchFamily="18" charset="0"/>
              </a:rPr>
              <a:t> et al</a:t>
            </a:r>
            <a:r>
              <a:rPr lang="en-US" sz="2000" dirty="0" smtClean="0">
                <a:latin typeface="Times New Roman" panose="02020603050405020304" pitchFamily="18" charset="0"/>
                <a:cs typeface="Times New Roman" panose="02020603050405020304" pitchFamily="18" charset="0"/>
              </a:rPr>
              <a:t>. presented an intelligent architecture for monitoring diabetic patients by using machine learning algorithms.</a:t>
            </a:r>
            <a:endParaRPr lang="en-US" sz="2000" dirty="0">
              <a:latin typeface="Times New Roman" panose="02020603050405020304" pitchFamily="18" charset="0"/>
              <a:cs typeface="Times New Roman" panose="02020603050405020304" pitchFamily="18" charset="0"/>
            </a:endParaRPr>
          </a:p>
        </p:txBody>
      </p:sp>
      <p:sp>
        <p:nvSpPr>
          <p:cNvPr id="8" name="Rectangle 6"/>
          <p:cNvSpPr/>
          <p:nvPr/>
        </p:nvSpPr>
        <p:spPr>
          <a:xfrm>
            <a:off x="381000" y="3886200"/>
            <a:ext cx="8763000" cy="1014730"/>
          </a:xfrm>
          <a:prstGeom prst="rect">
            <a:avLst/>
          </a:prstGeom>
        </p:spPr>
        <p:txBody>
          <a:bodyPr wrap="square">
            <a:spAutoFit/>
          </a:bodyPr>
          <a:lstStyle/>
          <a:p>
            <a:r>
              <a:rPr lang="en-US" sz="2000" b="1" dirty="0" err="1" smtClean="0">
                <a:latin typeface="Times New Roman" panose="02020603050405020304" pitchFamily="18" charset="0"/>
                <a:cs typeface="Times New Roman" panose="02020603050405020304" pitchFamily="18" charset="0"/>
              </a:rPr>
              <a:t>Venkatachalam</a:t>
            </a:r>
            <a:r>
              <a:rPr lang="en-US" sz="2000" b="1" dirty="0" smtClean="0">
                <a:latin typeface="Times New Roman" panose="02020603050405020304" pitchFamily="18" charset="0"/>
                <a:cs typeface="Times New Roman" panose="02020603050405020304" pitchFamily="18" charset="0"/>
              </a:rPr>
              <a:t> et al</a:t>
            </a:r>
            <a:r>
              <a:rPr lang="en-US" sz="2000" dirty="0" smtClean="0">
                <a:latin typeface="Times New Roman" panose="02020603050405020304" pitchFamily="18" charset="0"/>
                <a:cs typeface="Times New Roman" panose="02020603050405020304" pitchFamily="18" charset="0"/>
              </a:rPr>
              <a:t>. motivated to develop a diabetes motoring system for patients using </a:t>
            </a:r>
            <a:r>
              <a:rPr lang="en-US" sz="2000" dirty="0" err="1" smtClean="0">
                <a:latin typeface="Times New Roman" panose="02020603050405020304" pitchFamily="18" charset="0"/>
                <a:cs typeface="Times New Roman" panose="02020603050405020304" pitchFamily="18" charset="0"/>
              </a:rPr>
              <a:t>IoT</a:t>
            </a:r>
            <a:r>
              <a:rPr lang="en-US" sz="2000" dirty="0" smtClean="0">
                <a:latin typeface="Times New Roman" panose="02020603050405020304" pitchFamily="18" charset="0"/>
                <a:cs typeface="Times New Roman" panose="02020603050405020304" pitchFamily="18" charset="0"/>
              </a:rPr>
              <a:t> device in their body which monitors their blood sugar level, blood pressure, sport activities, diet plan, oxygen level, ECG data.</a:t>
            </a:r>
            <a:endParaRPr lang="en-US" sz="2000" dirty="0">
              <a:latin typeface="Times New Roman" panose="02020603050405020304" pitchFamily="18" charset="0"/>
              <a:cs typeface="Times New Roman" panose="02020603050405020304" pitchFamily="18" charset="0"/>
            </a:endParaRPr>
          </a:p>
        </p:txBody>
      </p:sp>
      <p:sp>
        <p:nvSpPr>
          <p:cNvPr id="9" name="Rectangle 7"/>
          <p:cNvSpPr/>
          <p:nvPr/>
        </p:nvSpPr>
        <p:spPr>
          <a:xfrm>
            <a:off x="381000" y="4953000"/>
            <a:ext cx="8458200" cy="706755"/>
          </a:xfrm>
          <a:prstGeom prst="rect">
            <a:avLst/>
          </a:prstGeom>
        </p:spPr>
        <p:txBody>
          <a:bodyPr wrap="square">
            <a:spAutoFit/>
          </a:bodyPr>
          <a:lstStyle/>
          <a:p>
            <a:r>
              <a:rPr lang="en-US" sz="2000" b="1" dirty="0" err="1" smtClean="0">
                <a:latin typeface="Times New Roman" panose="02020603050405020304" pitchFamily="18" charset="0"/>
                <a:cs typeface="Times New Roman" panose="02020603050405020304" pitchFamily="18" charset="0"/>
              </a:rPr>
              <a:t>Prakash</a:t>
            </a:r>
            <a:r>
              <a:rPr lang="en-US" sz="2000" b="1" dirty="0" smtClean="0">
                <a:latin typeface="Times New Roman" panose="02020603050405020304" pitchFamily="18" charset="0"/>
                <a:cs typeface="Times New Roman" panose="02020603050405020304" pitchFamily="18" charset="0"/>
              </a:rPr>
              <a:t> et al. </a:t>
            </a:r>
            <a:r>
              <a:rPr lang="en-US" sz="2000" dirty="0" smtClean="0">
                <a:latin typeface="Times New Roman" panose="02020603050405020304" pitchFamily="18" charset="0"/>
                <a:cs typeface="Times New Roman" panose="02020603050405020304" pitchFamily="18" charset="0"/>
              </a:rPr>
              <a:t>introduced a neural network-based ensemble voting classifier to predict accurately the diabetes in the patients via online monitoring.</a:t>
            </a:r>
            <a:endParaRPr lang="en-US" sz="2000" dirty="0">
              <a:latin typeface="Times New Roman" panose="02020603050405020304" pitchFamily="18" charset="0"/>
              <a:cs typeface="Times New Roman" panose="02020603050405020304" pitchFamily="18" charset="0"/>
            </a:endParaRPr>
          </a:p>
        </p:txBody>
      </p:sp>
      <p:sp>
        <p:nvSpPr>
          <p:cNvPr id="10" name="Rectangle 8"/>
          <p:cNvSpPr/>
          <p:nvPr/>
        </p:nvSpPr>
        <p:spPr>
          <a:xfrm>
            <a:off x="381000" y="5715000"/>
            <a:ext cx="8382000" cy="1014730"/>
          </a:xfrm>
          <a:prstGeom prst="rect">
            <a:avLst/>
          </a:prstGeom>
        </p:spPr>
        <p:txBody>
          <a:bodyPr wrap="square">
            <a:spAutoFit/>
          </a:bodyPr>
          <a:lstStyle/>
          <a:p>
            <a:r>
              <a:rPr lang="en-US" sz="2000" b="1" dirty="0" err="1" smtClean="0">
                <a:latin typeface="Times New Roman" panose="02020603050405020304" pitchFamily="18" charset="0"/>
                <a:cs typeface="Times New Roman" panose="02020603050405020304" pitchFamily="18" charset="0"/>
              </a:rPr>
              <a:t>Tsoulchas</a:t>
            </a:r>
            <a:r>
              <a:rPr lang="en-US" sz="2000" b="1" dirty="0" smtClean="0">
                <a:latin typeface="Times New Roman" panose="02020603050405020304" pitchFamily="18" charset="0"/>
                <a:cs typeface="Times New Roman" panose="02020603050405020304" pitchFamily="18" charset="0"/>
              </a:rPr>
              <a:t> et al. </a:t>
            </a:r>
            <a:r>
              <a:rPr lang="en-US" sz="2000" dirty="0" smtClean="0">
                <a:latin typeface="Times New Roman" panose="02020603050405020304" pitchFamily="18" charset="0"/>
                <a:cs typeface="Times New Roman" panose="02020603050405020304" pitchFamily="18" charset="0"/>
              </a:rPr>
              <a:t>proposed a model to monitor the health of people with diabetes </a:t>
            </a:r>
            <a:r>
              <a:rPr lang="en-US" sz="2000" dirty="0" err="1" smtClean="0">
                <a:latin typeface="Times New Roman" panose="02020603050405020304" pitchFamily="18" charset="0"/>
                <a:cs typeface="Times New Roman" panose="02020603050405020304" pitchFamily="18" charset="0"/>
              </a:rPr>
              <a:t>melitus</a:t>
            </a:r>
            <a:r>
              <a:rPr lang="en-US" sz="2000" dirty="0" smtClean="0">
                <a:latin typeface="Times New Roman" panose="02020603050405020304" pitchFamily="18" charset="0"/>
                <a:cs typeface="Times New Roman" panose="02020603050405020304" pitchFamily="18" charset="0"/>
              </a:rPr>
              <a:t>, a disease with high incident rates mainly at the elderly but also in younger people. </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9090" y="1753870"/>
            <a:ext cx="8348345" cy="4998720"/>
          </a:xfrm>
        </p:spPr>
        <p:txBody>
          <a:bodyPr>
            <a:noAutofit/>
          </a:bodyPr>
          <a:lstStyle/>
          <a:p>
            <a:pPr>
              <a:buNone/>
            </a:pPr>
            <a:r>
              <a:rPr lang="en-US" sz="2000" dirty="0" smtClean="0">
                <a:latin typeface="Times New Roman" panose="02020603050405020304" pitchFamily="18" charset="0"/>
                <a:cs typeface="Times New Roman" panose="02020603050405020304" pitchFamily="18" charset="0"/>
                <a:sym typeface="+mn-ea"/>
              </a:rPr>
              <a:t>    In proposed work, we are using </a:t>
            </a:r>
            <a:r>
              <a:rPr lang="en-US" sz="2000" b="1" dirty="0" smtClean="0">
                <a:latin typeface="Times New Roman" panose="02020603050405020304" pitchFamily="18" charset="0"/>
                <a:cs typeface="Times New Roman" panose="02020603050405020304" pitchFamily="18" charset="0"/>
                <a:sym typeface="+mn-ea"/>
              </a:rPr>
              <a:t>Decision Tree</a:t>
            </a:r>
            <a:r>
              <a:rPr lang="en-US" sz="2000" dirty="0" smtClean="0">
                <a:latin typeface="Times New Roman" panose="02020603050405020304" pitchFamily="18" charset="0"/>
                <a:cs typeface="Times New Roman" panose="02020603050405020304" pitchFamily="18" charset="0"/>
                <a:sym typeface="+mn-ea"/>
              </a:rPr>
              <a:t>, </a:t>
            </a:r>
            <a:r>
              <a:rPr lang="en-US" sz="2000" b="1" dirty="0" smtClean="0">
                <a:latin typeface="Times New Roman" panose="02020603050405020304" pitchFamily="18" charset="0"/>
                <a:cs typeface="Times New Roman" panose="02020603050405020304" pitchFamily="18" charset="0"/>
                <a:sym typeface="+mn-ea"/>
              </a:rPr>
              <a:t>SVM</a:t>
            </a:r>
            <a:r>
              <a:rPr lang="en-US" sz="2000" dirty="0" smtClean="0">
                <a:latin typeface="Times New Roman" panose="02020603050405020304" pitchFamily="18" charset="0"/>
                <a:cs typeface="Times New Roman" panose="02020603050405020304" pitchFamily="18" charset="0"/>
                <a:sym typeface="+mn-ea"/>
              </a:rPr>
              <a:t>, </a:t>
            </a:r>
            <a:r>
              <a:rPr lang="en-US" sz="2000" b="1" dirty="0" smtClean="0">
                <a:latin typeface="Times New Roman" panose="02020603050405020304" pitchFamily="18" charset="0"/>
                <a:cs typeface="Times New Roman" panose="02020603050405020304" pitchFamily="18" charset="0"/>
                <a:sym typeface="+mn-ea"/>
              </a:rPr>
              <a:t>Artificial Neural Network </a:t>
            </a:r>
            <a:r>
              <a:rPr lang="en-US" sz="2000" dirty="0" smtClean="0">
                <a:latin typeface="Times New Roman" panose="02020603050405020304" pitchFamily="18" charset="0"/>
                <a:cs typeface="Times New Roman" panose="02020603050405020304" pitchFamily="18" charset="0"/>
                <a:sym typeface="+mn-ea"/>
              </a:rPr>
              <a:t>algorithms from python to predict patient condition from his data. To train these algorithms we are using diabetes dataset. To predict data efficiently author is using Ensemble Algorithm which is combination of Decision Tree, SVM and ANN algorithm. Training model of all these three algorithms will be merging inside Ensemble Algorithm to get better accuracy and prediction. </a:t>
            </a:r>
            <a:endParaRPr lang="en-US" sz="2000" dirty="0" smtClean="0">
              <a:latin typeface="Times New Roman" panose="02020603050405020304" pitchFamily="18" charset="0"/>
              <a:cs typeface="Times New Roman" panose="02020603050405020304" pitchFamily="18" charset="0"/>
            </a:endParaRPr>
          </a:p>
          <a:p>
            <a:pPr>
              <a:buNone/>
            </a:pPr>
            <a:endParaRPr lang="en-US" sz="2000" dirty="0" smtClean="0">
              <a:latin typeface="Times New Roman" panose="02020603050405020304" pitchFamily="18" charset="0"/>
              <a:cs typeface="Times New Roman" panose="02020603050405020304" pitchFamily="18" charset="0"/>
            </a:endParaRPr>
          </a:p>
          <a:p>
            <a:pPr marL="342900" indent="-342900">
              <a:buAutoNum type="arabicParenR"/>
            </a:pPr>
            <a:r>
              <a:rPr lang="en-US" sz="2000" b="1" dirty="0" smtClean="0">
                <a:latin typeface="Times New Roman" panose="02020603050405020304" pitchFamily="18" charset="0"/>
                <a:cs typeface="Times New Roman" panose="02020603050405020304" pitchFamily="18" charset="0"/>
                <a:sym typeface="+mn-ea"/>
              </a:rPr>
              <a:t>Personalization: </a:t>
            </a:r>
            <a:r>
              <a:rPr lang="en-US" sz="2000" dirty="0" smtClean="0">
                <a:latin typeface="Times New Roman" panose="02020603050405020304" pitchFamily="18" charset="0"/>
                <a:cs typeface="Times New Roman" panose="02020603050405020304" pitchFamily="18" charset="0"/>
                <a:sym typeface="+mn-ea"/>
              </a:rPr>
              <a:t>In this technique one patient can share his data with other patient based on distance between cloud servers they are using to store data. Here we are using dataset so sharing is not possible but </a:t>
            </a:r>
            <a:r>
              <a:rPr lang="en-US" sz="2000" dirty="0" err="1" smtClean="0">
                <a:latin typeface="Times New Roman" panose="02020603050405020304" pitchFamily="18" charset="0"/>
                <a:cs typeface="Times New Roman" panose="02020603050405020304" pitchFamily="18" charset="0"/>
                <a:sym typeface="+mn-ea"/>
              </a:rPr>
              <a:t>i</a:t>
            </a:r>
            <a:r>
              <a:rPr lang="en-US" sz="2000" dirty="0" smtClean="0">
                <a:latin typeface="Times New Roman" panose="02020603050405020304" pitchFamily="18" charset="0"/>
                <a:cs typeface="Times New Roman" panose="02020603050405020304" pitchFamily="18" charset="0"/>
                <a:sym typeface="+mn-ea"/>
              </a:rPr>
              <a:t> am making all predicted test data values to be open so all users can see or share it. </a:t>
            </a:r>
            <a:endParaRPr lang="en-US" sz="2000" dirty="0" smtClean="0">
              <a:latin typeface="Times New Roman" panose="02020603050405020304" pitchFamily="18" charset="0"/>
              <a:cs typeface="Times New Roman" panose="02020603050405020304" pitchFamily="18" charset="0"/>
            </a:endParaRPr>
          </a:p>
          <a:p>
            <a:pPr marL="342900" indent="-342900">
              <a:buAutoNum type="arabicParenR"/>
            </a:pPr>
            <a:endParaRPr lang="en-US" sz="2000" dirty="0" smtClean="0">
              <a:latin typeface="Times New Roman" panose="02020603050405020304" pitchFamily="18" charset="0"/>
              <a:cs typeface="Times New Roman" panose="02020603050405020304" pitchFamily="18" charset="0"/>
            </a:endParaRPr>
          </a:p>
          <a:p>
            <a:pPr marL="342900" indent="-342900">
              <a:buAutoNum type="arabicParenR"/>
            </a:pPr>
            <a:r>
              <a:rPr lang="en-US" sz="2000" b="1" dirty="0" smtClean="0">
                <a:latin typeface="Times New Roman" panose="02020603050405020304" pitchFamily="18" charset="0"/>
                <a:cs typeface="Times New Roman" panose="02020603050405020304" pitchFamily="18" charset="0"/>
                <a:sym typeface="+mn-ea"/>
              </a:rPr>
              <a:t> Smartness</a:t>
            </a:r>
            <a:r>
              <a:rPr lang="en-US" sz="2000" dirty="0" smtClean="0">
                <a:latin typeface="Times New Roman" panose="02020603050405020304" pitchFamily="18" charset="0"/>
                <a:cs typeface="Times New Roman" panose="02020603050405020304" pitchFamily="18" charset="0"/>
                <a:sym typeface="+mn-ea"/>
              </a:rPr>
              <a:t>: this technique will be considered as smart as its require no human effort to inform patient about current condition.</a:t>
            </a:r>
            <a:endParaRPr lang="en-US" sz="2000" dirty="0">
              <a:latin typeface="Times New Roman" panose="02020603050405020304" pitchFamily="18" charset="0"/>
              <a:cs typeface="Times New Roman" panose="02020603050405020304" pitchFamily="18" charset="0"/>
            </a:endParaRPr>
          </a:p>
          <a:p>
            <a:pPr>
              <a:buNone/>
            </a:pPr>
            <a:endParaRPr lang="en-US" sz="1100" dirty="0">
              <a:latin typeface="Times New Roman" panose="02020603050405020304" pitchFamily="18" charset="0"/>
              <a:cs typeface="Times New Roman" panose="02020603050405020304" pitchFamily="18" charset="0"/>
            </a:endParaRPr>
          </a:p>
        </p:txBody>
      </p:sp>
      <p:sp>
        <p:nvSpPr>
          <p:cNvPr id="4" name="Title 3"/>
          <p:cNvSpPr>
            <a:spLocks noGrp="1"/>
          </p:cNvSpPr>
          <p:nvPr>
            <p:ph type="title"/>
          </p:nvPr>
        </p:nvSpPr>
        <p:spPr>
          <a:xfrm>
            <a:off x="732155" y="704215"/>
            <a:ext cx="7954645" cy="716280"/>
          </a:xfrm>
        </p:spPr>
        <p:txBody>
          <a:bodyPr/>
          <a:lstStyle/>
          <a:p>
            <a:r>
              <a:rPr lang="en-US" sz="3600" b="1" dirty="0" smtClean="0">
                <a:solidFill>
                  <a:schemeClr val="tx1"/>
                </a:solidFill>
                <a:latin typeface="Times New Roman" panose="02020603050405020304" pitchFamily="18" charset="0"/>
                <a:cs typeface="Times New Roman" panose="02020603050405020304" pitchFamily="18" charset="0"/>
                <a:sym typeface="+mn-ea"/>
              </a:rPr>
              <a:t>PROPOSED METHOD</a:t>
            </a:r>
            <a:endParaRPr lang="en-US" sz="3600" b="1">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116205" y="1016635"/>
            <a:ext cx="8782685" cy="835025"/>
          </a:xfrm>
          <a:prstGeom prst="rect">
            <a:avLst/>
          </a:prstGeom>
          <a:noFill/>
        </p:spPr>
        <p:txBody>
          <a:bodyPr wrap="square" rtlCol="0" anchor="t">
            <a:noAutofit/>
          </a:bodyPr>
          <a:lstStyle/>
          <a:p>
            <a:pPr algn="ctr"/>
            <a:r>
              <a:rPr lang="en-US" sz="3200" b="1" dirty="0" smtClean="0">
                <a:latin typeface="Times New Roman" panose="02020603050405020304" pitchFamily="18" charset="0"/>
                <a:cs typeface="Times New Roman" panose="02020603050405020304" pitchFamily="18" charset="0"/>
                <a:sym typeface="+mn-ea"/>
              </a:rPr>
              <a:t>HARDWARE&amp;SOFTWARE REGUIREMENTS</a:t>
            </a:r>
            <a:endParaRPr lang="en-US" sz="3200" b="1" dirty="0" smtClean="0">
              <a:latin typeface="Times New Roman" panose="02020603050405020304" pitchFamily="18" charset="0"/>
              <a:cs typeface="Times New Roman" panose="02020603050405020304" pitchFamily="18" charset="0"/>
              <a:sym typeface="+mn-ea"/>
            </a:endParaRPr>
          </a:p>
        </p:txBody>
      </p:sp>
      <p:sp>
        <p:nvSpPr>
          <p:cNvPr id="5" name="Text Box 4"/>
          <p:cNvSpPr txBox="1"/>
          <p:nvPr/>
        </p:nvSpPr>
        <p:spPr>
          <a:xfrm>
            <a:off x="762000" y="2438400"/>
            <a:ext cx="7002780" cy="3499485"/>
          </a:xfrm>
          <a:prstGeom prst="rect">
            <a:avLst/>
          </a:prstGeom>
          <a:noFill/>
        </p:spPr>
        <p:txBody>
          <a:bodyPr wrap="square" rtlCol="0" anchor="t">
            <a:noAutofit/>
          </a:bodyPr>
          <a:lstStyle/>
          <a:p>
            <a:pPr marL="0" marR="0" lvl="0" indent="0" algn="l" defTabSz="914400" rtl="0" eaLnBrk="1" fontAlgn="base" latinLnBrk="0" hangingPunct="1">
              <a:lnSpc>
                <a:spcPct val="100000"/>
              </a:lnSpc>
              <a:spcBef>
                <a:spcPct val="0"/>
              </a:spcBef>
              <a:spcAft>
                <a:spcPct val="0"/>
              </a:spcAft>
              <a:buClrTx/>
              <a:buSzTx/>
              <a:buFontTx/>
              <a:buNone/>
              <a:tabLst>
                <a:tab pos="457200" algn="l"/>
              </a:tabLst>
            </a:pPr>
            <a:r>
              <a:rPr lang="en-US" sz="2000" b="1" u="sng" dirty="0" smtClean="0">
                <a:ln>
                  <a:noFill/>
                </a:ln>
                <a:effectLst/>
                <a:latin typeface="Times New Roman" panose="02020603050405020304" pitchFamily="18" charset="0"/>
                <a:ea typeface="Times New Roman" panose="02020603050405020304" pitchFamily="18" charset="0"/>
                <a:cs typeface="Times New Roman" panose="02020603050405020304" pitchFamily="18" charset="0"/>
                <a:sym typeface="+mn-ea"/>
              </a:rPr>
              <a:t>HARDWARE REQUIREMENTS:</a:t>
            </a:r>
            <a:endPar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
                <a:srgbClr val="009DD9"/>
              </a:buClr>
              <a:buSzTx/>
              <a:buFont typeface="Wingdings" panose="05000000000000000000" charset="0"/>
              <a:buChar char="Ø"/>
              <a:tabLst>
                <a:tab pos="457200" algn="l"/>
              </a:tabLst>
            </a:pPr>
            <a:r>
              <a:rPr lang="en-GB" sz="2000" b="1" dirty="0" smtClean="0">
                <a:ln>
                  <a:noFill/>
                </a:ln>
                <a:effectLst/>
                <a:latin typeface="Times New Roman" panose="02020603050405020304" pitchFamily="18" charset="0"/>
                <a:ea typeface="Times New Roman" panose="02020603050405020304" pitchFamily="18" charset="0"/>
                <a:cs typeface="Times New Roman" panose="02020603050405020304" pitchFamily="18" charset="0"/>
                <a:sym typeface="+mn-ea"/>
              </a:rPr>
              <a:t>System		  </a:t>
            </a:r>
            <a:r>
              <a:rPr lang="en-US" altLang="en-GB" sz="2000" b="1" dirty="0" smtClean="0">
                <a:ln>
                  <a:noFill/>
                </a:ln>
                <a:effectLst/>
                <a:latin typeface="Times New Roman" panose="02020603050405020304" pitchFamily="18" charset="0"/>
                <a:ea typeface="Times New Roman" panose="02020603050405020304" pitchFamily="18" charset="0"/>
                <a:cs typeface="Times New Roman" panose="02020603050405020304" pitchFamily="18" charset="0"/>
                <a:sym typeface="+mn-ea"/>
              </a:rPr>
              <a:t>       </a:t>
            </a:r>
            <a:r>
              <a:rPr lang="en-GB" sz="2000" b="1" dirty="0" smtClean="0">
                <a:ln>
                  <a:noFill/>
                </a:ln>
                <a:effectLst/>
                <a:latin typeface="Times New Roman" panose="02020603050405020304" pitchFamily="18" charset="0"/>
                <a:ea typeface="Times New Roman" panose="02020603050405020304" pitchFamily="18" charset="0"/>
                <a:cs typeface="Times New Roman" panose="02020603050405020304" pitchFamily="18" charset="0"/>
                <a:sym typeface="+mn-ea"/>
              </a:rPr>
              <a:t>:   </a:t>
            </a:r>
            <a:r>
              <a:rPr lang="en-GB" sz="2000" dirty="0" smtClean="0">
                <a:ln>
                  <a:noFill/>
                </a:ln>
                <a:effectLst/>
                <a:latin typeface="Times New Roman" panose="02020603050405020304" pitchFamily="18" charset="0"/>
                <a:ea typeface="Times New Roman" panose="02020603050405020304" pitchFamily="18" charset="0"/>
                <a:cs typeface="Times New Roman" panose="02020603050405020304" pitchFamily="18" charset="0"/>
                <a:sym typeface="+mn-ea"/>
              </a:rPr>
              <a:t>Pentium IV 2.4 GHz</a:t>
            </a:r>
            <a:endParaRPr lang="en-GB" sz="2000" dirty="0" smtClean="0">
              <a:ln>
                <a:noFill/>
              </a:ln>
              <a:effectLst/>
              <a:latin typeface="Times New Roman" panose="02020603050405020304" pitchFamily="18" charset="0"/>
              <a:ea typeface="Times New Roman" panose="02020603050405020304" pitchFamily="18" charset="0"/>
              <a:cs typeface="Times New Roman" panose="02020603050405020304" pitchFamily="18" charset="0"/>
              <a:sym typeface="+mn-ea"/>
            </a:endParaRPr>
          </a:p>
          <a:p>
            <a:pPr marL="342900" marR="0" lvl="0" indent="-342900" algn="l" defTabSz="914400" rtl="0" eaLnBrk="0" fontAlgn="base" latinLnBrk="0" hangingPunct="0">
              <a:lnSpc>
                <a:spcPct val="100000"/>
              </a:lnSpc>
              <a:spcBef>
                <a:spcPct val="0"/>
              </a:spcBef>
              <a:spcAft>
                <a:spcPct val="0"/>
              </a:spcAft>
              <a:buClr>
                <a:srgbClr val="009DD9"/>
              </a:buClr>
              <a:buSzTx/>
              <a:buFont typeface="Wingdings" panose="05000000000000000000" charset="0"/>
              <a:buChar char="Ø"/>
              <a:tabLst>
                <a:tab pos="457200" algn="l"/>
              </a:tabLst>
            </a:pPr>
            <a:r>
              <a:rPr lang="en-GB" sz="2000" b="1" dirty="0" smtClean="0">
                <a:ln>
                  <a:noFill/>
                </a:ln>
                <a:effectLst/>
                <a:latin typeface="Times New Roman" panose="02020603050405020304" pitchFamily="18" charset="0"/>
                <a:ea typeface="Times New Roman" panose="02020603050405020304" pitchFamily="18" charset="0"/>
                <a:cs typeface="Times New Roman" panose="02020603050405020304" pitchFamily="18" charset="0"/>
                <a:sym typeface="+mn-ea"/>
              </a:rPr>
              <a:t>Hard Disk	  </a:t>
            </a:r>
            <a:r>
              <a:rPr lang="en-US" altLang="en-GB" sz="2000" b="1" dirty="0" smtClean="0">
                <a:ln>
                  <a:noFill/>
                </a:ln>
                <a:effectLst/>
                <a:latin typeface="Times New Roman" panose="02020603050405020304" pitchFamily="18" charset="0"/>
                <a:ea typeface="Times New Roman" panose="02020603050405020304" pitchFamily="18" charset="0"/>
                <a:cs typeface="Times New Roman" panose="02020603050405020304" pitchFamily="18" charset="0"/>
                <a:sym typeface="+mn-ea"/>
              </a:rPr>
              <a:t>         	        </a:t>
            </a:r>
            <a:r>
              <a:rPr lang="en-GB" sz="2000" b="1" dirty="0" smtClean="0">
                <a:ln>
                  <a:noFill/>
                </a:ln>
                <a:effectLst/>
                <a:latin typeface="Times New Roman" panose="02020603050405020304" pitchFamily="18" charset="0"/>
                <a:ea typeface="Times New Roman" panose="02020603050405020304" pitchFamily="18" charset="0"/>
                <a:cs typeface="Times New Roman" panose="02020603050405020304" pitchFamily="18" charset="0"/>
                <a:sym typeface="+mn-ea"/>
              </a:rPr>
              <a:t> </a:t>
            </a:r>
            <a:r>
              <a:rPr lang="en-US" altLang="en-GB" sz="2000" b="1" dirty="0" smtClean="0">
                <a:ln>
                  <a:noFill/>
                </a:ln>
                <a:effectLst/>
                <a:latin typeface="Times New Roman" panose="02020603050405020304" pitchFamily="18" charset="0"/>
                <a:ea typeface="Times New Roman" panose="02020603050405020304" pitchFamily="18" charset="0"/>
                <a:cs typeface="Times New Roman" panose="02020603050405020304" pitchFamily="18" charset="0"/>
                <a:sym typeface="+mn-ea"/>
              </a:rPr>
              <a:t>:</a:t>
            </a:r>
            <a:r>
              <a:rPr lang="en-GB" sz="2000" b="1" dirty="0" smtClean="0">
                <a:ln>
                  <a:noFill/>
                </a:ln>
                <a:effectLst/>
                <a:latin typeface="Times New Roman" panose="02020603050405020304" pitchFamily="18" charset="0"/>
                <a:ea typeface="Times New Roman" panose="02020603050405020304" pitchFamily="18" charset="0"/>
                <a:cs typeface="Times New Roman" panose="02020603050405020304" pitchFamily="18" charset="0"/>
                <a:sym typeface="+mn-ea"/>
              </a:rPr>
              <a:t>  </a:t>
            </a:r>
            <a:r>
              <a:rPr lang="en-GB" sz="2000" dirty="0" smtClean="0">
                <a:ln>
                  <a:noFill/>
                </a:ln>
                <a:effectLst/>
                <a:latin typeface="Times New Roman" panose="02020603050405020304" pitchFamily="18" charset="0"/>
                <a:ea typeface="Times New Roman" panose="02020603050405020304" pitchFamily="18" charset="0"/>
                <a:cs typeface="Times New Roman" panose="02020603050405020304" pitchFamily="18" charset="0"/>
                <a:sym typeface="+mn-ea"/>
              </a:rPr>
              <a:t>40 GB</a:t>
            </a:r>
            <a:endParaRPr lang="en-GB" sz="2000" dirty="0" smtClean="0">
              <a:ln>
                <a:noFill/>
              </a:ln>
              <a:effectLst/>
              <a:latin typeface="Times New Roman" panose="02020603050405020304" pitchFamily="18" charset="0"/>
              <a:ea typeface="Times New Roman" panose="02020603050405020304" pitchFamily="18" charset="0"/>
              <a:cs typeface="Times New Roman" panose="02020603050405020304" pitchFamily="18" charset="0"/>
              <a:sym typeface="+mn-ea"/>
            </a:endParaRPr>
          </a:p>
          <a:p>
            <a:pPr marL="342900" marR="0" lvl="0" indent="-342900" algn="l" defTabSz="914400" rtl="0" eaLnBrk="0" fontAlgn="base" latinLnBrk="0" hangingPunct="0">
              <a:lnSpc>
                <a:spcPct val="100000"/>
              </a:lnSpc>
              <a:spcBef>
                <a:spcPct val="0"/>
              </a:spcBef>
              <a:spcAft>
                <a:spcPct val="0"/>
              </a:spcAft>
              <a:buClr>
                <a:srgbClr val="009DD9"/>
              </a:buClr>
              <a:buSzTx/>
              <a:buFont typeface="Wingdings" panose="05000000000000000000" charset="0"/>
              <a:buChar char="Ø"/>
              <a:tabLst>
                <a:tab pos="457200" algn="l"/>
              </a:tabLst>
            </a:pPr>
            <a:r>
              <a:rPr lang="en-GB" sz="2000" b="1" dirty="0" smtClean="0">
                <a:ln>
                  <a:noFill/>
                </a:ln>
                <a:effectLst/>
                <a:latin typeface="Times New Roman" panose="02020603050405020304" pitchFamily="18" charset="0"/>
                <a:ea typeface="Times New Roman" panose="02020603050405020304" pitchFamily="18" charset="0"/>
                <a:cs typeface="Times New Roman" panose="02020603050405020304" pitchFamily="18" charset="0"/>
                <a:sym typeface="+mn-ea"/>
              </a:rPr>
              <a:t>Floppy Drive	   </a:t>
            </a:r>
            <a:r>
              <a:rPr lang="en-US" altLang="en-GB" sz="2000" b="1" dirty="0" smtClean="0">
                <a:ln>
                  <a:noFill/>
                </a:ln>
                <a:effectLst/>
                <a:latin typeface="Times New Roman" panose="02020603050405020304" pitchFamily="18" charset="0"/>
                <a:ea typeface="Times New Roman" panose="02020603050405020304" pitchFamily="18" charset="0"/>
                <a:cs typeface="Times New Roman" panose="02020603050405020304" pitchFamily="18" charset="0"/>
                <a:sym typeface="+mn-ea"/>
              </a:rPr>
              <a:t>                    </a:t>
            </a:r>
            <a:r>
              <a:rPr lang="en-GB" sz="2000" b="1" dirty="0" smtClean="0">
                <a:ln>
                  <a:noFill/>
                </a:ln>
                <a:effectLst/>
                <a:latin typeface="Times New Roman" panose="02020603050405020304" pitchFamily="18" charset="0"/>
                <a:ea typeface="Times New Roman" panose="02020603050405020304" pitchFamily="18" charset="0"/>
                <a:cs typeface="Times New Roman" panose="02020603050405020304" pitchFamily="18" charset="0"/>
                <a:sym typeface="+mn-ea"/>
              </a:rPr>
              <a:t>:   </a:t>
            </a:r>
            <a:r>
              <a:rPr lang="en-GB" sz="2000" dirty="0" smtClean="0">
                <a:ln>
                  <a:noFill/>
                </a:ln>
                <a:effectLst/>
                <a:latin typeface="Times New Roman" panose="02020603050405020304" pitchFamily="18" charset="0"/>
                <a:ea typeface="Times New Roman" panose="02020603050405020304" pitchFamily="18" charset="0"/>
                <a:cs typeface="Times New Roman" panose="02020603050405020304" pitchFamily="18" charset="0"/>
                <a:sym typeface="+mn-ea"/>
              </a:rPr>
              <a:t>1.44 Mb</a:t>
            </a:r>
            <a:endParaRPr lang="en-GB" sz="2000" dirty="0" smtClean="0">
              <a:ln>
                <a:noFill/>
              </a:ln>
              <a:effectLst/>
              <a:latin typeface="Times New Roman" panose="02020603050405020304" pitchFamily="18" charset="0"/>
              <a:ea typeface="Times New Roman" panose="02020603050405020304" pitchFamily="18" charset="0"/>
              <a:cs typeface="Times New Roman" panose="02020603050405020304" pitchFamily="18" charset="0"/>
              <a:sym typeface="+mn-ea"/>
            </a:endParaRPr>
          </a:p>
          <a:p>
            <a:pPr marL="342900" marR="0" lvl="0" indent="-342900" algn="l" defTabSz="914400" rtl="0" eaLnBrk="0" fontAlgn="base" latinLnBrk="0" hangingPunct="0">
              <a:lnSpc>
                <a:spcPct val="100000"/>
              </a:lnSpc>
              <a:spcBef>
                <a:spcPct val="0"/>
              </a:spcBef>
              <a:spcAft>
                <a:spcPct val="0"/>
              </a:spcAft>
              <a:buClr>
                <a:srgbClr val="009DD9"/>
              </a:buClr>
              <a:buSzTx/>
              <a:buFont typeface="Wingdings" panose="05000000000000000000" charset="0"/>
              <a:buChar char="Ø"/>
              <a:tabLst>
                <a:tab pos="457200" algn="l"/>
              </a:tabLst>
            </a:pPr>
            <a:endPar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R="0" lvl="0" indent="0" algn="l" defTabSz="914400" rtl="0" eaLnBrk="0" fontAlgn="base" latinLnBrk="0" hangingPunct="0">
              <a:lnSpc>
                <a:spcPct val="100000"/>
              </a:lnSpc>
              <a:spcBef>
                <a:spcPct val="0"/>
              </a:spcBef>
              <a:spcAft>
                <a:spcPct val="0"/>
              </a:spcAft>
              <a:buClr>
                <a:srgbClr val="009DD9"/>
              </a:buClr>
              <a:buSzTx/>
              <a:buFont typeface="Wingdings" panose="05000000000000000000" charset="0"/>
              <a:buNone/>
              <a:tabLst>
                <a:tab pos="457200" algn="l"/>
              </a:tabLst>
            </a:pPr>
            <a:r>
              <a:rPr lang="en-US" sz="2000" b="1" u="sng" dirty="0" smtClean="0">
                <a:ln>
                  <a:noFill/>
                </a:ln>
                <a:effectLst/>
                <a:latin typeface="Times New Roman" panose="02020603050405020304" pitchFamily="18" charset="0"/>
                <a:ea typeface="Times New Roman" panose="02020603050405020304" pitchFamily="18" charset="0"/>
                <a:cs typeface="Times New Roman" panose="02020603050405020304" pitchFamily="18" charset="0"/>
                <a:sym typeface="+mn-ea"/>
              </a:rPr>
              <a:t> SOFTWARE REQUIREMENTS:</a:t>
            </a:r>
            <a:r>
              <a:rPr lang="en-US" sz="2000" b="1" dirty="0" smtClean="0">
                <a:ln>
                  <a:noFill/>
                </a:ln>
                <a:effectLst/>
                <a:latin typeface="Times New Roman" panose="02020603050405020304" pitchFamily="18" charset="0"/>
                <a:ea typeface="Times New Roman" panose="02020603050405020304" pitchFamily="18" charset="0"/>
                <a:cs typeface="Times New Roman" panose="02020603050405020304" pitchFamily="18" charset="0"/>
                <a:sym typeface="+mn-ea"/>
              </a:rPr>
              <a:t> </a:t>
            </a:r>
            <a:endParaRPr lang="en-US" sz="2000" b="1" dirty="0" smtClean="0">
              <a:ln>
                <a:noFill/>
              </a:ln>
              <a:effectLst/>
              <a:latin typeface="Times New Roman" panose="02020603050405020304" pitchFamily="18" charset="0"/>
              <a:ea typeface="Times New Roman" panose="02020603050405020304" pitchFamily="18" charset="0"/>
              <a:cs typeface="Times New Roman" panose="02020603050405020304" pitchFamily="18" charset="0"/>
              <a:sym typeface="+mn-ea"/>
            </a:endParaRPr>
          </a:p>
          <a:p>
            <a:pPr marR="0" lvl="0" indent="0" algn="l" defTabSz="914400" rtl="0" eaLnBrk="0" fontAlgn="base" latinLnBrk="0" hangingPunct="0">
              <a:lnSpc>
                <a:spcPct val="100000"/>
              </a:lnSpc>
              <a:spcBef>
                <a:spcPct val="0"/>
              </a:spcBef>
              <a:spcAft>
                <a:spcPct val="0"/>
              </a:spcAft>
              <a:buClr>
                <a:srgbClr val="009DD9"/>
              </a:buClr>
              <a:buSzTx/>
              <a:buFont typeface="Wingdings" panose="05000000000000000000" charset="0"/>
              <a:buChar char="Ø"/>
              <a:tabLst>
                <a:tab pos="457200" algn="l"/>
              </a:tabLst>
            </a:pPr>
            <a:r>
              <a:rPr lang="en-US" sz="2000" b="1" dirty="0" smtClean="0">
                <a:ln>
                  <a:noFill/>
                </a:ln>
                <a:effectLst/>
                <a:latin typeface="Times New Roman" panose="02020603050405020304" pitchFamily="18" charset="0"/>
                <a:ea typeface="Times New Roman" panose="02020603050405020304" pitchFamily="18" charset="0"/>
                <a:cs typeface="Times New Roman" panose="02020603050405020304" pitchFamily="18" charset="0"/>
                <a:sym typeface="+mn-ea"/>
              </a:rPr>
              <a:t>  Operating system                :   </a:t>
            </a:r>
            <a:r>
              <a:rPr lang="en-US" sz="2000" dirty="0" smtClean="0">
                <a:ln>
                  <a:noFill/>
                </a:ln>
                <a:effectLst/>
                <a:latin typeface="Times New Roman" panose="02020603050405020304" pitchFamily="18" charset="0"/>
                <a:ea typeface="Times New Roman" panose="02020603050405020304" pitchFamily="18" charset="0"/>
                <a:cs typeface="Times New Roman" panose="02020603050405020304" pitchFamily="18" charset="0"/>
                <a:sym typeface="+mn-ea"/>
              </a:rPr>
              <a:t>Windows 7 Ultimate</a:t>
            </a:r>
            <a:endParaRPr lang="en-US" sz="2000" dirty="0" smtClean="0">
              <a:ln>
                <a:noFill/>
              </a:ln>
              <a:effectLst/>
              <a:latin typeface="Times New Roman" panose="02020603050405020304" pitchFamily="18" charset="0"/>
              <a:ea typeface="Times New Roman" panose="02020603050405020304" pitchFamily="18" charset="0"/>
              <a:cs typeface="Times New Roman" panose="02020603050405020304" pitchFamily="18" charset="0"/>
              <a:sym typeface="+mn-ea"/>
            </a:endParaRPr>
          </a:p>
          <a:p>
            <a:pPr marR="0" lvl="0" indent="0" algn="l" defTabSz="914400" rtl="0" eaLnBrk="0" fontAlgn="base" latinLnBrk="0" hangingPunct="0">
              <a:lnSpc>
                <a:spcPct val="100000"/>
              </a:lnSpc>
              <a:spcBef>
                <a:spcPct val="0"/>
              </a:spcBef>
              <a:spcAft>
                <a:spcPct val="0"/>
              </a:spcAft>
              <a:buClr>
                <a:srgbClr val="009DD9"/>
              </a:buClr>
              <a:buSzTx/>
              <a:buFont typeface="Wingdings" panose="05000000000000000000" charset="0"/>
              <a:buChar char="Ø"/>
              <a:tabLst>
                <a:tab pos="457200" algn="l"/>
              </a:tabLst>
            </a:pPr>
            <a:r>
              <a:rPr lang="en-US" sz="2000" b="1" dirty="0" smtClean="0">
                <a:ln>
                  <a:noFill/>
                </a:ln>
                <a:effectLst/>
                <a:latin typeface="Times New Roman" panose="02020603050405020304" pitchFamily="18" charset="0"/>
                <a:ea typeface="Times New Roman" panose="02020603050405020304" pitchFamily="18" charset="0"/>
                <a:cs typeface="Times New Roman" panose="02020603050405020304" pitchFamily="18" charset="0"/>
                <a:sym typeface="+mn-ea"/>
              </a:rPr>
              <a:t>  Coding Language</a:t>
            </a:r>
            <a:r>
              <a:rPr lang="en-US" sz="2000" b="1" dirty="0" smtClean="0">
                <a:latin typeface="Times New Roman" panose="02020603050405020304" pitchFamily="18" charset="0"/>
                <a:ea typeface="Times New Roman" panose="02020603050405020304" pitchFamily="18" charset="0"/>
                <a:cs typeface="Times New Roman" panose="02020603050405020304" pitchFamily="18" charset="0"/>
                <a:sym typeface="+mn-ea"/>
              </a:rPr>
              <a:t>                </a:t>
            </a:r>
            <a:r>
              <a:rPr lang="en-US" sz="2000" b="1" dirty="0" smtClean="0">
                <a:ln>
                  <a:noFill/>
                </a:ln>
                <a:effectLst/>
                <a:latin typeface="Times New Roman" panose="02020603050405020304" pitchFamily="18" charset="0"/>
                <a:ea typeface="Times New Roman" panose="02020603050405020304" pitchFamily="18" charset="0"/>
                <a:cs typeface="Times New Roman" panose="02020603050405020304" pitchFamily="18" charset="0"/>
                <a:sym typeface="+mn-ea"/>
              </a:rPr>
              <a:t>:   </a:t>
            </a:r>
            <a:r>
              <a:rPr lang="en-US" sz="2000" dirty="0" smtClean="0">
                <a:ln>
                  <a:noFill/>
                </a:ln>
                <a:effectLst/>
                <a:latin typeface="Times New Roman" panose="02020603050405020304" pitchFamily="18" charset="0"/>
                <a:ea typeface="Times New Roman" panose="02020603050405020304" pitchFamily="18" charset="0"/>
                <a:cs typeface="Times New Roman" panose="02020603050405020304" pitchFamily="18" charset="0"/>
                <a:sym typeface="+mn-ea"/>
              </a:rPr>
              <a:t>Python</a:t>
            </a:r>
            <a:endParaRPr lang="en-US" sz="2000" dirty="0" smtClean="0">
              <a:ln>
                <a:noFill/>
              </a:ln>
              <a:effectLst/>
              <a:latin typeface="Times New Roman" panose="02020603050405020304" pitchFamily="18" charset="0"/>
              <a:ea typeface="Times New Roman" panose="02020603050405020304" pitchFamily="18" charset="0"/>
              <a:cs typeface="Times New Roman" panose="02020603050405020304" pitchFamily="18" charset="0"/>
              <a:sym typeface="+mn-ea"/>
            </a:endParaRPr>
          </a:p>
          <a:p>
            <a:pPr marR="0" lvl="0" indent="0" algn="l" defTabSz="914400" rtl="0" eaLnBrk="0" fontAlgn="base" latinLnBrk="0" hangingPunct="0">
              <a:lnSpc>
                <a:spcPct val="100000"/>
              </a:lnSpc>
              <a:spcBef>
                <a:spcPct val="0"/>
              </a:spcBef>
              <a:spcAft>
                <a:spcPct val="0"/>
              </a:spcAft>
              <a:buClr>
                <a:srgbClr val="009DD9"/>
              </a:buClr>
              <a:buSzTx/>
              <a:buFont typeface="Wingdings" panose="05000000000000000000" charset="0"/>
              <a:buChar char="Ø"/>
              <a:tabLst>
                <a:tab pos="457200" algn="l"/>
              </a:tabLst>
            </a:pPr>
            <a:r>
              <a:rPr lang="en-US" sz="2000" b="1" dirty="0" smtClean="0">
                <a:ln>
                  <a:noFill/>
                </a:ln>
                <a:effectLst/>
                <a:latin typeface="Times New Roman" panose="02020603050405020304" pitchFamily="18" charset="0"/>
                <a:ea typeface="Times New Roman" panose="02020603050405020304" pitchFamily="18" charset="0"/>
                <a:cs typeface="Times New Roman" panose="02020603050405020304" pitchFamily="18" charset="0"/>
                <a:sym typeface="+mn-ea"/>
              </a:rPr>
              <a:t>  Front-End	</a:t>
            </a:r>
            <a:r>
              <a:rPr lang="en-US" sz="2000" b="1" dirty="0" smtClean="0">
                <a:latin typeface="Times New Roman" panose="02020603050405020304" pitchFamily="18" charset="0"/>
                <a:ea typeface="Times New Roman" panose="02020603050405020304" pitchFamily="18" charset="0"/>
                <a:cs typeface="Times New Roman" panose="02020603050405020304" pitchFamily="18" charset="0"/>
                <a:sym typeface="+mn-ea"/>
              </a:rPr>
              <a:t>                       </a:t>
            </a:r>
            <a:r>
              <a:rPr lang="en-US" sz="2000" b="1" dirty="0" smtClean="0">
                <a:ln>
                  <a:noFill/>
                </a:ln>
                <a:effectLst/>
                <a:latin typeface="Times New Roman" panose="02020603050405020304" pitchFamily="18" charset="0"/>
                <a:ea typeface="Times New Roman" panose="02020603050405020304" pitchFamily="18" charset="0"/>
                <a:cs typeface="Times New Roman" panose="02020603050405020304" pitchFamily="18" charset="0"/>
                <a:sym typeface="+mn-ea"/>
              </a:rPr>
              <a:t>:   </a:t>
            </a:r>
            <a:r>
              <a:rPr lang="en-US" sz="2000" dirty="0" smtClean="0">
                <a:ln>
                  <a:noFill/>
                </a:ln>
                <a:effectLst/>
                <a:latin typeface="Times New Roman" panose="02020603050405020304" pitchFamily="18" charset="0"/>
                <a:ea typeface="Times New Roman" panose="02020603050405020304" pitchFamily="18" charset="0"/>
                <a:cs typeface="Times New Roman" panose="02020603050405020304" pitchFamily="18" charset="0"/>
                <a:sym typeface="+mn-ea"/>
              </a:rPr>
              <a:t>Python</a:t>
            </a:r>
            <a:endPar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tab pos="457200" algn="l"/>
              </a:tabLst>
            </a:pPr>
            <a:endPar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681355" y="803275"/>
            <a:ext cx="5365750" cy="1150620"/>
          </a:xfrm>
          <a:prstGeom prst="rect">
            <a:avLst/>
          </a:prstGeom>
          <a:noFill/>
        </p:spPr>
        <p:txBody>
          <a:bodyPr wrap="square" rtlCol="0" anchor="t">
            <a:noAutofit/>
          </a:bodyPr>
          <a:lstStyle/>
          <a:p>
            <a:r>
              <a:rPr lang="en-IN" sz="3200" b="1" dirty="0" smtClean="0">
                <a:latin typeface="Times New Roman" panose="02020603050405020304" pitchFamily="18" charset="0"/>
                <a:cs typeface="Times New Roman" panose="02020603050405020304" pitchFamily="18" charset="0"/>
                <a:sym typeface="+mn-ea"/>
              </a:rPr>
              <a:t> ADVANTAGES</a:t>
            </a:r>
            <a:endParaRPr lang="en-IN" sz="3200" b="1" dirty="0" smtClean="0">
              <a:latin typeface="Times New Roman" panose="02020603050405020304" pitchFamily="18" charset="0"/>
              <a:cs typeface="Times New Roman" panose="02020603050405020304" pitchFamily="18" charset="0"/>
              <a:sym typeface="+mn-ea"/>
            </a:endParaRPr>
          </a:p>
        </p:txBody>
      </p:sp>
      <p:sp>
        <p:nvSpPr>
          <p:cNvPr id="5" name="Text Box 4"/>
          <p:cNvSpPr txBox="1"/>
          <p:nvPr/>
        </p:nvSpPr>
        <p:spPr>
          <a:xfrm>
            <a:off x="508000" y="5137785"/>
            <a:ext cx="8491855" cy="1663700"/>
          </a:xfrm>
          <a:prstGeom prst="rect">
            <a:avLst/>
          </a:prstGeom>
          <a:noFill/>
        </p:spPr>
        <p:txBody>
          <a:bodyPr wrap="square" rtlCol="0" anchor="t">
            <a:noAutofit/>
          </a:bodyPr>
          <a:lstStyle/>
          <a:p>
            <a:pPr indent="0">
              <a:buClr>
                <a:srgbClr val="009DD9"/>
              </a:buClr>
              <a:buFont typeface="Wingdings" panose="05000000000000000000" charset="0"/>
              <a:buChar char="Ø"/>
            </a:pPr>
            <a:r>
              <a:rPr lang="en-US" sz="2000" dirty="0" smtClean="0">
                <a:latin typeface="Times New Roman" panose="02020603050405020304" pitchFamily="18" charset="0"/>
                <a:cs typeface="Times New Roman" panose="02020603050405020304" pitchFamily="18" charset="0"/>
                <a:sym typeface="+mn-ea"/>
              </a:rPr>
              <a:t> Smartness</a:t>
            </a:r>
            <a:endParaRPr lang="en-US" sz="2000" dirty="0" smtClean="0">
              <a:latin typeface="Times New Roman" panose="02020603050405020304" pitchFamily="18" charset="0"/>
              <a:cs typeface="Times New Roman" panose="02020603050405020304" pitchFamily="18" charset="0"/>
              <a:sym typeface="+mn-ea"/>
            </a:endParaRPr>
          </a:p>
          <a:p>
            <a:pPr indent="0">
              <a:buClr>
                <a:srgbClr val="009DD9"/>
              </a:buClr>
              <a:buFont typeface="Wingdings" panose="05000000000000000000" charset="0"/>
              <a:buChar char="Ø"/>
            </a:pPr>
            <a:r>
              <a:rPr lang="en-US" sz="2000" dirty="0" smtClean="0">
                <a:latin typeface="Times New Roman" panose="02020603050405020304" pitchFamily="18" charset="0"/>
                <a:cs typeface="Times New Roman" panose="02020603050405020304" pitchFamily="18" charset="0"/>
                <a:sym typeface="+mn-ea"/>
              </a:rPr>
              <a:t> With </a:t>
            </a:r>
            <a:r>
              <a:rPr lang="en-US" sz="2000" dirty="0">
                <a:latin typeface="Times New Roman" panose="02020603050405020304" pitchFamily="18" charset="0"/>
                <a:cs typeface="Times New Roman" panose="02020603050405020304" pitchFamily="18" charset="0"/>
                <a:sym typeface="+mn-ea"/>
              </a:rPr>
              <a:t>cognitive intelligence toward patients' status </a:t>
            </a:r>
            <a:endParaRPr lang="en-US" sz="2000" dirty="0">
              <a:latin typeface="Times New Roman" panose="02020603050405020304" pitchFamily="18" charset="0"/>
              <a:cs typeface="Times New Roman" panose="02020603050405020304" pitchFamily="18" charset="0"/>
              <a:sym typeface="+mn-ea"/>
            </a:endParaRPr>
          </a:p>
          <a:p>
            <a:pPr indent="0">
              <a:buClr>
                <a:srgbClr val="009DD9"/>
              </a:buClr>
              <a:buFont typeface="Wingdings" panose="05000000000000000000" charset="0"/>
              <a:buChar char="Ø"/>
            </a:pPr>
            <a:r>
              <a:rPr lang="en-US" sz="2000" dirty="0" smtClean="0">
                <a:latin typeface="Times New Roman" panose="02020603050405020304" pitchFamily="18" charset="0"/>
                <a:cs typeface="Times New Roman" panose="02020603050405020304" pitchFamily="18" charset="0"/>
                <a:sym typeface="+mn-ea"/>
              </a:rPr>
              <a:t> Network resources </a:t>
            </a:r>
            <a:r>
              <a:rPr lang="en-US" sz="2000" dirty="0">
                <a:latin typeface="Times New Roman" panose="02020603050405020304" pitchFamily="18" charset="0"/>
                <a:cs typeface="Times New Roman" panose="02020603050405020304" pitchFamily="18" charset="0"/>
                <a:sym typeface="+mn-ea"/>
              </a:rPr>
              <a:t>5</a:t>
            </a:r>
            <a:r>
              <a:rPr lang="en-US" sz="2000" dirty="0" smtClean="0">
                <a:latin typeface="Times New Roman" panose="02020603050405020304" pitchFamily="18" charset="0"/>
                <a:cs typeface="Times New Roman" panose="02020603050405020304" pitchFamily="18" charset="0"/>
                <a:sym typeface="+mn-ea"/>
              </a:rPr>
              <a:t>G-Smart </a:t>
            </a:r>
            <a:r>
              <a:rPr lang="en-US" sz="2000" dirty="0">
                <a:latin typeface="Times New Roman" panose="02020603050405020304" pitchFamily="18" charset="0"/>
                <a:cs typeface="Times New Roman" panose="02020603050405020304" pitchFamily="18" charset="0"/>
                <a:sym typeface="+mn-ea"/>
              </a:rPr>
              <a:t>Diabetes achieves early detection  and  </a:t>
            </a:r>
            <a:endParaRPr lang="en-US" sz="2000" dirty="0">
              <a:latin typeface="Times New Roman" panose="02020603050405020304" pitchFamily="18" charset="0"/>
              <a:cs typeface="Times New Roman" panose="02020603050405020304" pitchFamily="18" charset="0"/>
              <a:sym typeface="+mn-ea"/>
            </a:endParaRPr>
          </a:p>
          <a:p>
            <a:pPr indent="0">
              <a:buClr>
                <a:srgbClr val="009DD9"/>
              </a:buClr>
              <a:buFont typeface="Wingdings" panose="05000000000000000000" charset="0"/>
              <a:buNone/>
            </a:pPr>
            <a:r>
              <a:rPr lang="en-US" sz="2000" dirty="0">
                <a:latin typeface="Times New Roman" panose="02020603050405020304" pitchFamily="18" charset="0"/>
                <a:cs typeface="Times New Roman" panose="02020603050405020304" pitchFamily="18" charset="0"/>
                <a:sym typeface="+mn-ea"/>
              </a:rPr>
              <a:t>    prevention of diabetes and provides personalized treatment to patients.</a:t>
            </a:r>
            <a:endParaRPr lang="en-US" sz="2000" dirty="0">
              <a:latin typeface="Times New Roman" panose="02020603050405020304" pitchFamily="18" charset="0"/>
              <a:cs typeface="Times New Roman" panose="02020603050405020304" pitchFamily="18" charset="0"/>
              <a:sym typeface="+mn-ea"/>
            </a:endParaRPr>
          </a:p>
        </p:txBody>
      </p:sp>
      <p:pic>
        <p:nvPicPr>
          <p:cNvPr id="14338" name="Picture 2" descr="Healthcare | Free Full-Text | A Smart Architecture for Diabetic Patient  Monitoring Using Machine Learning Algorithms"/>
          <p:cNvPicPr>
            <a:picLocks noChangeAspect="1" noChangeArrowheads="1"/>
          </p:cNvPicPr>
          <p:nvPr/>
        </p:nvPicPr>
        <p:blipFill>
          <a:blip r:embed="rId1"/>
          <a:srcRect/>
          <a:stretch>
            <a:fillRect/>
          </a:stretch>
        </p:blipFill>
        <p:spPr bwMode="auto">
          <a:xfrm>
            <a:off x="569595" y="1507490"/>
            <a:ext cx="6717665" cy="3509645"/>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875665" y="1028700"/>
            <a:ext cx="5814060" cy="989965"/>
          </a:xfrm>
          <a:prstGeom prst="rect">
            <a:avLst/>
          </a:prstGeom>
          <a:noFill/>
        </p:spPr>
        <p:txBody>
          <a:bodyPr wrap="square" rtlCol="0" anchor="t">
            <a:noAutofit/>
          </a:bodyPr>
          <a:lstStyle/>
          <a:p>
            <a:r>
              <a:rPr lang="en-US" sz="3600" b="1" dirty="0" smtClean="0">
                <a:latin typeface="Times New Roman" panose="02020603050405020304" pitchFamily="18" charset="0"/>
                <a:cs typeface="Times New Roman" panose="02020603050405020304" pitchFamily="18" charset="0"/>
                <a:sym typeface="+mn-ea"/>
              </a:rPr>
              <a:t>APPLICATIONS</a:t>
            </a:r>
            <a:endParaRPr lang="en-US" sz="3600" b="1" dirty="0" smtClean="0">
              <a:latin typeface="Times New Roman" panose="02020603050405020304" pitchFamily="18" charset="0"/>
              <a:cs typeface="Times New Roman" panose="02020603050405020304" pitchFamily="18" charset="0"/>
              <a:sym typeface="+mn-ea"/>
            </a:endParaRPr>
          </a:p>
        </p:txBody>
      </p:sp>
      <p:sp>
        <p:nvSpPr>
          <p:cNvPr id="5" name="Text Box 4"/>
          <p:cNvSpPr txBox="1"/>
          <p:nvPr/>
        </p:nvSpPr>
        <p:spPr>
          <a:xfrm>
            <a:off x="160655" y="2018665"/>
            <a:ext cx="4825365" cy="4561840"/>
          </a:xfrm>
          <a:prstGeom prst="rect">
            <a:avLst/>
          </a:prstGeom>
          <a:noFill/>
        </p:spPr>
        <p:txBody>
          <a:bodyPr wrap="square" rtlCol="0" anchor="t">
            <a:noAutofit/>
          </a:bodyPr>
          <a:lstStyle/>
          <a:p>
            <a:r>
              <a:rPr lang="en-US" dirty="0" smtClean="0">
                <a:latin typeface="Times New Roman" panose="02020603050405020304" pitchFamily="18" charset="0"/>
                <a:cs typeface="Times New Roman" panose="02020603050405020304" pitchFamily="18" charset="0"/>
                <a:sym typeface="+mn-ea"/>
              </a:rPr>
              <a:t>Here we have designed two applications to implement above technique </a:t>
            </a:r>
            <a:endParaRPr lang="en-US" dirty="0" smtClean="0">
              <a:latin typeface="Times New Roman" panose="02020603050405020304" pitchFamily="18" charset="0"/>
              <a:cs typeface="Times New Roman" panose="02020603050405020304" pitchFamily="18" charset="0"/>
            </a:endParaRPr>
          </a:p>
          <a:p>
            <a:endParaRPr lang="en-US" dirty="0" smtClean="0">
              <a:latin typeface="Times New Roman" panose="02020603050405020304" pitchFamily="18" charset="0"/>
              <a:cs typeface="Times New Roman" panose="02020603050405020304" pitchFamily="18" charset="0"/>
            </a:endParaRPr>
          </a:p>
          <a:p>
            <a:pPr marL="342900" indent="-342900">
              <a:buAutoNum type="arabicParenR"/>
            </a:pPr>
            <a:r>
              <a:rPr lang="en-US" b="1" dirty="0" smtClean="0">
                <a:latin typeface="Times New Roman" panose="02020603050405020304" pitchFamily="18" charset="0"/>
                <a:cs typeface="Times New Roman" panose="02020603050405020304" pitchFamily="18" charset="0"/>
                <a:sym typeface="+mn-ea"/>
              </a:rPr>
              <a:t>Cloud Application: </a:t>
            </a:r>
            <a:r>
              <a:rPr lang="en-US" dirty="0" smtClean="0">
                <a:latin typeface="Times New Roman" panose="02020603050405020304" pitchFamily="18" charset="0"/>
                <a:cs typeface="Times New Roman" panose="02020603050405020304" pitchFamily="18" charset="0"/>
                <a:sym typeface="+mn-ea"/>
              </a:rPr>
              <a:t>This application act like a cloud server and storage and train dataset model with various algorithms such as decision tree, SVM and ANN and Ensemble algorithms.</a:t>
            </a:r>
            <a:endParaRPr lang="en-US" dirty="0" smtClean="0">
              <a:latin typeface="Times New Roman" panose="02020603050405020304" pitchFamily="18" charset="0"/>
              <a:cs typeface="Times New Roman" panose="02020603050405020304" pitchFamily="18" charset="0"/>
            </a:endParaRPr>
          </a:p>
          <a:p>
            <a:pPr marL="342900" indent="-342900">
              <a:buAutoNum type="arabicParenR"/>
            </a:pPr>
            <a:endParaRPr lang="en-US" dirty="0" smtClean="0">
              <a:latin typeface="Times New Roman" panose="02020603050405020304" pitchFamily="18" charset="0"/>
              <a:cs typeface="Times New Roman" panose="02020603050405020304" pitchFamily="18" charset="0"/>
            </a:endParaRPr>
          </a:p>
          <a:p>
            <a:pPr marL="342900" indent="-342900">
              <a:buAutoNum type="arabicParenR"/>
            </a:pPr>
            <a:r>
              <a:rPr lang="en-US" dirty="0" smtClean="0">
                <a:latin typeface="Times New Roman" panose="02020603050405020304" pitchFamily="18" charset="0"/>
                <a:cs typeface="Times New Roman" panose="02020603050405020304" pitchFamily="18" charset="0"/>
                <a:sym typeface="+mn-ea"/>
              </a:rPr>
              <a:t>  </a:t>
            </a:r>
            <a:r>
              <a:rPr lang="en-US" b="1" dirty="0" smtClean="0">
                <a:latin typeface="Times New Roman" panose="02020603050405020304" pitchFamily="18" charset="0"/>
                <a:cs typeface="Times New Roman" panose="02020603050405020304" pitchFamily="18" charset="0"/>
                <a:sym typeface="+mn-ea"/>
              </a:rPr>
              <a:t>User Application: </a:t>
            </a:r>
            <a:r>
              <a:rPr lang="en-US" dirty="0" smtClean="0">
                <a:latin typeface="Times New Roman" panose="02020603050405020304" pitchFamily="18" charset="0"/>
                <a:cs typeface="Times New Roman" panose="02020603050405020304" pitchFamily="18" charset="0"/>
                <a:sym typeface="+mn-ea"/>
              </a:rPr>
              <a:t>In this application we will upload some test data and will be consider as user sense data and this data will be sent to cloud server and cloud server will apply decision and SVM and ANN model on test data to predict patient condition and send resultant data to this application. </a:t>
            </a:r>
            <a:endParaRPr lang="en-US" dirty="0" smtClean="0">
              <a:latin typeface="Times New Roman" panose="02020603050405020304" pitchFamily="18" charset="0"/>
              <a:cs typeface="Times New Roman" panose="02020603050405020304" pitchFamily="18" charset="0"/>
              <a:sym typeface="+mn-ea"/>
            </a:endParaRPr>
          </a:p>
        </p:txBody>
      </p:sp>
      <p:pic>
        <p:nvPicPr>
          <p:cNvPr id="13314" name="Picture 2" descr="5G-SMART DIABETES: TOWARD PERSONALIZED DIABETES DIAGNOSIS WITH HEALTHCARE  BIG DATA CLOUDS"/>
          <p:cNvPicPr>
            <a:picLocks noChangeAspect="1" noChangeArrowheads="1"/>
          </p:cNvPicPr>
          <p:nvPr/>
        </p:nvPicPr>
        <p:blipFill>
          <a:blip r:embed="rId1"/>
          <a:srcRect/>
          <a:stretch>
            <a:fillRect/>
          </a:stretch>
        </p:blipFill>
        <p:spPr bwMode="auto">
          <a:xfrm>
            <a:off x="5147310" y="2133600"/>
            <a:ext cx="3996690" cy="1371600"/>
          </a:xfrm>
          <a:prstGeom prst="rect">
            <a:avLst/>
          </a:prstGeom>
          <a:noFill/>
        </p:spPr>
      </p:pic>
      <p:pic>
        <p:nvPicPr>
          <p:cNvPr id="13316" name="Picture 4" descr="5G-SMART DIABETES: TOWARD PERSONALIZED DIABETES DIAGNOSIS WITH HEALTHCARE  BIG DATA CLOUDS"/>
          <p:cNvPicPr>
            <a:picLocks noChangeAspect="1" noChangeArrowheads="1"/>
          </p:cNvPicPr>
          <p:nvPr/>
        </p:nvPicPr>
        <p:blipFill>
          <a:blip r:embed="rId2"/>
          <a:srcRect/>
          <a:stretch>
            <a:fillRect/>
          </a:stretch>
        </p:blipFill>
        <p:spPr bwMode="auto">
          <a:xfrm>
            <a:off x="5231765" y="4038600"/>
            <a:ext cx="3689985" cy="2124710"/>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1142977" y="1527048"/>
            <a:ext cx="7786743" cy="4830910"/>
          </a:xfrm>
        </p:spPr>
        <p:txBody>
          <a:bodyPr>
            <a:normAutofit/>
          </a:bodyPr>
          <a:lstStyle/>
          <a:p>
            <a:pPr>
              <a:buNone/>
            </a:pPr>
            <a:endParaRPr lang="en-IN" dirty="0"/>
          </a:p>
          <a:p>
            <a:pPr>
              <a:buNone/>
            </a:pPr>
            <a:endParaRPr lang="en-IN" dirty="0"/>
          </a:p>
          <a:p>
            <a:pPr>
              <a:buNone/>
            </a:pPr>
            <a:endParaRPr lang="en-IN" dirty="0"/>
          </a:p>
          <a:p>
            <a:pPr>
              <a:buNone/>
            </a:pPr>
            <a:endParaRPr lang="en-IN" dirty="0"/>
          </a:p>
        </p:txBody>
      </p:sp>
      <p:pic>
        <p:nvPicPr>
          <p:cNvPr id="7" name="Picture 6"/>
          <p:cNvPicPr/>
          <p:nvPr/>
        </p:nvPicPr>
        <p:blipFill>
          <a:blip r:embed="rId1">
            <a:extLst>
              <a:ext uri="{28A0092B-C50C-407E-A947-70E740481C1C}">
                <a14:useLocalDpi xmlns:a14="http://schemas.microsoft.com/office/drawing/2010/main" val="0"/>
              </a:ext>
            </a:extLst>
          </a:blip>
          <a:srcRect/>
          <a:stretch>
            <a:fillRect/>
          </a:stretch>
        </p:blipFill>
        <p:spPr bwMode="auto">
          <a:xfrm>
            <a:off x="152400" y="1421765"/>
            <a:ext cx="8837295" cy="5436870"/>
          </a:xfrm>
          <a:prstGeom prst="rect">
            <a:avLst/>
          </a:prstGeom>
          <a:noFill/>
          <a:ln>
            <a:noFill/>
          </a:ln>
        </p:spPr>
      </p:pic>
      <p:sp>
        <p:nvSpPr>
          <p:cNvPr id="2" name="Title 1"/>
          <p:cNvSpPr>
            <a:spLocks noGrp="1"/>
          </p:cNvSpPr>
          <p:nvPr>
            <p:ph type="title"/>
          </p:nvPr>
        </p:nvSpPr>
        <p:spPr>
          <a:xfrm>
            <a:off x="896620" y="685800"/>
            <a:ext cx="8023860" cy="737870"/>
          </a:xfrm>
        </p:spPr>
        <p:txBody>
          <a:bodyPr>
            <a:normAutofit fontScale="90000"/>
          </a:bodyPr>
          <a:lstStyle/>
          <a:p>
            <a:r>
              <a:rPr lang="en-US" b="1" dirty="0" smtClean="0">
                <a:latin typeface="Bookman Old Style" panose="02050604050505020204" pitchFamily="18" charset="0"/>
                <a:sym typeface="+mn-ea"/>
              </a:rPr>
              <a:t> </a:t>
            </a:r>
            <a:r>
              <a:rPr lang="en-US" sz="4000" b="1" dirty="0" smtClean="0">
                <a:solidFill>
                  <a:schemeClr val="tx1"/>
                </a:solidFill>
                <a:latin typeface="Times New Roman" panose="02020603050405020304" pitchFamily="18" charset="0"/>
                <a:cs typeface="Times New Roman" panose="02020603050405020304" pitchFamily="18" charset="0"/>
                <a:sym typeface="+mn-ea"/>
              </a:rPr>
              <a:t>SYSTEM ARCHITECTURE</a:t>
            </a:r>
            <a:endParaRPr lang="en-US" sz="400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p:cNvPicPr>
            <a:picLocks noGrp="1"/>
          </p:cNvPicPr>
          <p:nvPr>
            <p:ph idx="1"/>
          </p:nvPr>
        </p:nvPicPr>
        <p:blipFill>
          <a:blip r:embed="rId1"/>
          <a:srcRect/>
          <a:stretch>
            <a:fillRect/>
          </a:stretch>
        </p:blipFill>
        <p:spPr bwMode="auto">
          <a:xfrm>
            <a:off x="288925" y="1752600"/>
            <a:ext cx="8516620" cy="4419600"/>
          </a:xfrm>
          <a:prstGeom prst="rect">
            <a:avLst/>
          </a:prstGeom>
          <a:noFill/>
          <a:ln w="9525">
            <a:noFill/>
            <a:miter lim="800000"/>
            <a:headEnd/>
            <a:tailEnd/>
          </a:ln>
        </p:spPr>
      </p:pic>
      <p:sp>
        <p:nvSpPr>
          <p:cNvPr id="7" name="TextBox 6"/>
          <p:cNvSpPr txBox="1"/>
          <p:nvPr/>
        </p:nvSpPr>
        <p:spPr>
          <a:xfrm>
            <a:off x="457200" y="6336665"/>
            <a:ext cx="8305800" cy="492760"/>
          </a:xfrm>
          <a:prstGeom prst="rect">
            <a:avLst/>
          </a:prstGeom>
          <a:noFill/>
        </p:spPr>
        <p:txBody>
          <a:bodyPr wrap="square" rtlCol="0">
            <a:noAutofit/>
          </a:bodyPr>
          <a:lstStyle/>
          <a:p>
            <a:r>
              <a:rPr lang="en-US" altLang="en-IN" sz="2000" dirty="0" smtClean="0">
                <a:sym typeface="+mn-ea"/>
              </a:rPr>
              <a:t>                                               </a:t>
            </a:r>
            <a:r>
              <a:rPr lang="en-IN" sz="2000" dirty="0" smtClean="0">
                <a:latin typeface="Times New Roman" panose="02020603050405020304" pitchFamily="18" charset="0"/>
                <a:cs typeface="Times New Roman" panose="02020603050405020304" pitchFamily="18" charset="0"/>
                <a:sym typeface="+mn-ea"/>
              </a:rPr>
              <a:t>F</a:t>
            </a:r>
            <a:r>
              <a:rPr lang="en-US" altLang="en-IN" sz="2000" dirty="0" smtClean="0">
                <a:latin typeface="Times New Roman" panose="02020603050405020304" pitchFamily="18" charset="0"/>
                <a:cs typeface="Times New Roman" panose="02020603050405020304" pitchFamily="18" charset="0"/>
                <a:sym typeface="+mn-ea"/>
              </a:rPr>
              <a:t>i</a:t>
            </a:r>
            <a:r>
              <a:rPr lang="en-IN" sz="2000" dirty="0" smtClean="0">
                <a:latin typeface="Times New Roman" panose="02020603050405020304" pitchFamily="18" charset="0"/>
                <a:cs typeface="Times New Roman" panose="02020603050405020304" pitchFamily="18" charset="0"/>
                <a:sym typeface="+mn-ea"/>
              </a:rPr>
              <a:t>g-1: Upload Files</a:t>
            </a:r>
            <a:endParaRPr lang="en-IN" sz="2000"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a:xfrm>
            <a:off x="957580" y="704215"/>
            <a:ext cx="3204210" cy="781050"/>
          </a:xfrm>
        </p:spPr>
        <p:txBody>
          <a:bodyPr/>
          <a:lstStyle/>
          <a:p>
            <a:r>
              <a:rPr lang="en-US" sz="3600" b="1" dirty="0">
                <a:solidFill>
                  <a:schemeClr val="tx1"/>
                </a:solidFill>
                <a:latin typeface="Times New Roman" panose="02020603050405020304" pitchFamily="18" charset="0"/>
                <a:cs typeface="Times New Roman" panose="02020603050405020304" pitchFamily="18" charset="0"/>
                <a:sym typeface="+mn-ea"/>
              </a:rPr>
              <a:t> RESULT</a:t>
            </a:r>
            <a:endParaRPr lang="en-US" sz="3600" b="1" dirty="0">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251585" y="6033135"/>
            <a:ext cx="5770245" cy="533400"/>
          </a:xfrm>
          <a:prstGeom prst="rect">
            <a:avLst/>
          </a:prstGeom>
          <a:noFill/>
        </p:spPr>
        <p:txBody>
          <a:bodyPr wrap="square" rtlCol="0">
            <a:noAutofit/>
          </a:bodyPr>
          <a:lstStyle/>
          <a:p>
            <a:r>
              <a:rPr lang="en-US" altLang="en-IN" sz="2000" dirty="0" smtClean="0">
                <a:sym typeface="+mn-ea"/>
              </a:rPr>
              <a:t>            </a:t>
            </a:r>
            <a:r>
              <a:rPr lang="en-US" altLang="en-IN" sz="2000" dirty="0" smtClean="0">
                <a:latin typeface="Times New Roman" panose="02020603050405020304" pitchFamily="18" charset="0"/>
                <a:cs typeface="Times New Roman" panose="02020603050405020304" pitchFamily="18" charset="0"/>
                <a:sym typeface="+mn-ea"/>
              </a:rPr>
              <a:t>                        </a:t>
            </a:r>
            <a:r>
              <a:rPr lang="en-IN" sz="2000" dirty="0" smtClean="0">
                <a:latin typeface="Times New Roman" panose="02020603050405020304" pitchFamily="18" charset="0"/>
                <a:cs typeface="Times New Roman" panose="02020603050405020304" pitchFamily="18" charset="0"/>
                <a:sym typeface="+mn-ea"/>
              </a:rPr>
              <a:t>F</a:t>
            </a:r>
            <a:r>
              <a:rPr lang="en-US" altLang="en-IN" sz="2000" dirty="0" smtClean="0">
                <a:latin typeface="Times New Roman" panose="02020603050405020304" pitchFamily="18" charset="0"/>
                <a:cs typeface="Times New Roman" panose="02020603050405020304" pitchFamily="18" charset="0"/>
                <a:sym typeface="+mn-ea"/>
              </a:rPr>
              <a:t>i</a:t>
            </a:r>
            <a:r>
              <a:rPr lang="en-IN" sz="2000" dirty="0" smtClean="0">
                <a:latin typeface="Times New Roman" panose="02020603050405020304" pitchFamily="18" charset="0"/>
                <a:cs typeface="Times New Roman" panose="02020603050405020304" pitchFamily="18" charset="0"/>
                <a:sym typeface="+mn-ea"/>
              </a:rPr>
              <a:t>g-2</a:t>
            </a:r>
            <a:r>
              <a:rPr lang="en-US" altLang="en-IN" sz="2000" dirty="0" smtClean="0">
                <a:latin typeface="Times New Roman" panose="02020603050405020304" pitchFamily="18" charset="0"/>
                <a:cs typeface="Times New Roman" panose="02020603050405020304" pitchFamily="18" charset="0"/>
                <a:sym typeface="+mn-ea"/>
              </a:rPr>
              <a:t>:</a:t>
            </a:r>
            <a:r>
              <a:rPr lang="en-IN" sz="2000" dirty="0" smtClean="0">
                <a:latin typeface="Times New Roman" panose="02020603050405020304" pitchFamily="18" charset="0"/>
                <a:cs typeface="Times New Roman" panose="02020603050405020304" pitchFamily="18" charset="0"/>
                <a:sym typeface="+mn-ea"/>
              </a:rPr>
              <a:t>Pre-process Dataset</a:t>
            </a:r>
            <a:endParaRPr lang="en-IN" dirty="0">
              <a:latin typeface="Times New Roman" panose="02020603050405020304" pitchFamily="18" charset="0"/>
              <a:cs typeface="Times New Roman" panose="02020603050405020304" pitchFamily="18" charset="0"/>
            </a:endParaRPr>
          </a:p>
        </p:txBody>
      </p:sp>
      <p:pic>
        <p:nvPicPr>
          <p:cNvPr id="9" name="Picture 8"/>
          <p:cNvPicPr/>
          <p:nvPr/>
        </p:nvPicPr>
        <p:blipFill>
          <a:blip r:embed="rId1"/>
          <a:srcRect/>
          <a:stretch>
            <a:fillRect/>
          </a:stretch>
        </p:blipFill>
        <p:spPr bwMode="auto">
          <a:xfrm>
            <a:off x="760095" y="850265"/>
            <a:ext cx="8117840" cy="4798695"/>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5943600" y="1196975"/>
            <a:ext cx="3048000" cy="688340"/>
          </a:xfrm>
          <a:prstGeom prst="rect">
            <a:avLst/>
          </a:prstGeom>
          <a:noFill/>
        </p:spPr>
        <p:txBody>
          <a:bodyPr wrap="square" rtlCol="0">
            <a:noAutofit/>
          </a:bodyPr>
          <a:lstStyle/>
          <a:p>
            <a:r>
              <a:rPr lang="en-IN" sz="2000" dirty="0" smtClean="0">
                <a:latin typeface="Times New Roman" panose="02020603050405020304" pitchFamily="18" charset="0"/>
                <a:cs typeface="Times New Roman" panose="02020603050405020304" pitchFamily="18" charset="0"/>
                <a:sym typeface="+mn-ea"/>
              </a:rPr>
              <a:t>F</a:t>
            </a:r>
            <a:r>
              <a:rPr lang="en-US" altLang="en-IN" sz="2000" dirty="0" smtClean="0">
                <a:latin typeface="Times New Roman" panose="02020603050405020304" pitchFamily="18" charset="0"/>
                <a:cs typeface="Times New Roman" panose="02020603050405020304" pitchFamily="18" charset="0"/>
                <a:sym typeface="+mn-ea"/>
              </a:rPr>
              <a:t>i</a:t>
            </a:r>
            <a:r>
              <a:rPr lang="en-IN" sz="2000" dirty="0" smtClean="0">
                <a:latin typeface="Times New Roman" panose="02020603050405020304" pitchFamily="18" charset="0"/>
                <a:cs typeface="Times New Roman" panose="02020603050405020304" pitchFamily="18" charset="0"/>
                <a:sym typeface="+mn-ea"/>
              </a:rPr>
              <a:t>g-3: Run Decision Tree Algorithm </a:t>
            </a:r>
            <a:endParaRPr lang="en-US" sz="2000" dirty="0" smtClean="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
        <p:nvSpPr>
          <p:cNvPr id="9" name="TextBox 8"/>
          <p:cNvSpPr txBox="1"/>
          <p:nvPr/>
        </p:nvSpPr>
        <p:spPr>
          <a:xfrm>
            <a:off x="609600" y="4420870"/>
            <a:ext cx="1978660" cy="664210"/>
          </a:xfrm>
          <a:prstGeom prst="rect">
            <a:avLst/>
          </a:prstGeom>
          <a:noFill/>
        </p:spPr>
        <p:txBody>
          <a:bodyPr wrap="square" rtlCol="0">
            <a:noAutofit/>
          </a:bodyPr>
          <a:lstStyle/>
          <a:p>
            <a:r>
              <a:rPr lang="en-IN" sz="2000" dirty="0" smtClean="0">
                <a:latin typeface="Times New Roman" panose="02020603050405020304" pitchFamily="18" charset="0"/>
                <a:cs typeface="Times New Roman" panose="02020603050405020304" pitchFamily="18" charset="0"/>
                <a:sym typeface="+mn-ea"/>
              </a:rPr>
              <a:t>F</a:t>
            </a:r>
            <a:r>
              <a:rPr lang="en-US" altLang="en-IN" sz="2000" dirty="0" smtClean="0">
                <a:latin typeface="Times New Roman" panose="02020603050405020304" pitchFamily="18" charset="0"/>
                <a:cs typeface="Times New Roman" panose="02020603050405020304" pitchFamily="18" charset="0"/>
                <a:sym typeface="+mn-ea"/>
              </a:rPr>
              <a:t>i</a:t>
            </a:r>
            <a:r>
              <a:rPr lang="en-IN" sz="2000" dirty="0" smtClean="0">
                <a:latin typeface="Times New Roman" panose="02020603050405020304" pitchFamily="18" charset="0"/>
                <a:cs typeface="Times New Roman" panose="02020603050405020304" pitchFamily="18" charset="0"/>
                <a:sym typeface="+mn-ea"/>
              </a:rPr>
              <a:t>g-4:</a:t>
            </a:r>
            <a:r>
              <a:rPr lang="en-US" altLang="en-IN" sz="2000" dirty="0" smtClean="0">
                <a:latin typeface="Times New Roman" panose="02020603050405020304" pitchFamily="18" charset="0"/>
                <a:cs typeface="Times New Roman" panose="02020603050405020304" pitchFamily="18" charset="0"/>
                <a:sym typeface="+mn-ea"/>
              </a:rPr>
              <a:t>Run SVM Algorithm</a:t>
            </a:r>
            <a:endParaRPr lang="en-US" sz="2000" dirty="0" smtClean="0">
              <a:latin typeface="Times New Roman" panose="02020603050405020304" pitchFamily="18" charset="0"/>
              <a:cs typeface="Times New Roman" panose="02020603050405020304" pitchFamily="18" charset="0"/>
            </a:endParaRPr>
          </a:p>
          <a:p>
            <a:r>
              <a:rPr lang="en-IN" dirty="0" smtClean="0">
                <a:sym typeface="+mn-ea"/>
              </a:rPr>
              <a:t> </a:t>
            </a:r>
            <a:endParaRPr lang="en-US" dirty="0" smtClean="0"/>
          </a:p>
          <a:p>
            <a:endParaRPr lang="en-IN" dirty="0"/>
          </a:p>
        </p:txBody>
      </p:sp>
      <p:pic>
        <p:nvPicPr>
          <p:cNvPr id="10" name="Picture 9"/>
          <p:cNvPicPr/>
          <p:nvPr/>
        </p:nvPicPr>
        <p:blipFill>
          <a:blip r:embed="rId1"/>
          <a:srcRect/>
          <a:stretch>
            <a:fillRect/>
          </a:stretch>
        </p:blipFill>
        <p:spPr bwMode="auto">
          <a:xfrm>
            <a:off x="518795" y="641985"/>
            <a:ext cx="5295900" cy="2595880"/>
          </a:xfrm>
          <a:prstGeom prst="rect">
            <a:avLst/>
          </a:prstGeom>
          <a:noFill/>
          <a:ln w="9525">
            <a:noFill/>
            <a:miter lim="800000"/>
            <a:headEnd/>
            <a:tailEnd/>
          </a:ln>
        </p:spPr>
      </p:pic>
      <p:pic>
        <p:nvPicPr>
          <p:cNvPr id="11" name="Picture 10"/>
          <p:cNvPicPr/>
          <p:nvPr/>
        </p:nvPicPr>
        <p:blipFill>
          <a:blip r:embed="rId2"/>
          <a:srcRect/>
          <a:stretch>
            <a:fillRect/>
          </a:stretch>
        </p:blipFill>
        <p:spPr bwMode="auto">
          <a:xfrm>
            <a:off x="3048000" y="3429000"/>
            <a:ext cx="5731510" cy="3222401"/>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6324600" y="1477010"/>
            <a:ext cx="2423795" cy="941070"/>
          </a:xfrm>
          <a:prstGeom prst="rect">
            <a:avLst/>
          </a:prstGeom>
          <a:noFill/>
        </p:spPr>
        <p:txBody>
          <a:bodyPr wrap="square" rtlCol="0">
            <a:noAutofit/>
          </a:bodyPr>
          <a:lstStyle/>
          <a:p>
            <a:r>
              <a:rPr lang="en-IN" sz="2000" dirty="0" smtClean="0">
                <a:latin typeface="Times New Roman" panose="02020603050405020304" pitchFamily="18" charset="0"/>
                <a:cs typeface="Times New Roman" panose="02020603050405020304" pitchFamily="18" charset="0"/>
                <a:sym typeface="+mn-ea"/>
              </a:rPr>
              <a:t>F</a:t>
            </a:r>
            <a:r>
              <a:rPr lang="en-US" altLang="en-IN" sz="2000" dirty="0" smtClean="0">
                <a:latin typeface="Times New Roman" panose="02020603050405020304" pitchFamily="18" charset="0"/>
                <a:cs typeface="Times New Roman" panose="02020603050405020304" pitchFamily="18" charset="0"/>
                <a:sym typeface="+mn-ea"/>
              </a:rPr>
              <a:t>i</a:t>
            </a:r>
            <a:r>
              <a:rPr lang="en-IN" sz="2000" dirty="0" smtClean="0">
                <a:latin typeface="Times New Roman" panose="02020603050405020304" pitchFamily="18" charset="0"/>
                <a:cs typeface="Times New Roman" panose="02020603050405020304" pitchFamily="18" charset="0"/>
                <a:sym typeface="+mn-ea"/>
              </a:rPr>
              <a:t>g-5:</a:t>
            </a:r>
            <a:r>
              <a:rPr lang="en-US" altLang="en-IN" sz="2000" dirty="0" smtClean="0">
                <a:latin typeface="Times New Roman" panose="02020603050405020304" pitchFamily="18" charset="0"/>
                <a:cs typeface="Times New Roman" panose="02020603050405020304" pitchFamily="18" charset="0"/>
                <a:sym typeface="+mn-ea"/>
              </a:rPr>
              <a:t>Run ANN Algorithm</a:t>
            </a:r>
            <a:endParaRPr lang="en-US" sz="2000" dirty="0" smtClean="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
        <p:nvSpPr>
          <p:cNvPr id="11" name="TextBox 10"/>
          <p:cNvSpPr txBox="1"/>
          <p:nvPr/>
        </p:nvSpPr>
        <p:spPr>
          <a:xfrm>
            <a:off x="304800" y="4676775"/>
            <a:ext cx="2590800" cy="781685"/>
          </a:xfrm>
          <a:prstGeom prst="rect">
            <a:avLst/>
          </a:prstGeom>
          <a:noFill/>
        </p:spPr>
        <p:txBody>
          <a:bodyPr wrap="square" rtlCol="0">
            <a:noAutofit/>
          </a:bodyPr>
          <a:lstStyle/>
          <a:p>
            <a:r>
              <a:rPr lang="en-IN" sz="2000" dirty="0" smtClean="0">
                <a:latin typeface="Times New Roman" panose="02020603050405020304" pitchFamily="18" charset="0"/>
                <a:cs typeface="Times New Roman" panose="02020603050405020304" pitchFamily="18" charset="0"/>
                <a:sym typeface="+mn-ea"/>
              </a:rPr>
              <a:t>F</a:t>
            </a:r>
            <a:r>
              <a:rPr lang="en-US" altLang="en-IN" sz="2000" dirty="0" smtClean="0">
                <a:latin typeface="Times New Roman" panose="02020603050405020304" pitchFamily="18" charset="0"/>
                <a:cs typeface="Times New Roman" panose="02020603050405020304" pitchFamily="18" charset="0"/>
                <a:sym typeface="+mn-ea"/>
              </a:rPr>
              <a:t>i</a:t>
            </a:r>
            <a:r>
              <a:rPr lang="en-IN" sz="2000" dirty="0" smtClean="0">
                <a:latin typeface="Times New Roman" panose="02020603050405020304" pitchFamily="18" charset="0"/>
                <a:cs typeface="Times New Roman" panose="02020603050405020304" pitchFamily="18" charset="0"/>
                <a:sym typeface="+mn-ea"/>
              </a:rPr>
              <a:t>g-6:</a:t>
            </a:r>
            <a:r>
              <a:rPr lang="en-US" altLang="en-IN" sz="2000" dirty="0" smtClean="0">
                <a:latin typeface="Times New Roman" panose="02020603050405020304" pitchFamily="18" charset="0"/>
                <a:cs typeface="Times New Roman" panose="02020603050405020304" pitchFamily="18" charset="0"/>
                <a:sym typeface="+mn-ea"/>
              </a:rPr>
              <a:t>Accuracy Graph</a:t>
            </a:r>
            <a:endParaRPr lang="en-IN" sz="2000" dirty="0">
              <a:latin typeface="Times New Roman" panose="02020603050405020304" pitchFamily="18" charset="0"/>
              <a:cs typeface="Times New Roman" panose="02020603050405020304" pitchFamily="18" charset="0"/>
            </a:endParaRPr>
          </a:p>
        </p:txBody>
      </p:sp>
      <p:pic>
        <p:nvPicPr>
          <p:cNvPr id="9" name="Picture 8"/>
          <p:cNvPicPr/>
          <p:nvPr/>
        </p:nvPicPr>
        <p:blipFill>
          <a:blip r:embed="rId1"/>
          <a:srcRect/>
          <a:stretch>
            <a:fillRect/>
          </a:stretch>
        </p:blipFill>
        <p:spPr bwMode="auto">
          <a:xfrm>
            <a:off x="304800" y="595630"/>
            <a:ext cx="5352415" cy="2909570"/>
          </a:xfrm>
          <a:prstGeom prst="rect">
            <a:avLst/>
          </a:prstGeom>
          <a:noFill/>
          <a:ln w="9525">
            <a:noFill/>
            <a:miter lim="800000"/>
            <a:headEnd/>
            <a:tailEnd/>
          </a:ln>
        </p:spPr>
      </p:pic>
      <p:pic>
        <p:nvPicPr>
          <p:cNvPr id="12" name="Picture 11"/>
          <p:cNvPicPr/>
          <p:nvPr/>
        </p:nvPicPr>
        <p:blipFill>
          <a:blip r:embed="rId2"/>
          <a:srcRect/>
          <a:stretch>
            <a:fillRect/>
          </a:stretch>
        </p:blipFill>
        <p:spPr bwMode="auto">
          <a:xfrm>
            <a:off x="3048000" y="3635375"/>
            <a:ext cx="5942965" cy="3137535"/>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295400" y="5334000"/>
            <a:ext cx="7162800" cy="706755"/>
          </a:xfrm>
          <a:prstGeom prst="rect">
            <a:avLst/>
          </a:prstGeom>
          <a:noFill/>
        </p:spPr>
        <p:txBody>
          <a:bodyPr wrap="square" rtlCol="0">
            <a:spAutoFit/>
          </a:bodyPr>
          <a:lstStyle/>
          <a:p>
            <a:pPr marL="1828800" lvl="4" indent="457200"/>
            <a:r>
              <a:rPr lang="en-IN" sz="2000" dirty="0">
                <a:latin typeface="Times New Roman" panose="02020603050405020304" pitchFamily="18" charset="0"/>
                <a:cs typeface="Times New Roman" panose="02020603050405020304" pitchFamily="18" charset="0"/>
                <a:sym typeface="+mn-ea"/>
              </a:rPr>
              <a:t>F</a:t>
            </a:r>
            <a:r>
              <a:rPr lang="en-US" altLang="en-IN" sz="2000" dirty="0">
                <a:latin typeface="Times New Roman" panose="02020603050405020304" pitchFamily="18" charset="0"/>
                <a:cs typeface="Times New Roman" panose="02020603050405020304" pitchFamily="18" charset="0"/>
                <a:sym typeface="+mn-ea"/>
              </a:rPr>
              <a:t>i</a:t>
            </a:r>
            <a:r>
              <a:rPr lang="en-IN" sz="2000" dirty="0">
                <a:latin typeface="Times New Roman" panose="02020603050405020304" pitchFamily="18" charset="0"/>
                <a:cs typeface="Times New Roman" panose="02020603050405020304" pitchFamily="18" charset="0"/>
                <a:sym typeface="+mn-ea"/>
              </a:rPr>
              <a:t>g-7 </a:t>
            </a:r>
            <a:r>
              <a:rPr lang="en-IN" sz="2000" dirty="0" smtClean="0">
                <a:latin typeface="Times New Roman" panose="02020603050405020304" pitchFamily="18" charset="0"/>
                <a:cs typeface="Times New Roman" panose="02020603050405020304" pitchFamily="18" charset="0"/>
                <a:sym typeface="+mn-ea"/>
              </a:rPr>
              <a:t>:</a:t>
            </a:r>
            <a:r>
              <a:rPr lang="en-US" altLang="en-IN" sz="2000" dirty="0" smtClean="0">
                <a:latin typeface="Times New Roman" panose="02020603050405020304" pitchFamily="18" charset="0"/>
                <a:cs typeface="Times New Roman" panose="02020603050405020304" pitchFamily="18" charset="0"/>
                <a:sym typeface="+mn-ea"/>
              </a:rPr>
              <a:t>Start Cloud Server</a:t>
            </a:r>
            <a:endParaRPr lang="en-US" sz="2000" dirty="0" smtClean="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pic>
        <p:nvPicPr>
          <p:cNvPr id="6" name="Picture 5"/>
          <p:cNvPicPr/>
          <p:nvPr/>
        </p:nvPicPr>
        <p:blipFill>
          <a:blip r:embed="rId1"/>
          <a:srcRect/>
          <a:stretch>
            <a:fillRect/>
          </a:stretch>
        </p:blipFill>
        <p:spPr bwMode="auto">
          <a:xfrm>
            <a:off x="838200" y="533400"/>
            <a:ext cx="7467600" cy="4430600"/>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p:nvPr/>
        </p:nvPicPr>
        <p:blipFill>
          <a:blip r:embed="rId1"/>
          <a:srcRect/>
          <a:stretch>
            <a:fillRect/>
          </a:stretch>
        </p:blipFill>
        <p:spPr bwMode="auto">
          <a:xfrm>
            <a:off x="1143000" y="609601"/>
            <a:ext cx="7162800" cy="4430600"/>
          </a:xfrm>
          <a:prstGeom prst="rect">
            <a:avLst/>
          </a:prstGeom>
          <a:noFill/>
          <a:ln w="9525">
            <a:noFill/>
            <a:miter lim="800000"/>
            <a:headEnd/>
            <a:tailEnd/>
          </a:ln>
        </p:spPr>
      </p:pic>
      <p:sp>
        <p:nvSpPr>
          <p:cNvPr id="2" name="Text Box 1"/>
          <p:cNvSpPr txBox="1"/>
          <p:nvPr/>
        </p:nvSpPr>
        <p:spPr>
          <a:xfrm>
            <a:off x="1145540" y="5514340"/>
            <a:ext cx="7003415" cy="1332865"/>
          </a:xfrm>
          <a:prstGeom prst="rect">
            <a:avLst/>
          </a:prstGeom>
          <a:noFill/>
        </p:spPr>
        <p:txBody>
          <a:bodyPr wrap="square" rtlCol="0" anchor="t">
            <a:noAutofit/>
          </a:bodyPr>
          <a:lstStyle/>
          <a:p>
            <a:pPr marL="1371600" lvl="3" indent="457200"/>
            <a:r>
              <a:rPr lang="en-IN" sz="2000" dirty="0" smtClean="0">
                <a:latin typeface="Times New Roman" panose="02020603050405020304" pitchFamily="18" charset="0"/>
                <a:cs typeface="Times New Roman" panose="02020603050405020304" pitchFamily="18" charset="0"/>
                <a:sym typeface="+mn-ea"/>
              </a:rPr>
              <a:t>F</a:t>
            </a:r>
            <a:r>
              <a:rPr lang="en-US" altLang="en-IN" sz="2000" dirty="0" smtClean="0">
                <a:latin typeface="Times New Roman" panose="02020603050405020304" pitchFamily="18" charset="0"/>
                <a:cs typeface="Times New Roman" panose="02020603050405020304" pitchFamily="18" charset="0"/>
                <a:sym typeface="+mn-ea"/>
              </a:rPr>
              <a:t>i</a:t>
            </a:r>
            <a:r>
              <a:rPr lang="en-IN" sz="2000" dirty="0" smtClean="0">
                <a:latin typeface="Times New Roman" panose="02020603050405020304" pitchFamily="18" charset="0"/>
                <a:cs typeface="Times New Roman" panose="02020603050405020304" pitchFamily="18" charset="0"/>
                <a:sym typeface="+mn-ea"/>
              </a:rPr>
              <a:t>g-</a:t>
            </a:r>
            <a:r>
              <a:rPr lang="en-US" altLang="en-IN" sz="2000" dirty="0" smtClean="0">
                <a:latin typeface="Times New Roman" panose="02020603050405020304" pitchFamily="18" charset="0"/>
                <a:cs typeface="Times New Roman" panose="02020603050405020304" pitchFamily="18" charset="0"/>
                <a:sym typeface="+mn-ea"/>
              </a:rPr>
              <a:t>8</a:t>
            </a:r>
            <a:r>
              <a:rPr lang="en-IN" sz="2000" dirty="0" smtClean="0">
                <a:latin typeface="Times New Roman" panose="02020603050405020304" pitchFamily="18" charset="0"/>
                <a:cs typeface="Times New Roman" panose="02020603050405020304" pitchFamily="18" charset="0"/>
                <a:sym typeface="+mn-ea"/>
              </a:rPr>
              <a:t>:</a:t>
            </a:r>
            <a:r>
              <a:rPr lang="en-US" altLang="en-IN" sz="2000" dirty="0" smtClean="0">
                <a:latin typeface="Times New Roman" panose="02020603050405020304" pitchFamily="18" charset="0"/>
                <a:cs typeface="Times New Roman" panose="02020603050405020304" pitchFamily="18" charset="0"/>
                <a:sym typeface="+mn-ea"/>
              </a:rPr>
              <a:t>Upload User Details</a:t>
            </a:r>
            <a:endParaRPr lang="en-US" altLang="en-IN" sz="2000" dirty="0" smtClean="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1"/>
          <a:srcRect/>
          <a:stretch>
            <a:fillRect/>
          </a:stretch>
        </p:blipFill>
        <p:spPr bwMode="auto">
          <a:xfrm>
            <a:off x="1219200" y="533400"/>
            <a:ext cx="6781800" cy="4571999"/>
          </a:xfrm>
          <a:prstGeom prst="rect">
            <a:avLst/>
          </a:prstGeom>
          <a:noFill/>
          <a:ln w="9525">
            <a:noFill/>
            <a:miter lim="800000"/>
            <a:headEnd/>
            <a:tailEnd/>
          </a:ln>
        </p:spPr>
      </p:pic>
      <p:sp>
        <p:nvSpPr>
          <p:cNvPr id="4" name="Text Box 3"/>
          <p:cNvSpPr txBox="1"/>
          <p:nvPr/>
        </p:nvSpPr>
        <p:spPr>
          <a:xfrm>
            <a:off x="887095" y="5662930"/>
            <a:ext cx="5565775" cy="1134745"/>
          </a:xfrm>
          <a:prstGeom prst="rect">
            <a:avLst/>
          </a:prstGeom>
          <a:noFill/>
        </p:spPr>
        <p:txBody>
          <a:bodyPr wrap="square" rtlCol="0" anchor="t">
            <a:noAutofit/>
          </a:bodyPr>
          <a:lstStyle/>
          <a:p>
            <a:pPr marL="2286000" lvl="5" indent="457200"/>
            <a:r>
              <a:rPr lang="en-US" sz="2000" dirty="0" smtClean="0">
                <a:latin typeface="Times New Roman" panose="02020603050405020304" pitchFamily="18" charset="0"/>
                <a:cs typeface="Times New Roman" panose="02020603050405020304" pitchFamily="18" charset="0"/>
                <a:sym typeface="+mn-ea"/>
              </a:rPr>
              <a:t>Fig 9:Details of patient</a:t>
            </a:r>
            <a:endParaRPr lang="en-US" sz="2000" dirty="0" smtClean="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609600" y="990600"/>
            <a:ext cx="6153785" cy="661035"/>
          </a:xfrm>
          <a:prstGeom prst="rect">
            <a:avLst/>
          </a:prstGeom>
          <a:noFill/>
        </p:spPr>
        <p:txBody>
          <a:bodyPr wrap="square" rtlCol="0" anchor="t">
            <a:noAutofit/>
          </a:bodyPr>
          <a:lstStyle/>
          <a:p>
            <a:r>
              <a:rPr lang="en-US" sz="4000" b="1" dirty="0" smtClean="0">
                <a:latin typeface="Times New Roman" panose="02020603050405020304" pitchFamily="18" charset="0"/>
                <a:cs typeface="Times New Roman" panose="02020603050405020304" pitchFamily="18" charset="0"/>
                <a:sym typeface="+mn-ea"/>
              </a:rPr>
              <a:t>FUTURE SCOPE</a:t>
            </a:r>
            <a:endParaRPr lang="en-US" sz="4000" b="1" dirty="0" smtClean="0">
              <a:latin typeface="Times New Roman" panose="02020603050405020304" pitchFamily="18" charset="0"/>
              <a:cs typeface="Times New Roman" panose="02020603050405020304" pitchFamily="18" charset="0"/>
              <a:sym typeface="+mn-ea"/>
            </a:endParaRPr>
          </a:p>
        </p:txBody>
      </p:sp>
      <p:sp>
        <p:nvSpPr>
          <p:cNvPr id="5" name="Text Box 4"/>
          <p:cNvSpPr txBox="1"/>
          <p:nvPr/>
        </p:nvSpPr>
        <p:spPr>
          <a:xfrm>
            <a:off x="494030" y="2302510"/>
            <a:ext cx="7955915" cy="3232150"/>
          </a:xfrm>
          <a:prstGeom prst="rect">
            <a:avLst/>
          </a:prstGeom>
          <a:noFill/>
        </p:spPr>
        <p:txBody>
          <a:bodyPr wrap="square" rtlCol="0" anchor="t">
            <a:noAutofit/>
          </a:bodyPr>
          <a:lstStyle/>
          <a:p>
            <a:pPr marL="285750" indent="-285750">
              <a:buClr>
                <a:srgbClr val="0BD0D9"/>
              </a:buClr>
              <a:buFont typeface="Wingdings" panose="05000000000000000000" charset="0"/>
              <a:buChar char="Ø"/>
            </a:pPr>
            <a:r>
              <a:rPr lang="en-US" sz="2000">
                <a:latin typeface="Times New Roman" panose="02020603050405020304" pitchFamily="18" charset="0"/>
                <a:cs typeface="Times New Roman" panose="02020603050405020304" pitchFamily="18" charset="0"/>
              </a:rPr>
              <a:t>This work extended with an intelligent architecture for monitoring diabetics patients by using machine learning algorithms.  </a:t>
            </a:r>
            <a:endParaRPr lang="en-US" sz="2000">
              <a:latin typeface="Times New Roman" panose="02020603050405020304" pitchFamily="18" charset="0"/>
              <a:cs typeface="Times New Roman" panose="02020603050405020304" pitchFamily="18" charset="0"/>
            </a:endParaRPr>
          </a:p>
          <a:p>
            <a:pPr marL="285750" indent="-285750">
              <a:buClr>
                <a:srgbClr val="0BD0D9"/>
              </a:buClr>
              <a:buFont typeface="Wingdings" panose="05000000000000000000" charset="0"/>
              <a:buChar char="Ø"/>
            </a:pPr>
            <a:r>
              <a:rPr lang="en-US" sz="2000">
                <a:latin typeface="Times New Roman" panose="02020603050405020304" pitchFamily="18" charset="0"/>
                <a:cs typeface="Times New Roman" panose="02020603050405020304" pitchFamily="18" charset="0"/>
              </a:rPr>
              <a:t>The architecture elements included smart devices, sensors, and smartphones  to collect measurements from the body. </a:t>
            </a:r>
            <a:endParaRPr lang="en-US" sz="2000">
              <a:latin typeface="Times New Roman" panose="02020603050405020304" pitchFamily="18" charset="0"/>
              <a:cs typeface="Times New Roman" panose="02020603050405020304" pitchFamily="18" charset="0"/>
            </a:endParaRPr>
          </a:p>
          <a:p>
            <a:pPr marL="285750" indent="-285750">
              <a:buClr>
                <a:srgbClr val="0BD0D9"/>
              </a:buClr>
              <a:buFont typeface="Wingdings" panose="05000000000000000000" charset="0"/>
              <a:buChar char="Ø"/>
            </a:pPr>
            <a:r>
              <a:rPr lang="en-US" sz="2000">
                <a:latin typeface="Times New Roman" panose="02020603050405020304" pitchFamily="18" charset="0"/>
                <a:cs typeface="Times New Roman" panose="02020603050405020304" pitchFamily="18" charset="0"/>
              </a:rPr>
              <a:t>The intelligent system collected the data received from the patient and performed data classification using machine learning in order to make a diagnosis. </a:t>
            </a:r>
            <a:endParaRPr lang="en-US" sz="2000">
              <a:latin typeface="Times New Roman" panose="02020603050405020304" pitchFamily="18" charset="0"/>
              <a:cs typeface="Times New Roman" panose="02020603050405020304" pitchFamily="18" charset="0"/>
            </a:endParaRPr>
          </a:p>
          <a:p>
            <a:pPr marL="285750" indent="-285750">
              <a:buClr>
                <a:srgbClr val="0BD0D9"/>
              </a:buClr>
              <a:buFont typeface="Wingdings" panose="05000000000000000000" charset="0"/>
              <a:buChar char="Ø"/>
            </a:pPr>
            <a:r>
              <a:rPr lang="en-US" sz="2000">
                <a:latin typeface="Times New Roman" panose="02020603050405020304" pitchFamily="18" charset="0"/>
                <a:cs typeface="Times New Roman" panose="02020603050405020304" pitchFamily="18" charset="0"/>
              </a:rPr>
              <a:t>The proposed prediction system was evaluated by several machine learning algorithms, and the simulation results demonstrated that the sequential minimal optimization (SMO) algorithm gives superior classification accuracy, sensitivity, and precision compared to other algorithms.                                                                                                           </a:t>
            </a:r>
            <a:endParaRPr lang="en-US"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518160" y="1010920"/>
            <a:ext cx="5989320" cy="1330960"/>
          </a:xfrm>
          <a:prstGeom prst="rect">
            <a:avLst/>
          </a:prstGeom>
          <a:noFill/>
        </p:spPr>
        <p:txBody>
          <a:bodyPr wrap="square" rtlCol="0" anchor="t">
            <a:noAutofit/>
          </a:bodyPr>
          <a:lstStyle/>
          <a:p>
            <a:r>
              <a:rPr lang="en-US" sz="4890" b="1" dirty="0" smtClean="0">
                <a:latin typeface="Bodoni MT Black" panose="02070A03080606020203" pitchFamily="18" charset="0"/>
                <a:cs typeface="Bodoni MT Black" panose="02070A03080606020203" pitchFamily="18" charset="0"/>
                <a:sym typeface="+mn-ea"/>
              </a:rPr>
              <a:t> </a:t>
            </a:r>
            <a:r>
              <a:rPr lang="en-US" sz="3600" b="1" dirty="0" smtClean="0">
                <a:latin typeface="Times New Roman" panose="02020603050405020304" pitchFamily="18" charset="0"/>
                <a:cs typeface="Times New Roman" panose="02020603050405020304" pitchFamily="18" charset="0"/>
                <a:sym typeface="+mn-ea"/>
              </a:rPr>
              <a:t> CONCLUSION</a:t>
            </a:r>
            <a:endParaRPr lang="en-US" sz="3600" b="1" dirty="0" smtClean="0">
              <a:latin typeface="Times New Roman" panose="02020603050405020304" pitchFamily="18" charset="0"/>
              <a:cs typeface="Times New Roman" panose="02020603050405020304" pitchFamily="18" charset="0"/>
              <a:sym typeface="+mn-ea"/>
            </a:endParaRPr>
          </a:p>
        </p:txBody>
      </p:sp>
      <p:sp>
        <p:nvSpPr>
          <p:cNvPr id="4" name="Text Box 3"/>
          <p:cNvSpPr txBox="1"/>
          <p:nvPr/>
        </p:nvSpPr>
        <p:spPr>
          <a:xfrm>
            <a:off x="596900" y="2286000"/>
            <a:ext cx="7767955" cy="3368675"/>
          </a:xfrm>
          <a:prstGeom prst="rect">
            <a:avLst/>
          </a:prstGeom>
          <a:noFill/>
        </p:spPr>
        <p:txBody>
          <a:bodyPr wrap="square" rtlCol="0" anchor="t">
            <a:noAutofit/>
          </a:bodyPr>
          <a:lstStyle/>
          <a:p>
            <a:pPr marL="285750" indent="-285750">
              <a:buClr>
                <a:srgbClr val="009DD9"/>
              </a:buClr>
              <a:buFont typeface="Wingdings" panose="05000000000000000000" charset="0"/>
              <a:buChar char="Ø"/>
            </a:pPr>
            <a:r>
              <a:rPr lang="en-US" sz="2000">
                <a:latin typeface="Times New Roman" panose="02020603050405020304" pitchFamily="18" charset="0"/>
                <a:cs typeface="Times New Roman" panose="02020603050405020304" pitchFamily="18" charset="0"/>
              </a:rPr>
              <a:t>In this article, we first propose a 5G-Smart Diabetes system that includes a sensing layer, a personalized diagnosis layer, and a data sharing layer.</a:t>
            </a:r>
            <a:endParaRPr lang="en-US" sz="2000">
              <a:latin typeface="Times New Roman" panose="02020603050405020304" pitchFamily="18" charset="0"/>
              <a:cs typeface="Times New Roman" panose="02020603050405020304" pitchFamily="18" charset="0"/>
            </a:endParaRPr>
          </a:p>
          <a:p>
            <a:pPr marL="285750" indent="-285750">
              <a:buClr>
                <a:srgbClr val="009DD9"/>
              </a:buClr>
              <a:buFont typeface="Wingdings" panose="05000000000000000000" charset="0"/>
              <a:buChar char="Ø"/>
            </a:pPr>
            <a:r>
              <a:rPr lang="en-US" sz="2000">
                <a:latin typeface="Times New Roman" panose="02020603050405020304" pitchFamily="18" charset="0"/>
                <a:cs typeface="Times New Roman" panose="02020603050405020304" pitchFamily="18" charset="0"/>
              </a:rPr>
              <a:t> Compared to Diabetes 1.0 and Diabetes 2.0, this system can achieve sustainable, cost-effective, and intelligence diabetes diagnosis. </a:t>
            </a:r>
            <a:endParaRPr lang="en-US" sz="2000">
              <a:latin typeface="Times New Roman" panose="02020603050405020304" pitchFamily="18" charset="0"/>
              <a:cs typeface="Times New Roman" panose="02020603050405020304" pitchFamily="18" charset="0"/>
            </a:endParaRPr>
          </a:p>
          <a:p>
            <a:pPr marL="285750" indent="-285750">
              <a:buClr>
                <a:srgbClr val="009DD9"/>
              </a:buClr>
              <a:buFont typeface="Wingdings" panose="05000000000000000000" charset="0"/>
              <a:buChar char="Ø"/>
            </a:pPr>
            <a:r>
              <a:rPr lang="en-US" sz="2000">
                <a:latin typeface="Times New Roman" panose="02020603050405020304" pitchFamily="18" charset="0"/>
                <a:cs typeface="Times New Roman" panose="02020603050405020304" pitchFamily="18" charset="0"/>
              </a:rPr>
              <a:t>Then we propose a highly cost-efficient data sharing mechanism in social space and data space. </a:t>
            </a:r>
            <a:endParaRPr lang="en-US" sz="2000">
              <a:latin typeface="Times New Roman" panose="02020603050405020304" pitchFamily="18" charset="0"/>
              <a:cs typeface="Times New Roman" panose="02020603050405020304" pitchFamily="18" charset="0"/>
            </a:endParaRPr>
          </a:p>
          <a:p>
            <a:pPr marL="285750" indent="-285750">
              <a:buClr>
                <a:srgbClr val="009DD9"/>
              </a:buClr>
              <a:buFont typeface="Wingdings" panose="05000000000000000000" charset="0"/>
              <a:buChar char="Ø"/>
            </a:pPr>
            <a:r>
              <a:rPr lang="en-US" sz="2000">
                <a:latin typeface="Times New Roman" panose="02020603050405020304" pitchFamily="18" charset="0"/>
                <a:cs typeface="Times New Roman" panose="02020603050405020304" pitchFamily="18" charset="0"/>
              </a:rPr>
              <a:t>In addition, using machine learning methods, we present a personalized data analysis model for 5G-Smart Diabetes. Finally, based on the smart clothing, smartphone and data center, we build a 5G-Smart Diabetes test. </a:t>
            </a:r>
            <a:r>
              <a:rPr lang="en-US"/>
              <a:t>                                                                     </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04215"/>
            <a:ext cx="8153400" cy="929005"/>
          </a:xfrm>
        </p:spPr>
        <p:txBody>
          <a:bodyPr/>
          <a:lstStyle/>
          <a:p>
            <a:r>
              <a:rPr lang="en-US" sz="3600" b="1" dirty="0" smtClean="0">
                <a:solidFill>
                  <a:schemeClr val="tx1"/>
                </a:solidFill>
                <a:latin typeface="Times New Roman" panose="02020603050405020304" pitchFamily="18" charset="0"/>
                <a:cs typeface="Times New Roman" panose="02020603050405020304" pitchFamily="18" charset="0"/>
                <a:sym typeface="+mn-ea"/>
              </a:rPr>
              <a:t>REFERENCES</a:t>
            </a:r>
            <a:endParaRPr lang="en-US" sz="3600" b="1" dirty="0" smtClean="0">
              <a:solidFill>
                <a:schemeClr val="tx1"/>
              </a:solidFill>
              <a:latin typeface="Times New Roman" panose="02020603050405020304" pitchFamily="18" charset="0"/>
              <a:cs typeface="Times New Roman" panose="02020603050405020304" pitchFamily="18" charset="0"/>
              <a:sym typeface="+mn-ea"/>
            </a:endParaRPr>
          </a:p>
        </p:txBody>
      </p:sp>
      <p:sp>
        <p:nvSpPr>
          <p:cNvPr id="5" name="Text Box 4"/>
          <p:cNvSpPr txBox="1"/>
          <p:nvPr/>
        </p:nvSpPr>
        <p:spPr>
          <a:xfrm>
            <a:off x="720090" y="2012950"/>
            <a:ext cx="7863840" cy="4300220"/>
          </a:xfrm>
          <a:prstGeom prst="rect">
            <a:avLst/>
          </a:prstGeom>
          <a:noFill/>
        </p:spPr>
        <p:txBody>
          <a:bodyPr wrap="square" rtlCol="0" anchor="t">
            <a:noAutofit/>
          </a:bodyPr>
          <a:lstStyle/>
          <a:p>
            <a:r>
              <a:rPr lang="en-US" sz="2000" b="1">
                <a:latin typeface="Times New Roman" panose="02020603050405020304" pitchFamily="18" charset="0"/>
                <a:cs typeface="Times New Roman" panose="02020603050405020304" pitchFamily="18" charset="0"/>
              </a:rPr>
              <a:t>[1] S.Mendis</a:t>
            </a:r>
            <a:r>
              <a:rPr lang="en-US" sz="2000">
                <a:latin typeface="Times New Roman" panose="02020603050405020304" pitchFamily="18" charset="0"/>
                <a:cs typeface="Times New Roman" panose="02020603050405020304" pitchFamily="18" charset="0"/>
              </a:rPr>
              <a:t>, “Global Status Report on Non communicable Diseases       2014,” WHO, tech. rep.; http://www.who.int/nmh/publications/ncd-status-report-2014/en/, accessed Jan. 2015.</a:t>
            </a:r>
            <a:endParaRPr lang="en-US" sz="2000">
              <a:latin typeface="Times New Roman" panose="02020603050405020304" pitchFamily="18" charset="0"/>
              <a:cs typeface="Times New Roman" panose="02020603050405020304" pitchFamily="18" charset="0"/>
            </a:endParaRPr>
          </a:p>
          <a:p>
            <a:r>
              <a:rPr lang="en-US" sz="2000" b="1">
                <a:latin typeface="Times New Roman" panose="02020603050405020304" pitchFamily="18" charset="0"/>
                <a:cs typeface="Times New Roman" panose="02020603050405020304" pitchFamily="18" charset="0"/>
              </a:rPr>
              <a:t>[2] F.Florencia et al.</a:t>
            </a:r>
            <a:r>
              <a:rPr lang="en-US" sz="2000">
                <a:latin typeface="Times New Roman" panose="02020603050405020304" pitchFamily="18" charset="0"/>
                <a:cs typeface="Times New Roman" panose="02020603050405020304" pitchFamily="18" charset="0"/>
              </a:rPr>
              <a:t>, IDF Diabetes Atlas, 6th ed., Int’l. Diabetes Federation, tech. rep.; http://www.diabetesatlas.org/, accessed Jan. 2016. </a:t>
            </a:r>
            <a:endParaRPr lang="en-US" sz="2000">
              <a:latin typeface="Times New Roman" panose="02020603050405020304" pitchFamily="18" charset="0"/>
              <a:cs typeface="Times New Roman" panose="02020603050405020304" pitchFamily="18" charset="0"/>
            </a:endParaRPr>
          </a:p>
          <a:p>
            <a:r>
              <a:rPr lang="en-US" sz="2000" b="1">
                <a:latin typeface="Times New Roman" panose="02020603050405020304" pitchFamily="18" charset="0"/>
                <a:cs typeface="Times New Roman" panose="02020603050405020304" pitchFamily="18" charset="0"/>
              </a:rPr>
              <a:t>[3] M. Chen et al</a:t>
            </a:r>
            <a:r>
              <a:rPr lang="en-US" sz="2000">
                <a:latin typeface="Times New Roman" panose="02020603050405020304" pitchFamily="18" charset="0"/>
                <a:cs typeface="Times New Roman" panose="02020603050405020304" pitchFamily="18" charset="0"/>
              </a:rPr>
              <a:t>., “Disease Prediction by Machine Learning over Big Healthcare Data,” IEEE Access, vol. 5, June 2017, pp. 8869--79. </a:t>
            </a:r>
            <a:endParaRPr lang="en-US" sz="2000">
              <a:latin typeface="Times New Roman" panose="02020603050405020304" pitchFamily="18" charset="0"/>
              <a:cs typeface="Times New Roman" panose="02020603050405020304" pitchFamily="18" charset="0"/>
            </a:endParaRPr>
          </a:p>
          <a:p>
            <a:r>
              <a:rPr lang="en-US" sz="2000" b="1">
                <a:latin typeface="Times New Roman" panose="02020603050405020304" pitchFamily="18" charset="0"/>
                <a:cs typeface="Times New Roman" panose="02020603050405020304" pitchFamily="18" charset="0"/>
              </a:rPr>
              <a:t>[4] O.Geman</a:t>
            </a:r>
            <a:r>
              <a:rPr lang="en-US" sz="2000">
                <a:latin typeface="Times New Roman" panose="02020603050405020304" pitchFamily="18" charset="0"/>
                <a:cs typeface="Times New Roman" panose="02020603050405020304" pitchFamily="18" charset="0"/>
              </a:rPr>
              <a:t>, I.Chiuchisan, and R.Toderean, “Application of Adaptive Neuro-Fuzzy Inference System for Diabetes Classification and prediction},” Proc. 6th IEEE Int’l. Conf. E-Health and Bioengineering, Sinaia, Romania, July 2017, pp. 639--642. </a:t>
            </a:r>
            <a:endParaRPr lang="en-US" sz="2000">
              <a:latin typeface="Times New Roman" panose="02020603050405020304" pitchFamily="18" charset="0"/>
              <a:cs typeface="Times New Roman" panose="02020603050405020304" pitchFamily="18" charset="0"/>
            </a:endParaRPr>
          </a:p>
          <a:p>
            <a:r>
              <a:rPr lang="en-US" sz="2000" b="1">
                <a:latin typeface="Times New Roman" panose="02020603050405020304" pitchFamily="18" charset="0"/>
                <a:cs typeface="Times New Roman" panose="02020603050405020304" pitchFamily="18" charset="0"/>
              </a:rPr>
              <a:t>[5] S.Fong, et al</a:t>
            </a:r>
            <a:r>
              <a:rPr lang="en-US" sz="2000">
                <a:latin typeface="Times New Roman" panose="02020603050405020304" pitchFamily="18" charset="0"/>
                <a:cs typeface="Times New Roman" panose="02020603050405020304" pitchFamily="18" charset="0"/>
              </a:rPr>
              <a:t>. “Real-Time Decision Rules for Diabetes Therapy Management by Data Stream Mining,” IT Professional, vol. 26, no. 99, June 2017, pp. 1--8. </a:t>
            </a:r>
            <a:endParaRPr lang="en-US"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357290" y="571480"/>
            <a:ext cx="7498080" cy="4214842"/>
          </a:xfrm>
        </p:spPr>
        <p:txBody>
          <a:bodyPr/>
          <a:lstStyle/>
          <a:p>
            <a:br>
              <a:rPr lang="en-US" dirty="0"/>
            </a:br>
            <a:endParaRPr lang="en-US" dirty="0">
              <a:solidFill>
                <a:schemeClr val="tx1"/>
              </a:solidFill>
            </a:endParaRPr>
          </a:p>
        </p:txBody>
      </p:sp>
      <p:pic>
        <p:nvPicPr>
          <p:cNvPr id="5" name="Picture 4" descr="1476271_7412.jpg"/>
          <p:cNvPicPr>
            <a:picLocks noChangeAspect="1"/>
          </p:cNvPicPr>
          <p:nvPr/>
        </p:nvPicPr>
        <p:blipFill>
          <a:blip r:embed="rId1" cstate="print"/>
          <a:stretch>
            <a:fillRect/>
          </a:stretch>
        </p:blipFill>
        <p:spPr>
          <a:xfrm>
            <a:off x="1500166" y="1071546"/>
            <a:ext cx="6488539" cy="4595283"/>
          </a:xfrm>
          <a:prstGeom prst="rect">
            <a:avLst/>
          </a:prstGeom>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IV MINI PROJECT PPT REFERENCE TEMPLATE (2)</Template>
  <TotalTime>0</TotalTime>
  <Words>8652</Words>
  <Application>WPS Presentation</Application>
  <PresentationFormat>On-screen Show (4:3)</PresentationFormat>
  <Paragraphs>172</Paragraphs>
  <Slides>22</Slides>
  <Notes>7</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22</vt:i4>
      </vt:variant>
    </vt:vector>
  </HeadingPairs>
  <TitlesOfParts>
    <vt:vector size="36" baseType="lpstr">
      <vt:lpstr>Arial</vt:lpstr>
      <vt:lpstr>SimSun</vt:lpstr>
      <vt:lpstr>Wingdings</vt:lpstr>
      <vt:lpstr>Wingdings 2</vt:lpstr>
      <vt:lpstr>Times New Roman</vt:lpstr>
      <vt:lpstr>Calibri</vt:lpstr>
      <vt:lpstr>Bookman Old Style</vt:lpstr>
      <vt:lpstr>Cambria</vt:lpstr>
      <vt:lpstr>Wingdings</vt:lpstr>
      <vt:lpstr>Constantia</vt:lpstr>
      <vt:lpstr>Microsoft YaHei</vt:lpstr>
      <vt:lpstr>Arial Unicode MS</vt:lpstr>
      <vt:lpstr>Bodoni MT Black</vt:lpstr>
      <vt:lpstr>Flow</vt:lpstr>
      <vt:lpstr>     </vt:lpstr>
      <vt:lpstr>PowerPoint 演示文稿</vt:lpstr>
      <vt:lpstr>   ABSTRACT</vt:lpstr>
      <vt:lpstr>INTRODUCTION</vt:lpstr>
      <vt:lpstr>SYSTEM ANALYSIS</vt:lpstr>
      <vt:lpstr>LITERATURE SURVEY</vt:lpstr>
      <vt:lpstr>PROPOSED METHOD</vt:lpstr>
      <vt:lpstr>PowerPoint 演示文稿</vt:lpstr>
      <vt:lpstr>PowerPoint 演示文稿</vt:lpstr>
      <vt:lpstr>PowerPoint 演示文稿</vt:lpstr>
      <vt:lpstr> SYSTEM ARCHITECTURE</vt:lpstr>
      <vt:lpstr> RESULT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REFERENCES</vt:lpstr>
      <vt:lpstr>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shaik</dc:creator>
  <cp:lastModifiedBy>Chandrika's Creation world</cp:lastModifiedBy>
  <cp:revision>93</cp:revision>
  <dcterms:created xsi:type="dcterms:W3CDTF">2023-08-02T10:05:00Z</dcterms:created>
  <dcterms:modified xsi:type="dcterms:W3CDTF">2024-09-20T15:57:37Z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6FF7632787644AE895C4B2EB1B32CB91_12</vt:lpwstr>
  </property>
  <property fmtid="{D5CDD505-2E9C-101B-9397-08002B2CF9AE}" pid="3" name="KSOProductBuildVer">
    <vt:lpwstr>1033-12.2.0.18283</vt:lpwstr>
  </property>
</Properties>
</file>