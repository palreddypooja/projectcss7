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48" r:id="rId1"/>
  </p:sldMasterIdLst>
  <p:notesMasterIdLst>
    <p:notesMasterId r:id="rId21"/>
  </p:notesMasterIdLst>
  <p:sldIdLst>
    <p:sldId id="256" r:id="rId2"/>
    <p:sldId id="257" r:id="rId3"/>
    <p:sldId id="268" r:id="rId4"/>
    <p:sldId id="270" r:id="rId5"/>
    <p:sldId id="271" r:id="rId6"/>
    <p:sldId id="273" r:id="rId7"/>
    <p:sldId id="278" r:id="rId8"/>
    <p:sldId id="263" r:id="rId9"/>
    <p:sldId id="274" r:id="rId10"/>
    <p:sldId id="284" r:id="rId11"/>
    <p:sldId id="289" r:id="rId12"/>
    <p:sldId id="285" r:id="rId13"/>
    <p:sldId id="290" r:id="rId14"/>
    <p:sldId id="288" r:id="rId15"/>
    <p:sldId id="276" r:id="rId16"/>
    <p:sldId id="280" r:id="rId17"/>
    <p:sldId id="291" r:id="rId18"/>
    <p:sldId id="283" r:id="rId19"/>
    <p:sldId id="286"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9927" autoAdjust="0"/>
    <p:restoredTop sz="94660"/>
  </p:normalViewPr>
  <p:slideViewPr>
    <p:cSldViewPr>
      <p:cViewPr varScale="1">
        <p:scale>
          <a:sx n="68" d="100"/>
          <a:sy n="68" d="100"/>
        </p:scale>
        <p:origin x="-1134"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3552D1E-EBCD-4E1C-99A0-7116E97B5D0D}" type="datetimeFigureOut">
              <a:rPr lang="en-US" smtClean="0"/>
              <a:t>7/12/2024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C317D81-0B31-4578-A522-4E7E109B55A7}"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5233074260</a:t>
            </a:r>
            <a:endParaRPr lang="en-US" dirty="0"/>
          </a:p>
        </p:txBody>
      </p:sp>
      <p:sp>
        <p:nvSpPr>
          <p:cNvPr id="4" name="Slide Number Placeholder 3"/>
          <p:cNvSpPr>
            <a:spLocks noGrp="1"/>
          </p:cNvSpPr>
          <p:nvPr>
            <p:ph type="sldNum" sz="quarter" idx="10"/>
          </p:nvPr>
        </p:nvSpPr>
        <p:spPr/>
        <p:txBody>
          <a:bodyPr/>
          <a:lstStyle/>
          <a:p>
            <a:fld id="{4C317D81-0B31-4578-A522-4E7E109B55A7}" type="slidenum">
              <a:rPr lang="en-US" smtClean="0"/>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The</a:t>
            </a:r>
            <a:endParaRPr lang="en-US" dirty="0"/>
          </a:p>
        </p:txBody>
      </p:sp>
      <p:sp>
        <p:nvSpPr>
          <p:cNvPr id="4" name="Slide Number Placeholder 3"/>
          <p:cNvSpPr>
            <a:spLocks noGrp="1"/>
          </p:cNvSpPr>
          <p:nvPr>
            <p:ph type="sldNum" sz="quarter" idx="10"/>
          </p:nvPr>
        </p:nvSpPr>
        <p:spPr/>
        <p:txBody>
          <a:bodyPr/>
          <a:lstStyle/>
          <a:p>
            <a:fld id="{4C317D81-0B31-4578-A522-4E7E109B55A7}" type="slidenum">
              <a:rPr lang="en-US" smtClean="0"/>
              <a:t>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2972F2A-9A6A-441E-9A86-36C79E5189DB}" type="datetimeFigureOut">
              <a:rPr lang="en-US" smtClean="0"/>
              <a:pPr/>
              <a:t>7/12/2024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E6471B-1E35-410C-B2BE-6C79435CCB88}"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2972F2A-9A6A-441E-9A86-36C79E5189DB}" type="datetimeFigureOut">
              <a:rPr lang="en-US" smtClean="0"/>
              <a:pPr/>
              <a:t>7/12/2024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E6471B-1E35-410C-B2BE-6C79435CCB8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2972F2A-9A6A-441E-9A86-36C79E5189DB}" type="datetimeFigureOut">
              <a:rPr lang="en-US" smtClean="0"/>
              <a:pPr/>
              <a:t>7/12/2024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E6471B-1E35-410C-B2BE-6C79435CCB88}"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2972F2A-9A6A-441E-9A86-36C79E5189DB}" type="datetimeFigureOut">
              <a:rPr lang="en-US" smtClean="0"/>
              <a:pPr/>
              <a:t>7/12/2024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E6471B-1E35-410C-B2BE-6C79435CCB88}"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2972F2A-9A6A-441E-9A86-36C79E5189DB}" type="datetimeFigureOut">
              <a:rPr lang="en-US" smtClean="0"/>
              <a:pPr/>
              <a:t>7/12/2024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FE6471B-1E35-410C-B2BE-6C79435CCB8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2972F2A-9A6A-441E-9A86-36C79E5189DB}" type="datetimeFigureOut">
              <a:rPr lang="en-US" smtClean="0"/>
              <a:pPr/>
              <a:t>7/12/2024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FE6471B-1E35-410C-B2BE-6C79435CCB8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2972F2A-9A6A-441E-9A86-36C79E5189DB}" type="datetimeFigureOut">
              <a:rPr lang="en-US" smtClean="0"/>
              <a:pPr/>
              <a:t>7/12/2024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FE6471B-1E35-410C-B2BE-6C79435CCB8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2972F2A-9A6A-441E-9A86-36C79E5189DB}" type="datetimeFigureOut">
              <a:rPr lang="en-US" smtClean="0"/>
              <a:pPr/>
              <a:t>7/12/2024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E6471B-1E35-410C-B2BE-6C79435CCB88}"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2972F2A-9A6A-441E-9A86-36C79E5189DB}" type="datetimeFigureOut">
              <a:rPr lang="en-US" smtClean="0"/>
              <a:pPr/>
              <a:t>7/12/2024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E6471B-1E35-410C-B2BE-6C79435CCB88}"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2972F2A-9A6A-441E-9A86-36C79E5189DB}" type="datetimeFigureOut">
              <a:rPr lang="en-US" smtClean="0"/>
              <a:pPr/>
              <a:t>7/12/2024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E6471B-1E35-410C-B2BE-6C79435CCB8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2972F2A-9A6A-441E-9A86-36C79E5189DB}" type="datetimeFigureOut">
              <a:rPr lang="en-US" smtClean="0"/>
              <a:pPr/>
              <a:t>7/12/2024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E6471B-1E35-410C-B2BE-6C79435CCB8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972F2A-9A6A-441E-9A86-36C79E5189DB}" type="datetimeFigureOut">
              <a:rPr lang="en-US" smtClean="0"/>
              <a:pPr/>
              <a:t>7/12/2024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FE6471B-1E35-410C-B2BE-6C79435CCB8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949" r:id="rId1"/>
    <p:sldLayoutId id="2147483950" r:id="rId2"/>
    <p:sldLayoutId id="2147483951" r:id="rId3"/>
    <p:sldLayoutId id="2147483952" r:id="rId4"/>
    <p:sldLayoutId id="2147483953" r:id="rId5"/>
    <p:sldLayoutId id="2147483954" r:id="rId6"/>
    <p:sldLayoutId id="2147483955" r:id="rId7"/>
    <p:sldLayoutId id="2147483956" r:id="rId8"/>
    <p:sldLayoutId id="2147483957" r:id="rId9"/>
    <p:sldLayoutId id="2147483958" r:id="rId10"/>
    <p:sldLayoutId id="21474839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42853"/>
            <a:ext cx="7772400" cy="857256"/>
          </a:xfrm>
        </p:spPr>
        <p:txBody>
          <a:bodyPr>
            <a:normAutofit fontScale="90000"/>
          </a:bodyPr>
          <a:lstStyle/>
          <a:p>
            <a:r>
              <a:rPr lang="en-US" sz="700" dirty="0"/>
              <a:t/>
            </a:r>
            <a:br>
              <a:rPr lang="en-US" sz="700" dirty="0"/>
            </a:br>
            <a:endParaRPr lang="en-US" dirty="0"/>
          </a:p>
        </p:txBody>
      </p:sp>
      <p:sp>
        <p:nvSpPr>
          <p:cNvPr id="3" name="Subtitle 2"/>
          <p:cNvSpPr>
            <a:spLocks noGrp="1"/>
          </p:cNvSpPr>
          <p:nvPr>
            <p:ph type="subTitle" idx="1"/>
          </p:nvPr>
        </p:nvSpPr>
        <p:spPr>
          <a:xfrm>
            <a:off x="838200" y="1981200"/>
            <a:ext cx="7696200" cy="4648200"/>
          </a:xfrm>
        </p:spPr>
        <p:txBody>
          <a:bodyPr>
            <a:normAutofit fontScale="77500" lnSpcReduction="20000"/>
          </a:bodyPr>
          <a:lstStyle/>
          <a:p>
            <a:pPr algn="ctr"/>
            <a:r>
              <a:rPr lang="en-US" sz="3600" b="1" dirty="0" smtClean="0">
                <a:solidFill>
                  <a:schemeClr val="tx1"/>
                </a:solidFill>
                <a:latin typeface="+mj-lt"/>
              </a:rPr>
              <a:t>“5G SMART DIABETES TOWARDS PERSONALIZED DIABETES DIAGNOSIS WITH HEALTH CARE BIG DATA CLOUDS”</a:t>
            </a:r>
          </a:p>
          <a:p>
            <a:pPr algn="ctr"/>
            <a:r>
              <a:rPr lang="en-US" b="1" i="1" dirty="0" smtClean="0">
                <a:solidFill>
                  <a:schemeClr val="tx1"/>
                </a:solidFill>
                <a:latin typeface="Bookman Old Style" pitchFamily="18" charset="0"/>
              </a:rPr>
              <a:t>Submitted </a:t>
            </a:r>
            <a:r>
              <a:rPr lang="en-US" b="1" i="1" dirty="0">
                <a:solidFill>
                  <a:schemeClr val="tx1"/>
                </a:solidFill>
                <a:latin typeface="Bookman Old Style" pitchFamily="18" charset="0"/>
              </a:rPr>
              <a:t>by </a:t>
            </a:r>
            <a:endParaRPr lang="en-US" dirty="0">
              <a:solidFill>
                <a:schemeClr val="tx1"/>
              </a:solidFill>
              <a:latin typeface="Bookman Old Style" pitchFamily="18" charset="0"/>
            </a:endParaRPr>
          </a:p>
          <a:p>
            <a:pPr algn="just"/>
            <a:r>
              <a:rPr lang="en-US" b="1" dirty="0" smtClean="0">
                <a:solidFill>
                  <a:schemeClr val="tx1"/>
                </a:solidFill>
                <a:latin typeface="Bookman Old Style" pitchFamily="18" charset="0"/>
              </a:rPr>
              <a:t>P.POOJA                            21RG1A0540</a:t>
            </a:r>
            <a:endParaRPr lang="en-US" dirty="0">
              <a:solidFill>
                <a:schemeClr val="tx1"/>
              </a:solidFill>
              <a:latin typeface="Bookman Old Style" pitchFamily="18" charset="0"/>
            </a:endParaRPr>
          </a:p>
          <a:p>
            <a:pPr algn="just"/>
            <a:r>
              <a:rPr lang="en-US" b="1" dirty="0" smtClean="0">
                <a:solidFill>
                  <a:schemeClr val="tx1"/>
                </a:solidFill>
                <a:latin typeface="Bookman Old Style" pitchFamily="18" charset="0"/>
              </a:rPr>
              <a:t>S.ARCHANA</a:t>
            </a:r>
            <a:r>
              <a:rPr lang="en-US" b="1" dirty="0" smtClean="0">
                <a:solidFill>
                  <a:schemeClr val="tx1"/>
                </a:solidFill>
                <a:latin typeface="Bookman Old Style" pitchFamily="18" charset="0"/>
              </a:rPr>
              <a:t>                       21RG1A0550</a:t>
            </a:r>
            <a:endParaRPr lang="en-US" dirty="0">
              <a:solidFill>
                <a:schemeClr val="tx1"/>
              </a:solidFill>
              <a:latin typeface="Bookman Old Style" pitchFamily="18" charset="0"/>
            </a:endParaRPr>
          </a:p>
          <a:p>
            <a:pPr algn="just"/>
            <a:r>
              <a:rPr lang="en-US" b="1" dirty="0" smtClean="0">
                <a:solidFill>
                  <a:schemeClr val="tx1"/>
                </a:solidFill>
                <a:latin typeface="Bookman Old Style" pitchFamily="18" charset="0"/>
              </a:rPr>
              <a:t>S.KAVYACHANDRIKA</a:t>
            </a:r>
            <a:r>
              <a:rPr lang="en-US" b="1" dirty="0">
                <a:solidFill>
                  <a:schemeClr val="tx1"/>
                </a:solidFill>
                <a:latin typeface="Bookman Old Style" pitchFamily="18" charset="0"/>
              </a:rPr>
              <a:t>	      </a:t>
            </a:r>
            <a:r>
              <a:rPr lang="en-US" b="1" dirty="0">
                <a:solidFill>
                  <a:schemeClr val="tx1"/>
                </a:solidFill>
                <a:latin typeface="Bookman Old Style" pitchFamily="18" charset="0"/>
              </a:rPr>
              <a:t> </a:t>
            </a:r>
            <a:r>
              <a:rPr lang="en-US" b="1" dirty="0" smtClean="0">
                <a:solidFill>
                  <a:schemeClr val="tx1"/>
                </a:solidFill>
                <a:latin typeface="Bookman Old Style" pitchFamily="18" charset="0"/>
              </a:rPr>
              <a:t>21RG1A0552</a:t>
            </a:r>
            <a:endParaRPr lang="en-US" dirty="0">
              <a:solidFill>
                <a:schemeClr val="tx1"/>
              </a:solidFill>
              <a:latin typeface="Bookman Old Style" pitchFamily="18" charset="0"/>
            </a:endParaRPr>
          </a:p>
          <a:p>
            <a:pPr algn="just"/>
            <a:r>
              <a:rPr lang="en-US" b="1" dirty="0" smtClean="0">
                <a:solidFill>
                  <a:schemeClr val="tx1"/>
                </a:solidFill>
                <a:latin typeface="Bookman Old Style" pitchFamily="18" charset="0"/>
              </a:rPr>
              <a:t>T.AKHILA</a:t>
            </a:r>
            <a:r>
              <a:rPr lang="en-US" b="1" dirty="0" smtClean="0">
                <a:solidFill>
                  <a:schemeClr val="tx1"/>
                </a:solidFill>
                <a:latin typeface="Bookman Old Style" pitchFamily="18" charset="0"/>
              </a:rPr>
              <a:t>                          22RG5A0506</a:t>
            </a:r>
            <a:endParaRPr lang="en-US" b="1" dirty="0">
              <a:solidFill>
                <a:schemeClr val="tx1"/>
              </a:solidFill>
              <a:latin typeface="Bookman Old Style" pitchFamily="18" charset="0"/>
            </a:endParaRPr>
          </a:p>
          <a:p>
            <a:pPr algn="just"/>
            <a:r>
              <a:rPr lang="en-US" b="1" i="1" dirty="0">
                <a:solidFill>
                  <a:schemeClr val="tx1"/>
                </a:solidFill>
                <a:latin typeface="Bookman Old Style" pitchFamily="18" charset="0"/>
              </a:rPr>
              <a:t> </a:t>
            </a:r>
            <a:r>
              <a:rPr lang="en-US" b="1" i="1" dirty="0" smtClean="0">
                <a:solidFill>
                  <a:schemeClr val="tx1"/>
                </a:solidFill>
                <a:latin typeface="Bookman Old Style" pitchFamily="18" charset="0"/>
              </a:rPr>
              <a:t>             </a:t>
            </a:r>
            <a:r>
              <a:rPr lang="en-US" i="1" dirty="0" smtClean="0">
                <a:solidFill>
                  <a:schemeClr val="tx1"/>
                </a:solidFill>
                <a:latin typeface="Bookman Old Style" pitchFamily="18" charset="0"/>
              </a:rPr>
              <a:t>Under </a:t>
            </a:r>
            <a:r>
              <a:rPr lang="en-US" i="1" dirty="0">
                <a:solidFill>
                  <a:schemeClr val="tx1"/>
                </a:solidFill>
                <a:latin typeface="Bookman Old Style" pitchFamily="18" charset="0"/>
              </a:rPr>
              <a:t>the Guidance of </a:t>
            </a:r>
            <a:endParaRPr lang="en-US" i="1" dirty="0">
              <a:solidFill>
                <a:schemeClr val="tx1"/>
              </a:solidFill>
              <a:latin typeface="Bookman Old Style" pitchFamily="18" charset="0"/>
            </a:endParaRPr>
          </a:p>
          <a:p>
            <a:pPr algn="just"/>
            <a:r>
              <a:rPr lang="en-US" b="1" i="1" dirty="0">
                <a:solidFill>
                  <a:schemeClr val="tx1"/>
                </a:solidFill>
                <a:latin typeface="Bookman Old Style" pitchFamily="18" charset="0"/>
              </a:rPr>
              <a:t> </a:t>
            </a:r>
            <a:r>
              <a:rPr lang="en-US" b="1" i="1" dirty="0" smtClean="0">
                <a:solidFill>
                  <a:schemeClr val="tx1"/>
                </a:solidFill>
                <a:latin typeface="Bookman Old Style" pitchFamily="18" charset="0"/>
              </a:rPr>
              <a:t>                 E.AVYAKTHA</a:t>
            </a:r>
            <a:endParaRPr lang="en-US" dirty="0">
              <a:solidFill>
                <a:schemeClr val="tx1"/>
              </a:solidFill>
              <a:latin typeface="Bookman Old Style" pitchFamily="18" charset="0"/>
            </a:endParaRPr>
          </a:p>
          <a:p>
            <a:pPr algn="ctr"/>
            <a:r>
              <a:rPr lang="en-US" i="1" dirty="0">
                <a:solidFill>
                  <a:schemeClr val="tx1"/>
                </a:solidFill>
                <a:latin typeface="Bookman Old Style" pitchFamily="18" charset="0"/>
              </a:rPr>
              <a:t>                             </a:t>
            </a:r>
            <a:r>
              <a:rPr lang="en-US" sz="2600" i="1" dirty="0" smtClean="0">
                <a:solidFill>
                  <a:schemeClr val="tx1"/>
                </a:solidFill>
                <a:latin typeface="Bookman Old Style" pitchFamily="18" charset="0"/>
              </a:rPr>
              <a:t>M.TECH,ASSISTANT  PROFESSOR</a:t>
            </a:r>
            <a:endParaRPr lang="en-US" sz="2600" dirty="0">
              <a:solidFill>
                <a:schemeClr val="tx1"/>
              </a:solidFill>
              <a:latin typeface="Bookman Old Style" pitchFamily="18" charset="0"/>
            </a:endParaRPr>
          </a:p>
          <a:p>
            <a:endParaRPr lang="en-US" dirty="0">
              <a:solidFill>
                <a:schemeClr val="tx1"/>
              </a:solidFill>
            </a:endParaRPr>
          </a:p>
          <a:p>
            <a:endParaRPr lang="en-US" dirty="0"/>
          </a:p>
        </p:txBody>
      </p:sp>
      <p:sp>
        <p:nvSpPr>
          <p:cNvPr id="4097" name="Rectangle 1"/>
          <p:cNvSpPr>
            <a:spLocks noChangeArrowheads="1"/>
          </p:cNvSpPr>
          <p:nvPr/>
        </p:nvSpPr>
        <p:spPr bwMode="auto">
          <a:xfrm>
            <a:off x="928661" y="1"/>
            <a:ext cx="8215339" cy="163121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b="1" i="0" u="none" strike="noStrike" cap="none" normalizeH="0" baseline="0" dirty="0">
              <a:ln>
                <a:noFill/>
              </a:ln>
              <a:solidFill>
                <a:srgbClr val="FF3399"/>
              </a:solidFill>
              <a:effectLst/>
              <a:latin typeface="Calibri" pitchFamily="34" charset="0"/>
              <a:ea typeface="Bookman Old Style" pitchFamily="18" charset="0"/>
              <a:cs typeface="Bookman Old Style"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dirty="0">
                <a:ln>
                  <a:noFill/>
                </a:ln>
                <a:solidFill>
                  <a:srgbClr val="FF3399"/>
                </a:solidFill>
                <a:effectLst/>
                <a:latin typeface="Bookman Old Style" pitchFamily="18" charset="0"/>
                <a:ea typeface="Bookman Old Style" pitchFamily="18" charset="0"/>
                <a:cs typeface="Bookman Old Style" pitchFamily="18" charset="0"/>
              </a:rPr>
              <a:t>MALLA REDDY COLLEGE </a:t>
            </a:r>
            <a:r>
              <a:rPr kumimoji="0" lang="en-US" b="1" i="1" u="none" strike="noStrike" cap="none" normalizeH="0" baseline="0" dirty="0">
                <a:ln>
                  <a:noFill/>
                </a:ln>
                <a:solidFill>
                  <a:srgbClr val="FF3399"/>
                </a:solidFill>
                <a:effectLst/>
                <a:latin typeface="Bookman Old Style" pitchFamily="18" charset="0"/>
                <a:ea typeface="Bookman Old Style" pitchFamily="18" charset="0"/>
                <a:cs typeface="Bookman Old Style" pitchFamily="18" charset="0"/>
              </a:rPr>
              <a:t>OF</a:t>
            </a:r>
            <a:r>
              <a:rPr kumimoji="0" lang="en-US" b="1" i="0" u="none" strike="noStrike" cap="none" normalizeH="0" baseline="0" dirty="0">
                <a:ln>
                  <a:noFill/>
                </a:ln>
                <a:solidFill>
                  <a:srgbClr val="FF3399"/>
                </a:solidFill>
                <a:effectLst/>
                <a:latin typeface="Bookman Old Style" pitchFamily="18" charset="0"/>
                <a:ea typeface="Bookman Old Style" pitchFamily="18" charset="0"/>
                <a:cs typeface="Bookman Old Style" pitchFamily="18" charset="0"/>
              </a:rPr>
              <a:t> ENGINEERING FOR WOMEN  </a:t>
            </a:r>
            <a:endParaRPr kumimoji="0" lang="en-US" sz="800" b="0" i="0" u="none" strike="noStrike" cap="none" normalizeH="0" baseline="0" dirty="0">
              <a:ln>
                <a:noFill/>
              </a:ln>
              <a:solidFill>
                <a:schemeClr val="tx1"/>
              </a:solidFill>
              <a:effectLst/>
              <a:latin typeface="Bookman Old Style" pitchFamily="18"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600" b="0" i="1" u="none" strike="noStrike" cap="none" normalizeH="0" baseline="0" dirty="0">
                <a:ln>
                  <a:noFill/>
                </a:ln>
                <a:solidFill>
                  <a:srgbClr val="0033CC"/>
                </a:solidFill>
                <a:effectLst/>
                <a:latin typeface="Bookman Old Style" pitchFamily="18" charset="0"/>
                <a:ea typeface="Bookman Old Style" pitchFamily="18" charset="0"/>
                <a:cs typeface="Bookman Old Style" pitchFamily="18" charset="0"/>
              </a:rPr>
              <a:t>(Approved by AICTE New Delhi and Affiliated to JNTUH) </a:t>
            </a:r>
            <a:endParaRPr kumimoji="0" lang="en-US" sz="800" b="0" i="0" u="none" strike="noStrike" cap="none" normalizeH="0" baseline="0" dirty="0">
              <a:ln>
                <a:noFill/>
              </a:ln>
              <a:solidFill>
                <a:schemeClr val="tx1"/>
              </a:solidFill>
              <a:effectLst/>
              <a:latin typeface="Bookman Old Style" pitchFamily="18"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600" b="0" i="1" u="none" strike="noStrike" cap="none" normalizeH="0" baseline="0" dirty="0">
                <a:ln>
                  <a:noFill/>
                </a:ln>
                <a:solidFill>
                  <a:srgbClr val="0033CC"/>
                </a:solidFill>
                <a:effectLst/>
                <a:latin typeface="Bookman Old Style" pitchFamily="18" charset="0"/>
                <a:ea typeface="Bookman Old Style" pitchFamily="18" charset="0"/>
                <a:cs typeface="Bookman Old Style" pitchFamily="18" charset="0"/>
              </a:rPr>
              <a:t>(</a:t>
            </a:r>
            <a:r>
              <a:rPr kumimoji="0" lang="en-US" sz="1600" b="0" i="1" u="none" strike="noStrike" cap="none" normalizeH="0" baseline="0" dirty="0" err="1">
                <a:ln>
                  <a:noFill/>
                </a:ln>
                <a:solidFill>
                  <a:srgbClr val="0033CC"/>
                </a:solidFill>
                <a:effectLst/>
                <a:latin typeface="Bookman Old Style" pitchFamily="18" charset="0"/>
                <a:ea typeface="Bookman Old Style" pitchFamily="18" charset="0"/>
                <a:cs typeface="Bookman Old Style" pitchFamily="18" charset="0"/>
              </a:rPr>
              <a:t>B.Tech</a:t>
            </a:r>
            <a:r>
              <a:rPr kumimoji="0" lang="en-US" sz="1600" b="0" i="1" u="none" strike="noStrike" cap="none" normalizeH="0" baseline="0" dirty="0">
                <a:ln>
                  <a:noFill/>
                </a:ln>
                <a:solidFill>
                  <a:srgbClr val="0033CC"/>
                </a:solidFill>
                <a:effectLst/>
                <a:latin typeface="Bookman Old Style" pitchFamily="18" charset="0"/>
                <a:ea typeface="Bookman Old Style" pitchFamily="18" charset="0"/>
                <a:cs typeface="Bookman Old Style" pitchFamily="18" charset="0"/>
              </a:rPr>
              <a:t> Programs-CSE &amp; ECE Accredited by NBA)</a:t>
            </a:r>
            <a:endParaRPr kumimoji="0" lang="en-US" sz="800" b="0" i="0" u="none" strike="noStrike" cap="none" normalizeH="0" baseline="0" dirty="0">
              <a:ln>
                <a:noFill/>
              </a:ln>
              <a:solidFill>
                <a:schemeClr val="tx1"/>
              </a:solidFill>
              <a:effectLst/>
              <a:latin typeface="Bookman Old Style" pitchFamily="18"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600" b="0" i="1" u="none" strike="noStrike" cap="none" normalizeH="0" baseline="0" dirty="0">
                <a:ln>
                  <a:noFill/>
                </a:ln>
                <a:solidFill>
                  <a:srgbClr val="0033CC"/>
                </a:solidFill>
                <a:effectLst/>
                <a:latin typeface="Bookman Old Style" pitchFamily="18" charset="0"/>
                <a:ea typeface="Bookman Old Style" pitchFamily="18" charset="0"/>
                <a:cs typeface="Bookman Old Style" pitchFamily="18" charset="0"/>
              </a:rPr>
              <a:t>(An ISO 9001 : 2015 Certified Institution)</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600" b="0" i="1" u="none" strike="noStrike" cap="none" normalizeH="0" baseline="0" dirty="0" err="1">
                <a:ln>
                  <a:noFill/>
                </a:ln>
                <a:solidFill>
                  <a:srgbClr val="0033CC"/>
                </a:solidFill>
                <a:effectLst/>
                <a:latin typeface="Bookman Old Style" pitchFamily="18" charset="0"/>
                <a:ea typeface="Bookman Old Style" pitchFamily="18" charset="0"/>
                <a:cs typeface="Bookman Old Style" pitchFamily="18" charset="0"/>
              </a:rPr>
              <a:t>Maisammguda</a:t>
            </a:r>
            <a:r>
              <a:rPr kumimoji="0" lang="en-US" sz="1600" b="0" i="1" u="none" strike="noStrike" cap="none" normalizeH="0" baseline="0" dirty="0">
                <a:ln>
                  <a:noFill/>
                </a:ln>
                <a:solidFill>
                  <a:srgbClr val="0033CC"/>
                </a:solidFill>
                <a:effectLst/>
                <a:latin typeface="Bookman Old Style" pitchFamily="18" charset="0"/>
                <a:ea typeface="Bookman Old Style" pitchFamily="18" charset="0"/>
                <a:cs typeface="Bookman Old Style" pitchFamily="18" charset="0"/>
              </a:rPr>
              <a:t>, </a:t>
            </a:r>
            <a:r>
              <a:rPr kumimoji="0" lang="en-US" sz="1600" b="0" i="1" u="none" strike="noStrike" cap="none" normalizeH="0" baseline="0" dirty="0" err="1">
                <a:ln>
                  <a:noFill/>
                </a:ln>
                <a:solidFill>
                  <a:srgbClr val="0033CC"/>
                </a:solidFill>
                <a:effectLst/>
                <a:latin typeface="Bookman Old Style" pitchFamily="18" charset="0"/>
                <a:ea typeface="Bookman Old Style" pitchFamily="18" charset="0"/>
                <a:cs typeface="Bookman Old Style" pitchFamily="18" charset="0"/>
              </a:rPr>
              <a:t>Medchal</a:t>
            </a:r>
            <a:r>
              <a:rPr kumimoji="0" lang="en-US" sz="1600" b="0" i="1" u="none" strike="noStrike" cap="none" normalizeH="0" baseline="0" dirty="0">
                <a:ln>
                  <a:noFill/>
                </a:ln>
                <a:solidFill>
                  <a:srgbClr val="0033CC"/>
                </a:solidFill>
                <a:effectLst/>
                <a:latin typeface="Bookman Old Style" pitchFamily="18" charset="0"/>
                <a:ea typeface="Bookman Old Style" pitchFamily="18" charset="0"/>
                <a:cs typeface="Bookman Old Style" pitchFamily="18" charset="0"/>
              </a:rPr>
              <a:t> (M), Hyderabad-500100,Telangana</a:t>
            </a:r>
            <a:endParaRPr kumimoji="0" lang="en-US" sz="2400" b="0" i="0" u="none" strike="noStrike" cap="none" normalizeH="0" baseline="0" dirty="0">
              <a:ln>
                <a:noFill/>
              </a:ln>
              <a:solidFill>
                <a:schemeClr val="tx1"/>
              </a:solidFill>
              <a:effectLst/>
              <a:latin typeface="Bookman Old Style" pitchFamily="18" charset="0"/>
              <a:cs typeface="Arial" pitchFamily="34" charset="0"/>
            </a:endParaRPr>
          </a:p>
        </p:txBody>
      </p:sp>
      <p:pic>
        <p:nvPicPr>
          <p:cNvPr id="5" name="Picture 4"/>
          <p:cNvPicPr/>
          <p:nvPr/>
        </p:nvPicPr>
        <p:blipFill>
          <a:blip r:embed="rId2">
            <a:extLst>
              <a:ext uri="{28A0092B-C50C-407E-A947-70E740481C1C}">
                <a14:useLocalDpi xmlns:a14="http://schemas.microsoft.com/office/drawing/2010/main" xmlns="" val="0"/>
              </a:ext>
            </a:extLst>
          </a:blip>
          <a:srcRect/>
          <a:stretch>
            <a:fillRect/>
          </a:stretch>
        </p:blipFill>
        <p:spPr bwMode="auto">
          <a:xfrm>
            <a:off x="228600" y="381000"/>
            <a:ext cx="1265851" cy="1066800"/>
          </a:xfrm>
          <a:prstGeom prst="rect">
            <a:avLst/>
          </a:prstGeom>
          <a:noFill/>
          <a:ln>
            <a:noFill/>
          </a:ln>
        </p:spPr>
      </p:pic>
    </p:spTree>
  </p:cSld>
  <p:clrMapOvr>
    <a:masterClrMapping/>
  </p:clrMapOvr>
  <p:transition>
    <p:wipe di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229600" cy="1143000"/>
          </a:xfrm>
        </p:spPr>
        <p:style>
          <a:lnRef idx="2">
            <a:schemeClr val="accent1"/>
          </a:lnRef>
          <a:fillRef idx="1">
            <a:schemeClr val="lt1"/>
          </a:fillRef>
          <a:effectRef idx="0">
            <a:schemeClr val="accent1"/>
          </a:effectRef>
          <a:fontRef idx="minor">
            <a:schemeClr val="dk1"/>
          </a:fontRef>
        </p:style>
        <p:txBody>
          <a:bodyPr>
            <a:normAutofit/>
          </a:bodyPr>
          <a:lstStyle/>
          <a:p>
            <a:r>
              <a:rPr lang="en-US" sz="6600" b="1" dirty="0">
                <a:solidFill>
                  <a:schemeClr val="accent5">
                    <a:lumMod val="50000"/>
                  </a:schemeClr>
                </a:solidFill>
                <a:latin typeface="Bodoni MT Black" pitchFamily="18" charset="0"/>
              </a:rPr>
              <a:t>ABSTRACT</a:t>
            </a:r>
            <a:endParaRPr lang="en-US" sz="6600" dirty="0">
              <a:solidFill>
                <a:schemeClr val="accent5">
                  <a:lumMod val="50000"/>
                </a:schemeClr>
              </a:solidFill>
              <a:latin typeface="Bodoni MT Black" pitchFamily="18" charset="0"/>
            </a:endParaRPr>
          </a:p>
        </p:txBody>
      </p:sp>
      <p:sp>
        <p:nvSpPr>
          <p:cNvPr id="3" name="Content Placeholder 2"/>
          <p:cNvSpPr>
            <a:spLocks noGrp="1"/>
          </p:cNvSpPr>
          <p:nvPr>
            <p:ph idx="1"/>
          </p:nvPr>
        </p:nvSpPr>
        <p:spPr>
          <a:xfrm>
            <a:off x="533400" y="1371600"/>
            <a:ext cx="8400288" cy="5105400"/>
          </a:xfrm>
        </p:spPr>
        <p:txBody>
          <a:bodyPr>
            <a:noAutofit/>
          </a:bodyPr>
          <a:lstStyle/>
          <a:p>
            <a:pPr algn="just"/>
            <a:r>
              <a:rPr lang="en-US" sz="2000" dirty="0"/>
              <a:t>Recent advances in wireless networking and big data technologies, such as 5G networks, medical big data analytics, and the Internet of Things, along with recent developments in wearable computing and artificial intelligence, are enabling </a:t>
            </a:r>
            <a:endParaRPr lang="en-US" sz="2000" dirty="0" smtClean="0"/>
          </a:p>
          <a:p>
            <a:pPr algn="just"/>
            <a:r>
              <a:rPr lang="en-US" sz="2000" dirty="0" smtClean="0"/>
              <a:t>the </a:t>
            </a:r>
            <a:r>
              <a:rPr lang="en-US" sz="2000" dirty="0"/>
              <a:t>development and implementation of innovative diabetes monitoring systems and applications</a:t>
            </a:r>
            <a:r>
              <a:rPr lang="en-US" sz="2000" dirty="0" smtClean="0"/>
              <a:t>.</a:t>
            </a:r>
          </a:p>
          <a:p>
            <a:pPr algn="just"/>
            <a:r>
              <a:rPr lang="en-US" sz="2000" dirty="0" smtClean="0"/>
              <a:t> </a:t>
            </a:r>
            <a:r>
              <a:rPr lang="en-US" sz="2000" dirty="0"/>
              <a:t>Due to the life-long and systematic harm suffered by diabetes patients, it is critical to design effective methods for the diagnosis and treatment of diabetes. </a:t>
            </a:r>
            <a:endParaRPr lang="en-US" sz="2000" dirty="0" smtClean="0"/>
          </a:p>
          <a:p>
            <a:pPr algn="just"/>
            <a:r>
              <a:rPr lang="en-US" sz="2000" dirty="0" smtClean="0"/>
              <a:t>Based </a:t>
            </a:r>
            <a:r>
              <a:rPr lang="en-US" sz="2000" dirty="0"/>
              <a:t>on our comprehensive investigation, this article classifies those methods into Diabetes 1.0 and Diabetes </a:t>
            </a:r>
            <a:r>
              <a:rPr lang="en-US" sz="2000" dirty="0" smtClean="0"/>
              <a:t>2.0</a:t>
            </a:r>
          </a:p>
          <a:p>
            <a:pPr algn="just"/>
            <a:r>
              <a:rPr lang="en-US" sz="2000" dirty="0" smtClean="0"/>
              <a:t> </a:t>
            </a:r>
            <a:r>
              <a:rPr lang="en-US" sz="2000" dirty="0"/>
              <a:t>which exhibit deficiencies in terms of networking and intelligence. Thus, our goal is to design a </a:t>
            </a:r>
            <a:r>
              <a:rPr lang="en-US" sz="2000" dirty="0" smtClean="0"/>
              <a:t>sustainable</a:t>
            </a:r>
          </a:p>
          <a:p>
            <a:pPr algn="just"/>
            <a:r>
              <a:rPr lang="en-US" sz="2000" dirty="0" smtClean="0"/>
              <a:t>cost-effective</a:t>
            </a:r>
            <a:r>
              <a:rPr lang="en-US" sz="2000" dirty="0"/>
              <a:t>, and intelligent diabetes diagnosis solution with personalized treatment. </a:t>
            </a:r>
          </a:p>
          <a:p>
            <a:pPr algn="just"/>
            <a:endParaRPr lang="en-US" sz="2000" dirty="0">
              <a:latin typeface="Bookman Old Style" pitchFamily="18" charset="0"/>
            </a:endParaRPr>
          </a:p>
        </p:txBody>
      </p:sp>
    </p:spTree>
  </p:cSld>
  <p:clrMapOvr>
    <a:masterClrMapping/>
  </p:clrMapOvr>
  <p:transition>
    <p:wipe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229600" cy="838200"/>
          </a:xfrm>
        </p:spPr>
        <p:style>
          <a:lnRef idx="1">
            <a:schemeClr val="accent2"/>
          </a:lnRef>
          <a:fillRef idx="2">
            <a:schemeClr val="accent2"/>
          </a:fillRef>
          <a:effectRef idx="1">
            <a:schemeClr val="accent2"/>
          </a:effectRef>
          <a:fontRef idx="minor">
            <a:schemeClr val="dk1"/>
          </a:fontRef>
        </p:style>
        <p:txBody>
          <a:bodyPr/>
          <a:lstStyle/>
          <a:p>
            <a:r>
              <a:rPr lang="en-IN" b="1" dirty="0">
                <a:solidFill>
                  <a:schemeClr val="tx2"/>
                </a:solidFill>
                <a:latin typeface="Bookman Old Style" pitchFamily="18" charset="0"/>
              </a:rPr>
              <a:t>INTRODUCTION</a:t>
            </a:r>
            <a:endParaRPr lang="en-US" b="1" dirty="0">
              <a:solidFill>
                <a:schemeClr val="tx2"/>
              </a:solidFill>
              <a:latin typeface="Bookman Old Style" pitchFamily="18" charset="0"/>
            </a:endParaRPr>
          </a:p>
        </p:txBody>
      </p:sp>
      <p:sp>
        <p:nvSpPr>
          <p:cNvPr id="3" name="Content Placeholder 2"/>
          <p:cNvSpPr>
            <a:spLocks noGrp="1"/>
          </p:cNvSpPr>
          <p:nvPr>
            <p:ph idx="1"/>
          </p:nvPr>
        </p:nvSpPr>
        <p:spPr>
          <a:xfrm>
            <a:off x="152400" y="1219200"/>
            <a:ext cx="8763000" cy="5638800"/>
          </a:xfrm>
        </p:spPr>
        <p:txBody>
          <a:bodyPr>
            <a:normAutofit fontScale="85000" lnSpcReduction="20000"/>
          </a:bodyPr>
          <a:lstStyle/>
          <a:p>
            <a:pPr>
              <a:buNone/>
            </a:pPr>
            <a:r>
              <a:rPr lang="en-US" sz="2200" b="1" dirty="0" smtClean="0">
                <a:latin typeface="Bookman Old Style" pitchFamily="18" charset="0"/>
              </a:rPr>
              <a:t>CONCEPT</a:t>
            </a:r>
            <a:endParaRPr lang="en-US" sz="2200" dirty="0">
              <a:latin typeface="Bookman Old Style" pitchFamily="18" charset="0"/>
            </a:endParaRPr>
          </a:p>
          <a:p>
            <a:pPr>
              <a:buFont typeface="Wingdings" pitchFamily="2" charset="2"/>
              <a:buChar char="Ø"/>
            </a:pPr>
            <a:r>
              <a:rPr lang="en-US" sz="2600" dirty="0"/>
              <a:t>Diabetes is an extremely common chronic disease from which nearly 8.5 percent of </a:t>
            </a:r>
            <a:r>
              <a:rPr lang="en-US" sz="2600" dirty="0" smtClean="0"/>
              <a:t>the world </a:t>
            </a:r>
            <a:r>
              <a:rPr lang="en-US" sz="2600" dirty="0"/>
              <a:t>population suffer; 422 million people worldwide have to struggle with </a:t>
            </a:r>
            <a:r>
              <a:rPr lang="en-US" sz="2600" dirty="0" smtClean="0"/>
              <a:t>diabetes.</a:t>
            </a:r>
          </a:p>
          <a:p>
            <a:pPr>
              <a:buFont typeface="Wingdings" pitchFamily="2" charset="2"/>
              <a:buChar char="Ø"/>
            </a:pPr>
            <a:r>
              <a:rPr lang="en-US" sz="2600" dirty="0" smtClean="0"/>
              <a:t>It </a:t>
            </a:r>
            <a:r>
              <a:rPr lang="en-US" sz="2600" dirty="0"/>
              <a:t>is crucial to note that type 2 diabetes mellitus makes up about 90 percent of the </a:t>
            </a:r>
            <a:r>
              <a:rPr lang="en-US" sz="2600" dirty="0" smtClean="0"/>
              <a:t>cases</a:t>
            </a:r>
          </a:p>
          <a:p>
            <a:pPr>
              <a:buFont typeface="Wingdings" pitchFamily="2" charset="2"/>
              <a:buChar char="Ø"/>
            </a:pPr>
            <a:r>
              <a:rPr lang="en-US" sz="2600" dirty="0" smtClean="0"/>
              <a:t> More </a:t>
            </a:r>
            <a:r>
              <a:rPr lang="en-US" sz="2600" dirty="0"/>
              <a:t>critically, the situation will be worse, as reported in </a:t>
            </a:r>
            <a:r>
              <a:rPr lang="en-US" sz="2600" dirty="0" smtClean="0"/>
              <a:t> </a:t>
            </a:r>
            <a:r>
              <a:rPr lang="en-US" sz="2600" dirty="0"/>
              <a:t>with more teenagers and youth becoming susceptible to diabetes as well</a:t>
            </a:r>
            <a:r>
              <a:rPr lang="en-US" sz="2600" dirty="0" smtClean="0"/>
              <a:t>.</a:t>
            </a:r>
          </a:p>
          <a:p>
            <a:pPr>
              <a:buFont typeface="Wingdings" pitchFamily="2" charset="2"/>
              <a:buChar char="Ø"/>
            </a:pPr>
            <a:r>
              <a:rPr lang="en-US" sz="2600" dirty="0" smtClean="0"/>
              <a:t> </a:t>
            </a:r>
            <a:r>
              <a:rPr lang="en-US" sz="2600" dirty="0"/>
              <a:t>Due to the fact that diabetes has a huge impact on global well being and economy, it is urgent to improve methods for the prevention and treatment of </a:t>
            </a:r>
            <a:r>
              <a:rPr lang="en-US" sz="2600" dirty="0" smtClean="0"/>
              <a:t>diabetes</a:t>
            </a:r>
            <a:r>
              <a:rPr lang="en-US" sz="2000" dirty="0" smtClean="0"/>
              <a:t>. </a:t>
            </a:r>
            <a:endParaRPr lang="en-US" sz="2000" dirty="0"/>
          </a:p>
          <a:p>
            <a:pPr>
              <a:buNone/>
            </a:pPr>
            <a:r>
              <a:rPr lang="en-US" sz="2200" b="1" dirty="0" smtClean="0">
                <a:latin typeface="Bookman Old Style" pitchFamily="18" charset="0"/>
              </a:rPr>
              <a:t>PROBLEM SOLUTION</a:t>
            </a:r>
            <a:endParaRPr lang="en-US" sz="2200" dirty="0">
              <a:latin typeface="Bookman Old Style" pitchFamily="18" charset="0"/>
            </a:endParaRPr>
          </a:p>
          <a:p>
            <a:r>
              <a:rPr lang="en-US" sz="2800" dirty="0"/>
              <a:t>To solve the above problems, in this article, we first propose a next generation diabetes solution called the 5G-Smart Diabetes </a:t>
            </a:r>
            <a:r>
              <a:rPr lang="en-US" sz="2800" dirty="0" smtClean="0"/>
              <a:t>system</a:t>
            </a:r>
          </a:p>
          <a:p>
            <a:r>
              <a:rPr lang="en-US" sz="2800" dirty="0" smtClean="0"/>
              <a:t> </a:t>
            </a:r>
            <a:r>
              <a:rPr lang="en-US" sz="2800" dirty="0"/>
              <a:t>which integrates novel technologies including fifth generation (5G) mobile networks, machine learning, medical big data, social networking, smart clothing </a:t>
            </a:r>
            <a:r>
              <a:rPr lang="en-US" sz="2800" dirty="0" smtClean="0"/>
              <a:t>, </a:t>
            </a:r>
            <a:r>
              <a:rPr lang="en-US" sz="2800" dirty="0"/>
              <a:t>and so on. </a:t>
            </a:r>
          </a:p>
          <a:p>
            <a:endParaRPr lang="en-US" sz="2400" dirty="0">
              <a:latin typeface="Bookman Old Style" pitchFamily="18" charset="0"/>
            </a:endParaRPr>
          </a:p>
          <a:p>
            <a:pPr>
              <a:buNone/>
            </a:pPr>
            <a:endParaRPr lang="en-US" dirty="0"/>
          </a:p>
        </p:txBody>
      </p:sp>
    </p:spTree>
  </p:cSld>
  <p:clrMapOvr>
    <a:masterClrMapping/>
  </p:clrMapOvr>
  <p:transition>
    <p:push/>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28600"/>
            <a:ext cx="7764615" cy="771508"/>
          </a:xfrm>
        </p:spPr>
        <p:style>
          <a:lnRef idx="2">
            <a:schemeClr val="dk1"/>
          </a:lnRef>
          <a:fillRef idx="1">
            <a:schemeClr val="lt1"/>
          </a:fillRef>
          <a:effectRef idx="0">
            <a:schemeClr val="dk1"/>
          </a:effectRef>
          <a:fontRef idx="minor">
            <a:schemeClr val="dk1"/>
          </a:fontRef>
        </p:style>
        <p:txBody>
          <a:bodyPr>
            <a:normAutofit/>
          </a:bodyPr>
          <a:lstStyle/>
          <a:p>
            <a:r>
              <a:rPr lang="en-IN" b="1" dirty="0">
                <a:latin typeface="Bookman Old Style" pitchFamily="18" charset="0"/>
              </a:rPr>
              <a:t>INTRODUCTION</a:t>
            </a:r>
            <a:endParaRPr lang="en-US" b="1" dirty="0">
              <a:latin typeface="Bookman Old Style" pitchFamily="18" charset="0"/>
            </a:endParaRPr>
          </a:p>
        </p:txBody>
      </p:sp>
      <p:sp>
        <p:nvSpPr>
          <p:cNvPr id="3" name="Content Placeholder 2"/>
          <p:cNvSpPr>
            <a:spLocks noGrp="1"/>
          </p:cNvSpPr>
          <p:nvPr>
            <p:ph idx="1"/>
          </p:nvPr>
        </p:nvSpPr>
        <p:spPr>
          <a:xfrm>
            <a:off x="457200" y="1600200"/>
            <a:ext cx="8229600" cy="4953000"/>
          </a:xfrm>
        </p:spPr>
        <p:txBody>
          <a:bodyPr>
            <a:normAutofit fontScale="25000" lnSpcReduction="20000"/>
          </a:bodyPr>
          <a:lstStyle/>
          <a:p>
            <a:pPr>
              <a:buNone/>
            </a:pPr>
            <a:r>
              <a:rPr lang="en-US" sz="9600" b="1" dirty="0">
                <a:latin typeface="Bookman Old Style" pitchFamily="18" charset="0"/>
              </a:rPr>
              <a:t>OBJECTIVE OF PROJECT </a:t>
            </a:r>
            <a:r>
              <a:rPr lang="en-US" sz="9600" b="1" dirty="0" smtClean="0">
                <a:latin typeface="Bookman Old Style" pitchFamily="18" charset="0"/>
              </a:rPr>
              <a:t>:</a:t>
            </a:r>
            <a:endParaRPr lang="en-US" sz="9600" dirty="0">
              <a:latin typeface="Bookman Old Style" pitchFamily="18" charset="0"/>
            </a:endParaRPr>
          </a:p>
          <a:p>
            <a:r>
              <a:rPr lang="en-US" sz="9600" dirty="0">
                <a:latin typeface="+mj-lt"/>
              </a:rPr>
              <a:t>This </a:t>
            </a:r>
            <a:r>
              <a:rPr lang="en-US" sz="9600" dirty="0" smtClean="0">
                <a:latin typeface="+mj-lt"/>
              </a:rPr>
              <a:t>project </a:t>
            </a:r>
            <a:r>
              <a:rPr lang="en-US" sz="9600" dirty="0">
                <a:latin typeface="+mj-lt"/>
              </a:rPr>
              <a:t>focuses on predicting the </a:t>
            </a:r>
            <a:r>
              <a:rPr lang="en-US" sz="9600" dirty="0" smtClean="0">
                <a:latin typeface="+mj-lt"/>
              </a:rPr>
              <a:t>diabetes</a:t>
            </a:r>
            <a:r>
              <a:rPr lang="en-US" sz="9600" dirty="0" smtClean="0">
                <a:latin typeface="+mj-lt"/>
              </a:rPr>
              <a:t> </a:t>
            </a:r>
            <a:r>
              <a:rPr lang="en-US" sz="9600" dirty="0">
                <a:latin typeface="+mj-lt"/>
              </a:rPr>
              <a:t>of the </a:t>
            </a:r>
            <a:r>
              <a:rPr lang="en-US" sz="9600" dirty="0" smtClean="0">
                <a:latin typeface="+mj-lt"/>
              </a:rPr>
              <a:t>person </a:t>
            </a:r>
            <a:r>
              <a:rPr lang="en-US" sz="9600" dirty="0" smtClean="0">
                <a:latin typeface="+mj-lt"/>
              </a:rPr>
              <a:t>by </a:t>
            </a:r>
            <a:r>
              <a:rPr lang="en-US" sz="9600" dirty="0">
                <a:latin typeface="+mj-lt"/>
              </a:rPr>
              <a:t>applying various machine learning techniques. </a:t>
            </a:r>
          </a:p>
          <a:p>
            <a:r>
              <a:rPr lang="en-US" sz="8000" dirty="0" smtClean="0"/>
              <a:t> </a:t>
            </a:r>
            <a:r>
              <a:rPr lang="en-US" sz="9600" dirty="0"/>
              <a:t>we first propose the 5G-Smart Diabetes system, which combines the state-of-the-art technologies such as wearable 2.0, machine learning, and big data to generate comprehensive sensing and analysis for patients suffering from diabetes. </a:t>
            </a:r>
            <a:endParaRPr lang="en-US" sz="9600" dirty="0" smtClean="0"/>
          </a:p>
          <a:p>
            <a:r>
              <a:rPr lang="en-US" sz="9600" dirty="0" smtClean="0"/>
              <a:t>Then </a:t>
            </a:r>
            <a:r>
              <a:rPr lang="en-US" sz="9600" dirty="0"/>
              <a:t>we present the data sharing mechanism and personalized data analysis model for 5G-Smart Diabetes. </a:t>
            </a:r>
            <a:endParaRPr lang="en-US" sz="9600" dirty="0" smtClean="0"/>
          </a:p>
          <a:p>
            <a:r>
              <a:rPr lang="en-US" sz="9600" dirty="0" smtClean="0"/>
              <a:t>Finally</a:t>
            </a:r>
            <a:r>
              <a:rPr lang="en-US" sz="9600" dirty="0"/>
              <a:t>, we build a 5G-Smart Diabetes </a:t>
            </a:r>
            <a:r>
              <a:rPr lang="en-US" sz="9600" dirty="0" err="1"/>
              <a:t>testbed</a:t>
            </a:r>
            <a:r>
              <a:rPr lang="en-US" sz="9600" dirty="0"/>
              <a:t> that includes smart clothing, </a:t>
            </a:r>
            <a:r>
              <a:rPr lang="en-US" sz="9600" dirty="0" err="1"/>
              <a:t>smartphone</a:t>
            </a:r>
            <a:r>
              <a:rPr lang="en-US" sz="9600" dirty="0"/>
              <a:t>, and big data clouds. </a:t>
            </a:r>
            <a:endParaRPr lang="en-US" sz="9600" dirty="0" smtClean="0"/>
          </a:p>
          <a:p>
            <a:r>
              <a:rPr lang="en-US" sz="9600" dirty="0"/>
              <a:t>t</a:t>
            </a:r>
            <a:r>
              <a:rPr lang="en-US" sz="9600" dirty="0" smtClean="0"/>
              <a:t>he </a:t>
            </a:r>
            <a:r>
              <a:rPr lang="en-US" sz="9600" dirty="0"/>
              <a:t>experimental results show that our system can effectively provide personalized diagnosis and treatment suggestions to patients.</a:t>
            </a:r>
          </a:p>
          <a:p>
            <a:endParaRPr lang="en-US" sz="9600" dirty="0"/>
          </a:p>
        </p:txBody>
      </p:sp>
    </p:spTree>
  </p:cSld>
  <p:clrMapOvr>
    <a:masterClrMapping/>
  </p:clrMapOvr>
  <p:transition>
    <p:zoom dir="in"/>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style>
          <a:lnRef idx="0">
            <a:schemeClr val="accent1"/>
          </a:lnRef>
          <a:fillRef idx="3">
            <a:schemeClr val="accent1"/>
          </a:fillRef>
          <a:effectRef idx="3">
            <a:schemeClr val="accent1"/>
          </a:effectRef>
          <a:fontRef idx="minor">
            <a:schemeClr val="lt1"/>
          </a:fontRef>
        </p:style>
        <p:txBody>
          <a:bodyPr/>
          <a:lstStyle/>
          <a:p>
            <a:r>
              <a:rPr lang="en-IN" b="1" dirty="0">
                <a:latin typeface="Bookman Old Style" pitchFamily="18" charset="0"/>
              </a:rPr>
              <a:t>SYSTEM ANALYSIS</a:t>
            </a:r>
            <a:endParaRPr lang="en-US" b="1" dirty="0">
              <a:latin typeface="Bookman Old Style" pitchFamily="18" charset="0"/>
            </a:endParaRPr>
          </a:p>
        </p:txBody>
      </p:sp>
      <p:sp>
        <p:nvSpPr>
          <p:cNvPr id="3" name="Content Placeholder 2"/>
          <p:cNvSpPr>
            <a:spLocks noGrp="1"/>
          </p:cNvSpPr>
          <p:nvPr>
            <p:ph idx="1"/>
          </p:nvPr>
        </p:nvSpPr>
        <p:spPr>
          <a:xfrm>
            <a:off x="381000" y="1371600"/>
            <a:ext cx="8543956" cy="5181600"/>
          </a:xfrm>
        </p:spPr>
        <p:txBody>
          <a:bodyPr>
            <a:normAutofit fontScale="25000" lnSpcReduction="20000"/>
          </a:bodyPr>
          <a:lstStyle/>
          <a:p>
            <a:pPr>
              <a:buNone/>
            </a:pPr>
            <a:r>
              <a:rPr lang="en-US" sz="9600" b="1" dirty="0">
                <a:solidFill>
                  <a:srgbClr val="FF0000"/>
                </a:solidFill>
                <a:latin typeface="Bookman Old Style" pitchFamily="18" charset="0"/>
              </a:rPr>
              <a:t>EXISTING SYSTEM</a:t>
            </a:r>
            <a:r>
              <a:rPr lang="en-US" sz="9600" b="1" dirty="0" smtClean="0">
                <a:solidFill>
                  <a:srgbClr val="FF0000"/>
                </a:solidFill>
                <a:latin typeface="Bookman Old Style" pitchFamily="18" charset="0"/>
              </a:rPr>
              <a:t>:</a:t>
            </a:r>
          </a:p>
          <a:p>
            <a:r>
              <a:rPr lang="en-US" sz="11200" dirty="0">
                <a:latin typeface="+mj-lt"/>
              </a:rPr>
              <a:t>As there is no staff available in unmanned restaurants, it is difficult for the restaurant management to estimate how the concept and the food is experienced by the customers. Existing</a:t>
            </a:r>
          </a:p>
          <a:p>
            <a:r>
              <a:rPr lang="en-US" sz="11200" dirty="0">
                <a:latin typeface="+mj-lt"/>
              </a:rPr>
              <a:t>T</a:t>
            </a:r>
            <a:r>
              <a:rPr lang="en-US" sz="11200" dirty="0" smtClean="0">
                <a:latin typeface="+mj-lt"/>
              </a:rPr>
              <a:t>he rating </a:t>
            </a:r>
            <a:r>
              <a:rPr lang="en-US" sz="11200" dirty="0">
                <a:latin typeface="+mj-lt"/>
              </a:rPr>
              <a:t>systems, such as Google and </a:t>
            </a:r>
            <a:r>
              <a:rPr lang="en-US" sz="11200" dirty="0" smtClean="0">
                <a:latin typeface="+mj-lt"/>
              </a:rPr>
              <a:t>Trip Advisor</a:t>
            </a:r>
            <a:r>
              <a:rPr lang="en-US" sz="11200" dirty="0">
                <a:latin typeface="+mj-lt"/>
              </a:rPr>
              <a:t>, only partially solve this problem, as they only cover a part of the customer’s opinions. </a:t>
            </a:r>
            <a:endParaRPr lang="en-US" sz="11200" dirty="0" smtClean="0">
              <a:latin typeface="+mj-lt"/>
            </a:endParaRPr>
          </a:p>
          <a:p>
            <a:r>
              <a:rPr lang="en-US" sz="11200" dirty="0" smtClean="0"/>
              <a:t>These </a:t>
            </a:r>
            <a:r>
              <a:rPr lang="en-US" sz="11200" dirty="0"/>
              <a:t>rating systems are only used by a subset of the customers who rate the restaurant on independent rating platforms on their own initiative. </a:t>
            </a:r>
            <a:endParaRPr lang="en-US" sz="11200" dirty="0" smtClean="0"/>
          </a:p>
          <a:p>
            <a:r>
              <a:rPr lang="en-US" sz="11200" dirty="0" smtClean="0"/>
              <a:t>This </a:t>
            </a:r>
            <a:r>
              <a:rPr lang="en-US" sz="11200" dirty="0"/>
              <a:t>applies mainly to customers who experience their visit as very positive or negative.</a:t>
            </a:r>
          </a:p>
          <a:p>
            <a:pPr>
              <a:buNone/>
            </a:pPr>
            <a:endParaRPr lang="en-US" sz="11200" dirty="0"/>
          </a:p>
        </p:txBody>
      </p:sp>
    </p:spTree>
  </p:cSld>
  <p:clrMapOvr>
    <a:masterClrMapping/>
  </p:clrMapOvr>
  <p:transition>
    <p:diamon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3">
            <a:schemeClr val="lt1"/>
          </a:lnRef>
          <a:fillRef idx="1">
            <a:schemeClr val="accent2"/>
          </a:fillRef>
          <a:effectRef idx="1">
            <a:schemeClr val="accent2"/>
          </a:effectRef>
          <a:fontRef idx="minor">
            <a:schemeClr val="lt1"/>
          </a:fontRef>
        </p:style>
        <p:txBody>
          <a:bodyPr/>
          <a:lstStyle/>
          <a:p>
            <a:r>
              <a:rPr lang="en-IN" b="1" dirty="0">
                <a:latin typeface="Bookman Old Style" pitchFamily="18" charset="0"/>
              </a:rPr>
              <a:t>SYSTEM ANALYSIS</a:t>
            </a:r>
            <a:endParaRPr lang="en-US" dirty="0"/>
          </a:p>
        </p:txBody>
      </p:sp>
      <p:sp>
        <p:nvSpPr>
          <p:cNvPr id="3" name="Content Placeholder 2"/>
          <p:cNvSpPr>
            <a:spLocks noGrp="1"/>
          </p:cNvSpPr>
          <p:nvPr>
            <p:ph idx="1"/>
          </p:nvPr>
        </p:nvSpPr>
        <p:spPr/>
        <p:txBody>
          <a:bodyPr>
            <a:normAutofit fontScale="85000" lnSpcReduction="10000"/>
          </a:bodyPr>
          <a:lstStyle/>
          <a:p>
            <a:pPr>
              <a:buNone/>
            </a:pPr>
            <a:r>
              <a:rPr lang="en-US" b="1" dirty="0">
                <a:solidFill>
                  <a:srgbClr val="92D050"/>
                </a:solidFill>
                <a:latin typeface="Bookman Old Style" pitchFamily="18" charset="0"/>
              </a:rPr>
              <a:t>PROPOSED SYSTEM:</a:t>
            </a:r>
            <a:endParaRPr lang="en-US" dirty="0">
              <a:solidFill>
                <a:srgbClr val="92D050"/>
              </a:solidFill>
              <a:latin typeface="Bookman Old Style" pitchFamily="18" charset="0"/>
            </a:endParaRPr>
          </a:p>
          <a:p>
            <a:r>
              <a:rPr lang="en-US" dirty="0"/>
              <a:t>In order to solve the above problem, all customers must be motivated to give a rating. This paper</a:t>
            </a:r>
          </a:p>
          <a:p>
            <a:r>
              <a:rPr lang="en-US" dirty="0"/>
              <a:t>introduces an approach for a restaurant rating system that asks every customer for a rating after their visit to increase the number of ratings as much as </a:t>
            </a:r>
            <a:r>
              <a:rPr lang="en-US" dirty="0" smtClean="0"/>
              <a:t>possible.</a:t>
            </a:r>
          </a:p>
          <a:p>
            <a:r>
              <a:rPr lang="en-US" dirty="0" smtClean="0"/>
              <a:t>This </a:t>
            </a:r>
            <a:r>
              <a:rPr lang="en-US" dirty="0"/>
              <a:t>system can be used unmanned restaurants; the scoring system is based on facial expression detection using </a:t>
            </a:r>
            <a:r>
              <a:rPr lang="en-US" dirty="0" err="1"/>
              <a:t>pretrained</a:t>
            </a:r>
            <a:r>
              <a:rPr lang="en-US" dirty="0"/>
              <a:t> </a:t>
            </a:r>
            <a:r>
              <a:rPr lang="en-US" dirty="0" err="1"/>
              <a:t>convolutional</a:t>
            </a:r>
            <a:r>
              <a:rPr lang="en-US" dirty="0"/>
              <a:t> neural network (CNN) models</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style>
          <a:lnRef idx="2">
            <a:schemeClr val="accent5"/>
          </a:lnRef>
          <a:fillRef idx="1">
            <a:schemeClr val="lt1"/>
          </a:fillRef>
          <a:effectRef idx="0">
            <a:schemeClr val="accent5"/>
          </a:effectRef>
          <a:fontRef idx="minor">
            <a:schemeClr val="dk1"/>
          </a:fontRef>
        </p:style>
        <p:txBody>
          <a:bodyPr/>
          <a:lstStyle/>
          <a:p>
            <a:r>
              <a:rPr lang="en-IN" b="1" dirty="0">
                <a:solidFill>
                  <a:schemeClr val="accent4">
                    <a:lumMod val="50000"/>
                  </a:schemeClr>
                </a:solidFill>
                <a:latin typeface="Bodoni MT Black" pitchFamily="18" charset="0"/>
              </a:rPr>
              <a:t>SYSTEM ANALYSIS</a:t>
            </a:r>
            <a:endParaRPr lang="en-US" dirty="0">
              <a:solidFill>
                <a:schemeClr val="accent4">
                  <a:lumMod val="50000"/>
                </a:schemeClr>
              </a:solidFill>
              <a:latin typeface="Bodoni MT Black" pitchFamily="18" charset="0"/>
            </a:endParaRPr>
          </a:p>
        </p:txBody>
      </p:sp>
      <p:sp>
        <p:nvSpPr>
          <p:cNvPr id="3" name="Content Placeholder 2"/>
          <p:cNvSpPr>
            <a:spLocks noGrp="1"/>
          </p:cNvSpPr>
          <p:nvPr>
            <p:ph idx="1"/>
          </p:nvPr>
        </p:nvSpPr>
        <p:spPr>
          <a:xfrm>
            <a:off x="1071537" y="1357299"/>
            <a:ext cx="7929619" cy="4768865"/>
          </a:xfrm>
        </p:spPr>
        <p:txBody>
          <a:bodyPr>
            <a:normAutofit/>
          </a:bodyPr>
          <a:lstStyle/>
          <a:p>
            <a:pPr>
              <a:buNone/>
            </a:pPr>
            <a:r>
              <a:rPr lang="en-IN" sz="2800" b="1" dirty="0">
                <a:solidFill>
                  <a:schemeClr val="tx2">
                    <a:lumMod val="60000"/>
                    <a:lumOff val="40000"/>
                  </a:schemeClr>
                </a:solidFill>
                <a:latin typeface="Bookman Old Style" pitchFamily="18" charset="0"/>
              </a:rPr>
              <a:t>ADVANTAGES OF PROPOSED SYSTEM:</a:t>
            </a:r>
            <a:endParaRPr lang="en-US" sz="2800" b="1" dirty="0">
              <a:solidFill>
                <a:schemeClr val="tx2">
                  <a:lumMod val="60000"/>
                  <a:lumOff val="40000"/>
                </a:schemeClr>
              </a:solidFill>
              <a:latin typeface="Bookman Old Style" pitchFamily="18" charset="0"/>
            </a:endParaRPr>
          </a:p>
          <a:p>
            <a:pPr>
              <a:buFont typeface="Courier New" pitchFamily="49" charset="0"/>
              <a:buChar char="o"/>
            </a:pPr>
            <a:r>
              <a:rPr lang="en-US" dirty="0" smtClean="0"/>
              <a:t>Smartness</a:t>
            </a:r>
          </a:p>
          <a:p>
            <a:pPr>
              <a:buFont typeface="Courier New" pitchFamily="49" charset="0"/>
              <a:buChar char="o"/>
            </a:pPr>
            <a:r>
              <a:rPr lang="en-US" dirty="0" smtClean="0"/>
              <a:t>With </a:t>
            </a:r>
            <a:r>
              <a:rPr lang="en-US" dirty="0"/>
              <a:t>cognitive intelligence toward patients' status </a:t>
            </a:r>
            <a:endParaRPr lang="en-US" dirty="0" smtClean="0"/>
          </a:p>
          <a:p>
            <a:pPr>
              <a:buFont typeface="Courier New" pitchFamily="49" charset="0"/>
              <a:buChar char="o"/>
            </a:pPr>
            <a:r>
              <a:rPr lang="en-US" dirty="0" smtClean="0"/>
              <a:t>network resources</a:t>
            </a:r>
          </a:p>
          <a:p>
            <a:pPr>
              <a:buFont typeface="Courier New" pitchFamily="49" charset="0"/>
              <a:buChar char="o"/>
            </a:pPr>
            <a:r>
              <a:rPr lang="en-US" dirty="0" smtClean="0"/>
              <a:t> </a:t>
            </a:r>
            <a:r>
              <a:rPr lang="en-US" dirty="0"/>
              <a:t>5G-Smart Diabetes achieves early detection and prevention of diabetes and provides personalized treatment to patients.</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solidFill>
            <a:schemeClr val="bg1">
              <a:lumMod val="95000"/>
            </a:schemeClr>
          </a:solidFill>
        </p:spPr>
        <p:style>
          <a:lnRef idx="0">
            <a:schemeClr val="accent4"/>
          </a:lnRef>
          <a:fillRef idx="3">
            <a:schemeClr val="accent4"/>
          </a:fillRef>
          <a:effectRef idx="3">
            <a:schemeClr val="accent4"/>
          </a:effectRef>
          <a:fontRef idx="minor">
            <a:schemeClr val="lt1"/>
          </a:fontRef>
        </p:style>
        <p:txBody>
          <a:bodyPr/>
          <a:lstStyle/>
          <a:p>
            <a:r>
              <a:rPr lang="en-US" b="1" dirty="0" smtClean="0">
                <a:latin typeface="Bookman Old Style" pitchFamily="18" charset="0"/>
              </a:rPr>
              <a:t> </a:t>
            </a:r>
            <a:r>
              <a:rPr lang="en-US" b="1" dirty="0" smtClean="0">
                <a:solidFill>
                  <a:schemeClr val="tx1"/>
                </a:solidFill>
                <a:latin typeface="Bookman Old Style" pitchFamily="18" charset="0"/>
              </a:rPr>
              <a:t>SYSTEM ARCHITECTURE</a:t>
            </a:r>
            <a:endParaRPr lang="en-US" dirty="0">
              <a:solidFill>
                <a:schemeClr val="tx1"/>
              </a:solidFill>
            </a:endParaRPr>
          </a:p>
        </p:txBody>
      </p:sp>
      <p:sp>
        <p:nvSpPr>
          <p:cNvPr id="6" name="Content Placeholder 5"/>
          <p:cNvSpPr>
            <a:spLocks noGrp="1"/>
          </p:cNvSpPr>
          <p:nvPr>
            <p:ph idx="1"/>
          </p:nvPr>
        </p:nvSpPr>
        <p:spPr>
          <a:xfrm>
            <a:off x="1142977" y="1527048"/>
            <a:ext cx="7786743" cy="4830910"/>
          </a:xfrm>
        </p:spPr>
        <p:txBody>
          <a:bodyPr>
            <a:normAutofit/>
          </a:bodyPr>
          <a:lstStyle/>
          <a:p>
            <a:pPr>
              <a:buNone/>
            </a:pPr>
            <a:endParaRPr lang="en-IN" dirty="0"/>
          </a:p>
          <a:p>
            <a:pPr>
              <a:buNone/>
            </a:pPr>
            <a:endParaRPr lang="en-IN" dirty="0"/>
          </a:p>
          <a:p>
            <a:pPr>
              <a:buNone/>
            </a:pPr>
            <a:endParaRPr lang="en-IN" dirty="0"/>
          </a:p>
          <a:p>
            <a:pPr>
              <a:buNone/>
            </a:pPr>
            <a:endParaRPr lang="en-IN" dirty="0"/>
          </a:p>
        </p:txBody>
      </p:sp>
      <p:pic>
        <p:nvPicPr>
          <p:cNvPr id="7" name="Picture 6"/>
          <p:cNvPicPr/>
          <p:nvPr/>
        </p:nvPicPr>
        <p:blipFill>
          <a:blip r:embed="rId2">
            <a:extLst>
              <a:ext uri="{28A0092B-C50C-407E-A947-70E740481C1C}">
                <a14:useLocalDpi xmlns=""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mc="http://schemas.openxmlformats.org/markup-compatibility/2006" xmlns:aink="http://schemas.microsoft.com/office/drawing/2016/ink" xmlns:am3d="http://schemas.microsoft.com/office/drawing/2017/model3d" xmlns:o="urn:schemas-microsoft-com:office:office" xmlns:m="http://schemas.openxmlformats.org/officeDocument/2006/math"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a14="http://schemas.microsoft.com/office/drawing/2010/main" xmlns:pic="http://schemas.openxmlformats.org/drawingml/2006/picture" xmlns:lc="http://schemas.openxmlformats.org/drawingml/2006/lockedCanvas" val="0"/>
              </a:ext>
            </a:extLst>
          </a:blip>
          <a:srcRect/>
          <a:stretch>
            <a:fillRect/>
          </a:stretch>
        </p:blipFill>
        <p:spPr bwMode="auto">
          <a:xfrm>
            <a:off x="1143000" y="1524000"/>
            <a:ext cx="7010400" cy="5029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latin typeface="Bookman Old Style" pitchFamily="18" charset="0"/>
              </a:rPr>
              <a:t>MODULES</a:t>
            </a:r>
            <a:r>
              <a:rPr lang="en-US" b="1" dirty="0"/>
              <a:t>:</a:t>
            </a:r>
            <a:endParaRPr lang="en-US" dirty="0"/>
          </a:p>
        </p:txBody>
      </p:sp>
      <p:sp>
        <p:nvSpPr>
          <p:cNvPr id="3" name="Content Placeholder 2"/>
          <p:cNvSpPr>
            <a:spLocks noGrp="1"/>
          </p:cNvSpPr>
          <p:nvPr>
            <p:ph idx="1"/>
          </p:nvPr>
        </p:nvSpPr>
        <p:spPr/>
        <p:txBody>
          <a:bodyPr>
            <a:normAutofit fontScale="70000" lnSpcReduction="20000"/>
          </a:bodyPr>
          <a:lstStyle/>
          <a:p>
            <a:r>
              <a:rPr lang="en-US" sz="3100" b="1" dirty="0" smtClean="0">
                <a:latin typeface="Bookman Old Style" pitchFamily="18" charset="0"/>
              </a:rPr>
              <a:t>Upload  5G smart  Diabetes:</a:t>
            </a:r>
            <a:endParaRPr lang="en-US" sz="3100" dirty="0" smtClean="0">
              <a:latin typeface="Bookman Old Style" pitchFamily="18" charset="0"/>
            </a:endParaRPr>
          </a:p>
          <a:p>
            <a:pPr>
              <a:buNone/>
            </a:pPr>
            <a:r>
              <a:rPr lang="en-US" sz="3100" dirty="0" smtClean="0">
                <a:latin typeface="Bookman Old Style" pitchFamily="18" charset="0"/>
              </a:rPr>
              <a:t>    </a:t>
            </a:r>
            <a:r>
              <a:rPr lang="en-US" dirty="0" smtClean="0"/>
              <a:t>we </a:t>
            </a:r>
            <a:r>
              <a:rPr lang="en-US" dirty="0"/>
              <a:t>present the data sharing mechanism and personalized data analysis model for 5G-Smart Diabetes</a:t>
            </a:r>
            <a:r>
              <a:rPr lang="en-US" dirty="0" smtClean="0">
                <a:latin typeface="Bookman Old Style" pitchFamily="18" charset="0"/>
              </a:rPr>
              <a:t> </a:t>
            </a:r>
          </a:p>
          <a:p>
            <a:r>
              <a:rPr lang="en-US" sz="3100" b="1" dirty="0" smtClean="0">
                <a:latin typeface="Bookman Old Style" pitchFamily="18" charset="0"/>
              </a:rPr>
              <a:t>Preprocess Dataset</a:t>
            </a:r>
            <a:endParaRPr lang="en-US" sz="3100" dirty="0" smtClean="0">
              <a:latin typeface="Bookman Old Style" pitchFamily="18" charset="0"/>
            </a:endParaRPr>
          </a:p>
          <a:p>
            <a:pPr>
              <a:buNone/>
            </a:pPr>
            <a:r>
              <a:rPr lang="en-US" sz="3100" dirty="0" smtClean="0">
                <a:latin typeface="Bookman Old Style" pitchFamily="18" charset="0"/>
              </a:rPr>
              <a:t>     Experiments were conducted on Indian government dataset and gives the highest yield prediction accuracy</a:t>
            </a:r>
          </a:p>
          <a:p>
            <a:r>
              <a:rPr lang="en-US" sz="3100" b="1" dirty="0" smtClean="0">
                <a:latin typeface="Bookman Old Style" pitchFamily="18" charset="0"/>
              </a:rPr>
              <a:t>Train Machine Learning</a:t>
            </a:r>
            <a:endParaRPr lang="en-US" sz="3100" dirty="0" smtClean="0">
              <a:latin typeface="Bookman Old Style" pitchFamily="18" charset="0"/>
            </a:endParaRPr>
          </a:p>
          <a:p>
            <a:pPr>
              <a:buNone/>
            </a:pPr>
            <a:r>
              <a:rPr lang="en-US" sz="3100" dirty="0" smtClean="0">
                <a:latin typeface="Bookman Old Style" pitchFamily="18" charset="0"/>
              </a:rPr>
              <a:t>    This focuses on district wise yield prediction according to the crop sown in the district. Yield is being predicted for given crops district wise and crops with best yield.</a:t>
            </a:r>
          </a:p>
          <a:p>
            <a:r>
              <a:rPr lang="en-US" sz="3100" b="1" dirty="0" smtClean="0">
                <a:latin typeface="Bookman Old Style" pitchFamily="18" charset="0"/>
              </a:rPr>
              <a:t>Upload Test Data &amp;Predict Yield</a:t>
            </a:r>
            <a:endParaRPr lang="en-US" sz="3100" dirty="0" smtClean="0">
              <a:latin typeface="Bookman Old Style" pitchFamily="18" charset="0"/>
            </a:endParaRPr>
          </a:p>
          <a:p>
            <a:pPr>
              <a:buNone/>
            </a:pPr>
            <a:r>
              <a:rPr lang="en-US" sz="3100" dirty="0" smtClean="0">
                <a:latin typeface="Bookman Old Style" pitchFamily="18" charset="0"/>
              </a:rPr>
              <a:t>    Results reveals that Random Forest is the best classifier when all parameters are combined.</a:t>
            </a:r>
          </a:p>
          <a:p>
            <a:pPr>
              <a:buNone/>
            </a:pPr>
            <a:endParaRPr lang="en-US" sz="2000" dirty="0">
              <a:latin typeface="Bookman Old Style" pitchFamily="18" charset="0"/>
            </a:endParaRPr>
          </a:p>
          <a:p>
            <a:pPr>
              <a:buNone/>
            </a:pPr>
            <a:r>
              <a:rPr lang="en-US" sz="2000" dirty="0" smtClean="0">
                <a:latin typeface="Bookman Old Style" pitchFamily="18" charset="0"/>
              </a:rPr>
              <a:t>. </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lumMod val="95000"/>
            </a:schemeClr>
          </a:solidFill>
        </p:spPr>
        <p:style>
          <a:lnRef idx="1">
            <a:schemeClr val="accent4"/>
          </a:lnRef>
          <a:fillRef idx="3">
            <a:schemeClr val="accent4"/>
          </a:fillRef>
          <a:effectRef idx="2">
            <a:schemeClr val="accent4"/>
          </a:effectRef>
          <a:fontRef idx="minor">
            <a:schemeClr val="lt1"/>
          </a:fontRef>
        </p:style>
        <p:txBody>
          <a:bodyPr/>
          <a:lstStyle/>
          <a:p>
            <a:r>
              <a:rPr lang="en-US" dirty="0">
                <a:solidFill>
                  <a:schemeClr val="accent2"/>
                </a:solidFill>
                <a:latin typeface="Arial Black" pitchFamily="34" charset="0"/>
              </a:rPr>
              <a:t>RESULT</a:t>
            </a:r>
          </a:p>
        </p:txBody>
      </p:sp>
      <p:sp>
        <p:nvSpPr>
          <p:cNvPr id="7" name="TextBox 6">
            <a:extLst>
              <a:ext uri="{FF2B5EF4-FFF2-40B4-BE49-F238E27FC236}">
                <a16:creationId xmlns:a16="http://schemas.microsoft.com/office/drawing/2014/main" xmlns="" id="{A4786438-A8EE-8D5E-E8CF-B10D6897D949}"/>
              </a:ext>
            </a:extLst>
          </p:cNvPr>
          <p:cNvSpPr txBox="1"/>
          <p:nvPr/>
        </p:nvSpPr>
        <p:spPr>
          <a:xfrm>
            <a:off x="457200" y="6172200"/>
            <a:ext cx="8305800" cy="707886"/>
          </a:xfrm>
          <a:prstGeom prst="rect">
            <a:avLst/>
          </a:prstGeom>
          <a:noFill/>
        </p:spPr>
        <p:txBody>
          <a:bodyPr wrap="square" rtlCol="0">
            <a:spAutoFit/>
          </a:bodyPr>
          <a:lstStyle/>
          <a:p>
            <a:r>
              <a:rPr lang="en-IN" sz="2000" dirty="0" smtClean="0"/>
              <a:t>Fg</a:t>
            </a:r>
            <a:r>
              <a:rPr lang="en-IN" sz="2000" dirty="0" smtClean="0"/>
              <a:t>-1: </a:t>
            </a:r>
            <a:r>
              <a:rPr lang="en-IN" sz="2000" dirty="0" smtClean="0"/>
              <a:t>In above screen click on ‘Upload Files’ button to upload diabetes dataset</a:t>
            </a:r>
            <a:endParaRPr lang="en-US" sz="2000" dirty="0" smtClean="0"/>
          </a:p>
          <a:p>
            <a:endParaRPr lang="en-IN" sz="2000" dirty="0"/>
          </a:p>
        </p:txBody>
      </p:sp>
      <p:pic>
        <p:nvPicPr>
          <p:cNvPr id="9" name="Content Placeholder 8"/>
          <p:cNvPicPr>
            <a:picLocks noGrp="1"/>
          </p:cNvPicPr>
          <p:nvPr>
            <p:ph idx="1"/>
          </p:nvPr>
        </p:nvPicPr>
        <p:blipFill>
          <a:blip r:embed="rId2"/>
          <a:srcRect/>
          <a:stretch>
            <a:fillRect/>
          </a:stretch>
        </p:blipFill>
        <p:spPr bwMode="auto">
          <a:xfrm>
            <a:off x="546957" y="1600200"/>
            <a:ext cx="8050085" cy="4419599"/>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xmlns="" id="{FC7EDF89-0612-2F76-47AE-659D97A257A2}"/>
              </a:ext>
            </a:extLst>
          </p:cNvPr>
          <p:cNvSpPr txBox="1"/>
          <p:nvPr/>
        </p:nvSpPr>
        <p:spPr>
          <a:xfrm>
            <a:off x="228600" y="5733256"/>
            <a:ext cx="8915400" cy="984885"/>
          </a:xfrm>
          <a:prstGeom prst="rect">
            <a:avLst/>
          </a:prstGeom>
          <a:noFill/>
        </p:spPr>
        <p:txBody>
          <a:bodyPr wrap="square" rtlCol="0">
            <a:spAutoFit/>
          </a:bodyPr>
          <a:lstStyle/>
          <a:p>
            <a:r>
              <a:rPr lang="en-IN" sz="2000" dirty="0" smtClean="0"/>
              <a:t>Fg-2 </a:t>
            </a:r>
            <a:r>
              <a:rPr lang="en-IN" sz="2000" dirty="0" smtClean="0"/>
              <a:t>After uploading dataset click on ‘Pre-process Dataset’ button to clean dataset</a:t>
            </a:r>
            <a:endParaRPr lang="en-US" sz="2000" dirty="0" smtClean="0"/>
          </a:p>
          <a:p>
            <a:r>
              <a:rPr lang="en-IN" sz="2000" dirty="0" smtClean="0"/>
              <a:t> </a:t>
            </a:r>
            <a:endParaRPr lang="en-US" sz="2000" dirty="0" smtClean="0"/>
          </a:p>
          <a:p>
            <a:endParaRPr lang="en-IN" dirty="0"/>
          </a:p>
        </p:txBody>
      </p:sp>
      <p:pic>
        <p:nvPicPr>
          <p:cNvPr id="9" name="Picture 8"/>
          <p:cNvPicPr/>
          <p:nvPr/>
        </p:nvPicPr>
        <p:blipFill>
          <a:blip r:embed="rId2"/>
          <a:srcRect/>
          <a:stretch>
            <a:fillRect/>
          </a:stretch>
        </p:blipFill>
        <p:spPr bwMode="auto">
          <a:xfrm>
            <a:off x="914400" y="457200"/>
            <a:ext cx="7620000" cy="5105399"/>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8AC824D1-E8E5-8388-9FAA-8DA08EF9A256}"/>
              </a:ext>
            </a:extLst>
          </p:cNvPr>
          <p:cNvSpPr txBox="1"/>
          <p:nvPr/>
        </p:nvSpPr>
        <p:spPr>
          <a:xfrm>
            <a:off x="5943600" y="692696"/>
            <a:ext cx="3048000" cy="2031325"/>
          </a:xfrm>
          <a:prstGeom prst="rect">
            <a:avLst/>
          </a:prstGeom>
          <a:noFill/>
        </p:spPr>
        <p:txBody>
          <a:bodyPr wrap="square" rtlCol="0">
            <a:spAutoFit/>
          </a:bodyPr>
          <a:lstStyle/>
          <a:p>
            <a:r>
              <a:rPr lang="en-IN" dirty="0" smtClean="0"/>
              <a:t>Fg-3: </a:t>
            </a:r>
            <a:r>
              <a:rPr lang="en-IN" dirty="0" smtClean="0"/>
              <a:t>In above screen after pre-process total dataset records are 768. Now click on ‘Run Decision Tree Algorithm’ to build decision tree model and below is its accuracy</a:t>
            </a:r>
            <a:endParaRPr lang="en-US" dirty="0" smtClean="0"/>
          </a:p>
          <a:p>
            <a:endParaRPr lang="en-IN" dirty="0"/>
          </a:p>
        </p:txBody>
      </p:sp>
      <p:sp>
        <p:nvSpPr>
          <p:cNvPr id="9" name="TextBox 8">
            <a:extLst>
              <a:ext uri="{FF2B5EF4-FFF2-40B4-BE49-F238E27FC236}">
                <a16:creationId xmlns:a16="http://schemas.microsoft.com/office/drawing/2014/main" xmlns="" id="{A1CCE726-4FF5-8352-674D-B18AA930D83B}"/>
              </a:ext>
            </a:extLst>
          </p:cNvPr>
          <p:cNvSpPr txBox="1"/>
          <p:nvPr/>
        </p:nvSpPr>
        <p:spPr>
          <a:xfrm>
            <a:off x="609600" y="3886200"/>
            <a:ext cx="2209800" cy="1754326"/>
          </a:xfrm>
          <a:prstGeom prst="rect">
            <a:avLst/>
          </a:prstGeom>
          <a:noFill/>
        </p:spPr>
        <p:txBody>
          <a:bodyPr wrap="square" rtlCol="0">
            <a:spAutoFit/>
          </a:bodyPr>
          <a:lstStyle/>
          <a:p>
            <a:r>
              <a:rPr lang="en-IN" dirty="0" smtClean="0"/>
              <a:t>Fg-4: </a:t>
            </a:r>
            <a:r>
              <a:rPr lang="en-IN" dirty="0" smtClean="0"/>
              <a:t>Similarly run other buttons to build models with algorithms</a:t>
            </a:r>
            <a:endParaRPr lang="en-US" dirty="0" smtClean="0"/>
          </a:p>
          <a:p>
            <a:r>
              <a:rPr lang="en-IN" dirty="0" smtClean="0"/>
              <a:t> </a:t>
            </a:r>
            <a:endParaRPr lang="en-US" dirty="0" smtClean="0"/>
          </a:p>
          <a:p>
            <a:endParaRPr lang="en-IN" dirty="0"/>
          </a:p>
        </p:txBody>
      </p:sp>
      <p:pic>
        <p:nvPicPr>
          <p:cNvPr id="10" name="Picture 9"/>
          <p:cNvPicPr/>
          <p:nvPr/>
        </p:nvPicPr>
        <p:blipFill>
          <a:blip r:embed="rId2"/>
          <a:srcRect/>
          <a:stretch>
            <a:fillRect/>
          </a:stretch>
        </p:blipFill>
        <p:spPr bwMode="auto">
          <a:xfrm>
            <a:off x="457200" y="228600"/>
            <a:ext cx="5274310" cy="2971800"/>
          </a:xfrm>
          <a:prstGeom prst="rect">
            <a:avLst/>
          </a:prstGeom>
          <a:noFill/>
          <a:ln w="9525">
            <a:noFill/>
            <a:miter lim="800000"/>
            <a:headEnd/>
            <a:tailEnd/>
          </a:ln>
        </p:spPr>
      </p:pic>
      <p:pic>
        <p:nvPicPr>
          <p:cNvPr id="11" name="Picture 10"/>
          <p:cNvPicPr/>
          <p:nvPr/>
        </p:nvPicPr>
        <p:blipFill>
          <a:blip r:embed="rId3"/>
          <a:srcRect/>
          <a:stretch>
            <a:fillRect/>
          </a:stretch>
        </p:blipFill>
        <p:spPr bwMode="auto">
          <a:xfrm>
            <a:off x="3048000" y="3429000"/>
            <a:ext cx="5731510" cy="3222401"/>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xmlns="" id="{9B51EF24-B284-252E-7D59-F7E7E119E1B2}"/>
              </a:ext>
            </a:extLst>
          </p:cNvPr>
          <p:cNvSpPr txBox="1"/>
          <p:nvPr/>
        </p:nvSpPr>
        <p:spPr>
          <a:xfrm>
            <a:off x="6324600" y="1143000"/>
            <a:ext cx="2423864" cy="2308324"/>
          </a:xfrm>
          <a:prstGeom prst="rect">
            <a:avLst/>
          </a:prstGeom>
          <a:noFill/>
        </p:spPr>
        <p:txBody>
          <a:bodyPr wrap="square" rtlCol="0">
            <a:spAutoFit/>
          </a:bodyPr>
          <a:lstStyle/>
          <a:p>
            <a:r>
              <a:rPr lang="en-IN" dirty="0" smtClean="0"/>
              <a:t>Fg-5: </a:t>
            </a:r>
            <a:r>
              <a:rPr lang="en-IN" dirty="0" smtClean="0"/>
              <a:t>In </a:t>
            </a:r>
            <a:r>
              <a:rPr lang="en-IN" dirty="0" smtClean="0"/>
              <a:t>above screen we got accuracy for all algorithms, now click on ‘Accuracy Graph’ button to get accuracy of all algorithms</a:t>
            </a:r>
            <a:endParaRPr lang="en-US" dirty="0" smtClean="0"/>
          </a:p>
          <a:p>
            <a:r>
              <a:rPr lang="en-IN" dirty="0" smtClean="0"/>
              <a:t> </a:t>
            </a:r>
            <a:endParaRPr lang="en-US" dirty="0" smtClean="0"/>
          </a:p>
          <a:p>
            <a:endParaRPr lang="en-IN" dirty="0"/>
          </a:p>
        </p:txBody>
      </p:sp>
      <p:sp>
        <p:nvSpPr>
          <p:cNvPr id="11" name="TextBox 10">
            <a:extLst>
              <a:ext uri="{FF2B5EF4-FFF2-40B4-BE49-F238E27FC236}">
                <a16:creationId xmlns:a16="http://schemas.microsoft.com/office/drawing/2014/main" xmlns="" id="{F0887B19-C575-E3B1-A702-C6F9755BCC06}"/>
              </a:ext>
            </a:extLst>
          </p:cNvPr>
          <p:cNvSpPr txBox="1"/>
          <p:nvPr/>
        </p:nvSpPr>
        <p:spPr>
          <a:xfrm>
            <a:off x="304800" y="3581401"/>
            <a:ext cx="2590800" cy="3970318"/>
          </a:xfrm>
          <a:prstGeom prst="rect">
            <a:avLst/>
          </a:prstGeom>
          <a:noFill/>
        </p:spPr>
        <p:txBody>
          <a:bodyPr wrap="square" rtlCol="0">
            <a:spAutoFit/>
          </a:bodyPr>
          <a:lstStyle/>
          <a:p>
            <a:r>
              <a:rPr lang="en-IN" dirty="0" smtClean="0"/>
              <a:t>Fg-6:</a:t>
            </a:r>
            <a:r>
              <a:rPr lang="en-IN" dirty="0" smtClean="0"/>
              <a:t>In above screen graph x-axis represents algorithm name and y-axis represents accuracy values.</a:t>
            </a:r>
            <a:endParaRPr lang="en-US" dirty="0" smtClean="0"/>
          </a:p>
          <a:p>
            <a:pPr>
              <a:buFont typeface="Arial" pitchFamily="34" charset="0"/>
              <a:buChar char="•"/>
            </a:pPr>
            <a:r>
              <a:rPr lang="en-IN" dirty="0" smtClean="0"/>
              <a:t> </a:t>
            </a:r>
            <a:r>
              <a:rPr lang="en-IN" dirty="0" smtClean="0"/>
              <a:t>Now </a:t>
            </a:r>
            <a:r>
              <a:rPr lang="en-IN" dirty="0" smtClean="0"/>
              <a:t>click on ‘Start Cloud Server’ button to start server and this server will receive data from user and predict disease details. </a:t>
            </a:r>
            <a:endParaRPr lang="en-US" dirty="0" smtClean="0"/>
          </a:p>
          <a:p>
            <a:r>
              <a:rPr lang="en-IN" dirty="0" smtClean="0"/>
              <a:t> </a:t>
            </a:r>
            <a:endParaRPr lang="en-US" dirty="0" smtClean="0"/>
          </a:p>
          <a:p>
            <a:endParaRPr lang="en-IN" dirty="0"/>
          </a:p>
          <a:p>
            <a:endParaRPr lang="en-IN" dirty="0"/>
          </a:p>
        </p:txBody>
      </p:sp>
      <p:pic>
        <p:nvPicPr>
          <p:cNvPr id="9" name="Picture 8"/>
          <p:cNvPicPr/>
          <p:nvPr/>
        </p:nvPicPr>
        <p:blipFill>
          <a:blip r:embed="rId2"/>
          <a:srcRect/>
          <a:stretch>
            <a:fillRect/>
          </a:stretch>
        </p:blipFill>
        <p:spPr bwMode="auto">
          <a:xfrm>
            <a:off x="304800" y="304800"/>
            <a:ext cx="5029200" cy="3200400"/>
          </a:xfrm>
          <a:prstGeom prst="rect">
            <a:avLst/>
          </a:prstGeom>
          <a:noFill/>
          <a:ln w="9525">
            <a:noFill/>
            <a:miter lim="800000"/>
            <a:headEnd/>
            <a:tailEnd/>
          </a:ln>
        </p:spPr>
      </p:pic>
      <p:pic>
        <p:nvPicPr>
          <p:cNvPr id="12" name="Picture 11"/>
          <p:cNvPicPr/>
          <p:nvPr/>
        </p:nvPicPr>
        <p:blipFill>
          <a:blip r:embed="rId3"/>
          <a:srcRect/>
          <a:stretch>
            <a:fillRect/>
          </a:stretch>
        </p:blipFill>
        <p:spPr bwMode="auto">
          <a:xfrm>
            <a:off x="3048000" y="3635599"/>
            <a:ext cx="5731510" cy="3070001"/>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xmlns="" id="{311C59D0-81BA-59DA-E150-BA3FD3B1A571}"/>
              </a:ext>
            </a:extLst>
          </p:cNvPr>
          <p:cNvSpPr txBox="1"/>
          <p:nvPr/>
        </p:nvSpPr>
        <p:spPr>
          <a:xfrm>
            <a:off x="1295400" y="5334000"/>
            <a:ext cx="7162800" cy="1477328"/>
          </a:xfrm>
          <a:prstGeom prst="rect">
            <a:avLst/>
          </a:prstGeom>
          <a:noFill/>
        </p:spPr>
        <p:txBody>
          <a:bodyPr wrap="square" rtlCol="0">
            <a:spAutoFit/>
          </a:bodyPr>
          <a:lstStyle/>
          <a:p>
            <a:r>
              <a:rPr lang="en-IN" dirty="0"/>
              <a:t>Fg-7 </a:t>
            </a:r>
            <a:r>
              <a:rPr lang="en-IN" dirty="0" smtClean="0"/>
              <a:t>:</a:t>
            </a:r>
            <a:r>
              <a:rPr lang="en-IN" dirty="0" smtClean="0"/>
              <a:t> In above screen cloud server started and now double clicks on ‘run.bat’ file from User folder to start User sensing application and to get below screen</a:t>
            </a:r>
            <a:endParaRPr lang="en-US" dirty="0" smtClean="0"/>
          </a:p>
          <a:p>
            <a:endParaRPr lang="en-IN" dirty="0"/>
          </a:p>
          <a:p>
            <a:endParaRPr lang="en-IN" dirty="0"/>
          </a:p>
        </p:txBody>
      </p:sp>
      <p:pic>
        <p:nvPicPr>
          <p:cNvPr id="6" name="Picture 5"/>
          <p:cNvPicPr/>
          <p:nvPr/>
        </p:nvPicPr>
        <p:blipFill>
          <a:blip r:embed="rId2"/>
          <a:srcRect/>
          <a:stretch>
            <a:fillRect/>
          </a:stretch>
        </p:blipFill>
        <p:spPr bwMode="auto">
          <a:xfrm>
            <a:off x="838200" y="533400"/>
            <a:ext cx="7467600" cy="4430600"/>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646238" y="1000125"/>
            <a:ext cx="7497762" cy="5014913"/>
          </a:xfrm>
        </p:spPr>
        <p:txBody>
          <a:bodyPr/>
          <a:lstStyle/>
          <a:p>
            <a:endParaRPr lang="en-IN" dirty="0"/>
          </a:p>
          <a:p>
            <a:endParaRPr lang="en-IN" dirty="0"/>
          </a:p>
          <a:p>
            <a:endParaRPr lang="en-IN" dirty="0"/>
          </a:p>
          <a:p>
            <a:endParaRPr lang="en-IN" dirty="0"/>
          </a:p>
          <a:p>
            <a:endParaRPr lang="en-IN" dirty="0"/>
          </a:p>
          <a:p>
            <a:pPr>
              <a:buNone/>
            </a:pPr>
            <a:endParaRPr lang="en-US" dirty="0"/>
          </a:p>
        </p:txBody>
      </p:sp>
      <p:sp>
        <p:nvSpPr>
          <p:cNvPr id="6" name="TextBox 5">
            <a:extLst>
              <a:ext uri="{FF2B5EF4-FFF2-40B4-BE49-F238E27FC236}">
                <a16:creationId xmlns:a16="http://schemas.microsoft.com/office/drawing/2014/main" xmlns="" id="{9026482F-0332-73AE-BED4-001C856D0F43}"/>
              </a:ext>
            </a:extLst>
          </p:cNvPr>
          <p:cNvSpPr txBox="1"/>
          <p:nvPr/>
        </p:nvSpPr>
        <p:spPr>
          <a:xfrm>
            <a:off x="2411760" y="5589240"/>
            <a:ext cx="3888432" cy="1754326"/>
          </a:xfrm>
          <a:prstGeom prst="rect">
            <a:avLst/>
          </a:prstGeom>
          <a:noFill/>
        </p:spPr>
        <p:txBody>
          <a:bodyPr wrap="square" rtlCol="0">
            <a:spAutoFit/>
          </a:bodyPr>
          <a:lstStyle/>
          <a:p>
            <a:r>
              <a:rPr lang="en-IN" dirty="0" smtClean="0"/>
              <a:t>Fg-8: </a:t>
            </a:r>
            <a:r>
              <a:rPr lang="en-IN" dirty="0" smtClean="0"/>
              <a:t>In above screen click on ‘Upload Files’ button to upload test file and to predict patient condition</a:t>
            </a:r>
            <a:endParaRPr lang="en-US" dirty="0" smtClean="0"/>
          </a:p>
          <a:p>
            <a:r>
              <a:rPr lang="en-IN" dirty="0" smtClean="0"/>
              <a:t> </a:t>
            </a:r>
            <a:endParaRPr lang="en-US" dirty="0" smtClean="0"/>
          </a:p>
          <a:p>
            <a:endParaRPr lang="en-IN" dirty="0"/>
          </a:p>
          <a:p>
            <a:endParaRPr lang="en-IN" dirty="0"/>
          </a:p>
        </p:txBody>
      </p:sp>
      <p:pic>
        <p:nvPicPr>
          <p:cNvPr id="7" name="Picture 6"/>
          <p:cNvPicPr/>
          <p:nvPr/>
        </p:nvPicPr>
        <p:blipFill>
          <a:blip r:embed="rId2"/>
          <a:srcRect/>
          <a:stretch>
            <a:fillRect/>
          </a:stretch>
        </p:blipFill>
        <p:spPr bwMode="auto">
          <a:xfrm>
            <a:off x="609600" y="685800"/>
            <a:ext cx="7772400" cy="4571999"/>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xmlns="" id="{B0FE6793-10DD-A487-99FC-F2FBB3E1DD6C}"/>
              </a:ext>
            </a:extLst>
          </p:cNvPr>
          <p:cNvSpPr txBox="1"/>
          <p:nvPr/>
        </p:nvSpPr>
        <p:spPr>
          <a:xfrm>
            <a:off x="1676400" y="5334000"/>
            <a:ext cx="6019800" cy="1200329"/>
          </a:xfrm>
          <a:prstGeom prst="rect">
            <a:avLst/>
          </a:prstGeom>
          <a:noFill/>
        </p:spPr>
        <p:txBody>
          <a:bodyPr wrap="square" rtlCol="0">
            <a:spAutoFit/>
          </a:bodyPr>
          <a:lstStyle/>
          <a:p>
            <a:r>
              <a:rPr lang="en-IN" dirty="0" smtClean="0"/>
              <a:t>Fg-9:</a:t>
            </a:r>
            <a:r>
              <a:rPr lang="en-IN" dirty="0" smtClean="0"/>
              <a:t> After uploading users data will get below prediction results</a:t>
            </a:r>
            <a:endParaRPr lang="en-US" dirty="0" smtClean="0"/>
          </a:p>
          <a:p>
            <a:r>
              <a:rPr lang="en-IN" dirty="0" smtClean="0"/>
              <a:t> </a:t>
            </a:r>
            <a:endParaRPr lang="en-US" dirty="0" smtClean="0"/>
          </a:p>
          <a:p>
            <a:endParaRPr lang="en-IN" dirty="0"/>
          </a:p>
        </p:txBody>
      </p:sp>
      <p:pic>
        <p:nvPicPr>
          <p:cNvPr id="7" name="Picture 6"/>
          <p:cNvPicPr/>
          <p:nvPr/>
        </p:nvPicPr>
        <p:blipFill>
          <a:blip r:embed="rId2"/>
          <a:srcRect/>
          <a:stretch>
            <a:fillRect/>
          </a:stretch>
        </p:blipFill>
        <p:spPr bwMode="auto">
          <a:xfrm>
            <a:off x="1143000" y="609601"/>
            <a:ext cx="7162800" cy="4430600"/>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rcRect/>
          <a:stretch>
            <a:fillRect/>
          </a:stretch>
        </p:blipFill>
        <p:spPr bwMode="auto">
          <a:xfrm>
            <a:off x="1219200" y="533400"/>
            <a:ext cx="6781800" cy="4571999"/>
          </a:xfrm>
          <a:prstGeom prst="rect">
            <a:avLst/>
          </a:prstGeom>
          <a:noFill/>
          <a:ln w="9525">
            <a:noFill/>
            <a:miter lim="800000"/>
            <a:headEnd/>
            <a:tailEnd/>
          </a:ln>
        </p:spPr>
      </p:pic>
      <p:sp>
        <p:nvSpPr>
          <p:cNvPr id="3" name="Rectangle 2"/>
          <p:cNvSpPr/>
          <p:nvPr/>
        </p:nvSpPr>
        <p:spPr>
          <a:xfrm>
            <a:off x="304800" y="5257800"/>
            <a:ext cx="8229600" cy="1295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smtClean="0">
              <a:solidFill>
                <a:schemeClr val="tx1"/>
              </a:solidFill>
            </a:endParaRPr>
          </a:p>
          <a:p>
            <a:endParaRPr lang="en-US" dirty="0" smtClean="0">
              <a:solidFill>
                <a:schemeClr val="tx1"/>
              </a:solidFill>
            </a:endParaRPr>
          </a:p>
          <a:p>
            <a:r>
              <a:rPr lang="en-US" dirty="0" smtClean="0">
                <a:solidFill>
                  <a:schemeClr val="tx1"/>
                </a:solidFill>
              </a:rPr>
              <a:t>Fig 10:</a:t>
            </a:r>
            <a:r>
              <a:rPr lang="en-IN" dirty="0" smtClean="0"/>
              <a:t> </a:t>
            </a:r>
            <a:r>
              <a:rPr lang="en-IN" dirty="0" smtClean="0">
                <a:solidFill>
                  <a:schemeClr val="tx1"/>
                </a:solidFill>
              </a:rPr>
              <a:t>In above screen for each users data we predicted 0 and 1 values and also indicates patient values as normal or abnormal</a:t>
            </a:r>
            <a:endParaRPr lang="en-US" dirty="0" smtClean="0">
              <a:solidFill>
                <a:schemeClr val="tx1"/>
              </a:solidFill>
            </a:endParaRPr>
          </a:p>
          <a:p>
            <a:r>
              <a:rPr lang="en-IN" dirty="0" smtClean="0">
                <a:solidFill>
                  <a:schemeClr val="tx1"/>
                </a:solidFill>
              </a:rPr>
              <a:t> </a:t>
            </a:r>
            <a:r>
              <a:rPr lang="en-IN" dirty="0" smtClean="0">
                <a:solidFill>
                  <a:schemeClr val="tx1"/>
                </a:solidFill>
              </a:rPr>
              <a:t>All </a:t>
            </a:r>
            <a:r>
              <a:rPr lang="en-IN" dirty="0" smtClean="0">
                <a:solidFill>
                  <a:schemeClr val="tx1"/>
                </a:solidFill>
              </a:rPr>
              <a:t>algorithms code you can see inside Cloud/Cloud.py file, in below screen we can all algorithms from python</a:t>
            </a:r>
            <a:endParaRPr lang="en-US" dirty="0" smtClean="0">
              <a:solidFill>
                <a:schemeClr val="tx1"/>
              </a:solidFill>
            </a:endParaRPr>
          </a:p>
          <a:p>
            <a:r>
              <a:rPr lang="en-IN" dirty="0" smtClean="0">
                <a:solidFill>
                  <a:schemeClr val="tx1"/>
                </a:solidFill>
              </a:rPr>
              <a:t> </a:t>
            </a:r>
            <a:endParaRPr lang="en-US" dirty="0" smtClean="0">
              <a:solidFill>
                <a:schemeClr val="tx1"/>
              </a:solidFill>
            </a:endParaRPr>
          </a:p>
          <a:p>
            <a:pPr algn="ctr"/>
            <a:r>
              <a:rPr lang="en-US" dirty="0" smtClean="0">
                <a:solidFill>
                  <a:schemeClr val="tx1"/>
                </a:solidFill>
              </a:rPr>
              <a:t> </a:t>
            </a:r>
            <a:endParaRPr lang="en-US" dirty="0">
              <a:solidFill>
                <a:schemeClr val="tx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143001" y="274638"/>
            <a:ext cx="6934199" cy="725487"/>
          </a:xfrm>
        </p:spPr>
        <p:style>
          <a:lnRef idx="0">
            <a:schemeClr val="accent1"/>
          </a:lnRef>
          <a:fillRef idx="3">
            <a:schemeClr val="accent1"/>
          </a:fillRef>
          <a:effectRef idx="3">
            <a:schemeClr val="accent1"/>
          </a:effectRef>
          <a:fontRef idx="minor">
            <a:schemeClr val="lt1"/>
          </a:fontRef>
        </p:style>
        <p:txBody>
          <a:bodyPr>
            <a:normAutofit fontScale="90000"/>
          </a:bodyPr>
          <a:lstStyle/>
          <a:p>
            <a:r>
              <a:rPr lang="en-US" b="1" dirty="0">
                <a:latin typeface="Bookman Old Style" pitchFamily="18" charset="0"/>
              </a:rPr>
              <a:t>CONCLUSION</a:t>
            </a:r>
            <a:endParaRPr lang="en-US" dirty="0">
              <a:latin typeface="Bookman Old Style" pitchFamily="18" charset="0"/>
            </a:endParaRPr>
          </a:p>
        </p:txBody>
      </p:sp>
      <p:sp>
        <p:nvSpPr>
          <p:cNvPr id="18433" name="Rectangle 1"/>
          <p:cNvSpPr>
            <a:spLocks noChangeArrowheads="1"/>
          </p:cNvSpPr>
          <p:nvPr/>
        </p:nvSpPr>
        <p:spPr bwMode="auto">
          <a:xfrm>
            <a:off x="228600" y="1219200"/>
            <a:ext cx="8458200" cy="526297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 typeface="Wingdings" pitchFamily="2" charset="2"/>
              <a:buChar char="q"/>
              <a:tabLst/>
            </a:pPr>
            <a:r>
              <a:rPr kumimoji="0" lang="en-US" sz="2400" b="0" i="0" u="none" strike="noStrike" cap="none" normalizeH="0" baseline="0" dirty="0" smtClean="0">
                <a:ln>
                  <a:noFill/>
                </a:ln>
                <a:solidFill>
                  <a:schemeClr val="accent1">
                    <a:lumMod val="50000"/>
                  </a:schemeClr>
                </a:solidFill>
                <a:effectLst/>
                <a:ea typeface="Calibri" pitchFamily="34" charset="0"/>
                <a:cs typeface="Times New Roman" pitchFamily="18" charset="0"/>
              </a:rPr>
              <a:t>In this article, we first propose a 5G-Smart Diabetes system that includes a sensing layer, a personalized diagnosis layer, and a data sharing layer.</a:t>
            </a:r>
          </a:p>
          <a:p>
            <a:pPr marL="0" marR="0" lvl="0" indent="0" algn="just" defTabSz="914400" rtl="0" eaLnBrk="1" fontAlgn="base" latinLnBrk="0" hangingPunct="1">
              <a:lnSpc>
                <a:spcPct val="100000"/>
              </a:lnSpc>
              <a:spcBef>
                <a:spcPct val="0"/>
              </a:spcBef>
              <a:spcAft>
                <a:spcPct val="0"/>
              </a:spcAft>
              <a:buClrTx/>
              <a:buSzTx/>
              <a:buFont typeface="Wingdings" pitchFamily="2" charset="2"/>
              <a:buChar char="q"/>
              <a:tabLst/>
            </a:pPr>
            <a:r>
              <a:rPr kumimoji="0" lang="en-US" sz="2400" b="0" i="0" u="none" strike="noStrike" cap="none" normalizeH="0" baseline="0" dirty="0" smtClean="0">
                <a:ln>
                  <a:noFill/>
                </a:ln>
                <a:solidFill>
                  <a:schemeClr val="accent1">
                    <a:lumMod val="50000"/>
                  </a:schemeClr>
                </a:solidFill>
                <a:effectLst/>
                <a:ea typeface="Calibri" pitchFamily="34" charset="0"/>
                <a:cs typeface="Times New Roman" pitchFamily="18" charset="0"/>
              </a:rPr>
              <a:t> Compared to Diabetes 1.0 and Diabetes 2.0, this system can achieve sustainable, cost-effective, and intelligence diabetes diagnosis. </a:t>
            </a:r>
          </a:p>
          <a:p>
            <a:pPr marL="0" marR="0" lvl="0" indent="0" algn="just" defTabSz="914400" rtl="0" eaLnBrk="1" fontAlgn="base" latinLnBrk="0" hangingPunct="1">
              <a:lnSpc>
                <a:spcPct val="100000"/>
              </a:lnSpc>
              <a:spcBef>
                <a:spcPct val="0"/>
              </a:spcBef>
              <a:spcAft>
                <a:spcPct val="0"/>
              </a:spcAft>
              <a:buClrTx/>
              <a:buSzTx/>
              <a:buFont typeface="Wingdings" pitchFamily="2" charset="2"/>
              <a:buChar char="q"/>
              <a:tabLst/>
            </a:pPr>
            <a:r>
              <a:rPr kumimoji="0" lang="en-US" sz="2400" b="0" i="0" u="none" strike="noStrike" cap="none" normalizeH="0" baseline="0" dirty="0" smtClean="0">
                <a:ln>
                  <a:noFill/>
                </a:ln>
                <a:solidFill>
                  <a:schemeClr val="accent1">
                    <a:lumMod val="50000"/>
                  </a:schemeClr>
                </a:solidFill>
                <a:effectLst/>
                <a:ea typeface="Calibri" pitchFamily="34" charset="0"/>
                <a:cs typeface="Times New Roman" pitchFamily="18" charset="0"/>
              </a:rPr>
              <a:t>Then we propose a highly cost-efficient data sharing mechanism in social space and data space. </a:t>
            </a:r>
          </a:p>
          <a:p>
            <a:pPr marL="0" marR="0" lvl="0" indent="0" algn="just" defTabSz="914400" rtl="0" eaLnBrk="1" fontAlgn="base" latinLnBrk="0" hangingPunct="1">
              <a:lnSpc>
                <a:spcPct val="100000"/>
              </a:lnSpc>
              <a:spcBef>
                <a:spcPct val="0"/>
              </a:spcBef>
              <a:spcAft>
                <a:spcPct val="0"/>
              </a:spcAft>
              <a:buClrTx/>
              <a:buSzTx/>
              <a:buFont typeface="Wingdings" pitchFamily="2" charset="2"/>
              <a:buChar char="q"/>
              <a:tabLst/>
            </a:pPr>
            <a:r>
              <a:rPr kumimoji="0" lang="en-US" sz="2400" b="0" i="0" u="none" strike="noStrike" cap="none" normalizeH="0" baseline="0" dirty="0" smtClean="0">
                <a:ln>
                  <a:noFill/>
                </a:ln>
                <a:solidFill>
                  <a:schemeClr val="accent1">
                    <a:lumMod val="50000"/>
                  </a:schemeClr>
                </a:solidFill>
                <a:effectLst/>
                <a:ea typeface="Calibri" pitchFamily="34" charset="0"/>
                <a:cs typeface="Times New Roman" pitchFamily="18" charset="0"/>
              </a:rPr>
              <a:t>In addition, using machine learning methods, we present a personalized data analysis model for 5G-Smart Diabetes. </a:t>
            </a:r>
          </a:p>
          <a:p>
            <a:pPr marL="0" marR="0" lvl="0" indent="0" algn="just" defTabSz="914400" rtl="0" eaLnBrk="1" fontAlgn="base" latinLnBrk="0" hangingPunct="1">
              <a:lnSpc>
                <a:spcPct val="100000"/>
              </a:lnSpc>
              <a:spcBef>
                <a:spcPct val="0"/>
              </a:spcBef>
              <a:spcAft>
                <a:spcPct val="0"/>
              </a:spcAft>
              <a:buClrTx/>
              <a:buSzTx/>
              <a:buFont typeface="Wingdings" pitchFamily="2" charset="2"/>
              <a:buChar char="q"/>
              <a:tabLst/>
            </a:pPr>
            <a:r>
              <a:rPr kumimoji="0" lang="en-US" sz="2400" b="0" i="0" u="none" strike="noStrike" cap="none" normalizeH="0" baseline="0" dirty="0" smtClean="0">
                <a:ln>
                  <a:noFill/>
                </a:ln>
                <a:solidFill>
                  <a:schemeClr val="accent1">
                    <a:lumMod val="50000"/>
                  </a:schemeClr>
                </a:solidFill>
                <a:effectLst/>
                <a:ea typeface="Calibri" pitchFamily="34" charset="0"/>
                <a:cs typeface="Times New Roman" pitchFamily="18" charset="0"/>
              </a:rPr>
              <a:t>Finally, based on the smart clothing, </a:t>
            </a:r>
            <a:r>
              <a:rPr kumimoji="0" lang="en-US" sz="2400" b="0" i="0" u="none" strike="noStrike" cap="none" normalizeH="0" baseline="0" dirty="0" err="1" smtClean="0">
                <a:ln>
                  <a:noFill/>
                </a:ln>
                <a:solidFill>
                  <a:schemeClr val="accent1">
                    <a:lumMod val="50000"/>
                  </a:schemeClr>
                </a:solidFill>
                <a:effectLst/>
                <a:ea typeface="Calibri" pitchFamily="34" charset="0"/>
                <a:cs typeface="Times New Roman" pitchFamily="18" charset="0"/>
              </a:rPr>
              <a:t>smartphone</a:t>
            </a:r>
            <a:r>
              <a:rPr kumimoji="0" lang="en-US" sz="2400" b="0" i="0" u="none" strike="noStrike" cap="none" normalizeH="0" baseline="0" dirty="0" smtClean="0">
                <a:ln>
                  <a:noFill/>
                </a:ln>
                <a:solidFill>
                  <a:schemeClr val="accent1">
                    <a:lumMod val="50000"/>
                  </a:schemeClr>
                </a:solidFill>
                <a:effectLst/>
                <a:ea typeface="Calibri" pitchFamily="34" charset="0"/>
                <a:cs typeface="Times New Roman" pitchFamily="18" charset="0"/>
              </a:rPr>
              <a:t> and data center, we build a 5G-Smart Diabetes tested. </a:t>
            </a:r>
          </a:p>
          <a:p>
            <a:pPr marL="0" marR="0" lvl="0" indent="0" algn="just" defTabSz="914400" rtl="0" eaLnBrk="1" fontAlgn="base" latinLnBrk="0" hangingPunct="1">
              <a:lnSpc>
                <a:spcPct val="100000"/>
              </a:lnSpc>
              <a:spcBef>
                <a:spcPct val="0"/>
              </a:spcBef>
              <a:spcAft>
                <a:spcPct val="0"/>
              </a:spcAft>
              <a:buClrTx/>
              <a:buSzTx/>
              <a:buFont typeface="Wingdings" pitchFamily="2" charset="2"/>
              <a:buChar char="q"/>
              <a:tabLst/>
            </a:pPr>
            <a:r>
              <a:rPr kumimoji="0" lang="en-US" sz="2400" b="0" i="0" u="none" strike="noStrike" cap="none" normalizeH="0" baseline="0" dirty="0" smtClean="0">
                <a:ln>
                  <a:noFill/>
                </a:ln>
                <a:solidFill>
                  <a:schemeClr val="accent1">
                    <a:lumMod val="50000"/>
                  </a:schemeClr>
                </a:solidFill>
                <a:effectLst/>
                <a:ea typeface="Calibri" pitchFamily="34" charset="0"/>
                <a:cs typeface="Times New Roman" pitchFamily="18" charset="0"/>
              </a:rPr>
              <a:t>The experimental results show that our system can provide personalized diagnosis and treatment suggestions to patients.</a:t>
            </a:r>
            <a:endParaRPr kumimoji="0" lang="en-US" sz="3600" b="0" i="0" u="none" strike="noStrike" cap="none" normalizeH="0" baseline="0" dirty="0" smtClean="0">
              <a:ln>
                <a:noFill/>
              </a:ln>
              <a:solidFill>
                <a:schemeClr val="accent1">
                  <a:lumMod val="50000"/>
                </a:schemeClr>
              </a:solidFill>
              <a:effectLst/>
              <a:cs typeface="Arial"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357290" y="571480"/>
            <a:ext cx="7498080" cy="4214842"/>
          </a:xfrm>
        </p:spPr>
        <p:txBody>
          <a:bodyPr/>
          <a:lstStyle/>
          <a:p>
            <a:r>
              <a:rPr lang="en-US" dirty="0"/>
              <a:t/>
            </a:r>
            <a:br>
              <a:rPr lang="en-US" dirty="0"/>
            </a:br>
            <a:endParaRPr lang="en-US" dirty="0">
              <a:solidFill>
                <a:schemeClr val="tx1"/>
              </a:solidFill>
            </a:endParaRPr>
          </a:p>
        </p:txBody>
      </p:sp>
      <p:pic>
        <p:nvPicPr>
          <p:cNvPr id="5" name="Picture 4" descr="1476271_7412.jpg"/>
          <p:cNvPicPr>
            <a:picLocks noChangeAspect="1"/>
          </p:cNvPicPr>
          <p:nvPr/>
        </p:nvPicPr>
        <p:blipFill>
          <a:blip r:embed="rId2" cstate="print"/>
          <a:stretch>
            <a:fillRect/>
          </a:stretch>
        </p:blipFill>
        <p:spPr>
          <a:xfrm>
            <a:off x="1500166" y="1071546"/>
            <a:ext cx="6488539" cy="459528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1246</TotalTime>
  <Words>1100</Words>
  <Application>Microsoft Office PowerPoint</Application>
  <PresentationFormat>On-screen Show (4:3)</PresentationFormat>
  <Paragraphs>109</Paragraphs>
  <Slides>19</Slides>
  <Notes>2</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 </vt:lpstr>
      <vt:lpstr>ABSTRACT</vt:lpstr>
      <vt:lpstr>INTRODUCTION</vt:lpstr>
      <vt:lpstr>INTRODUCTION</vt:lpstr>
      <vt:lpstr>SYSTEM ANALYSIS</vt:lpstr>
      <vt:lpstr>SYSTEM ANALYSIS</vt:lpstr>
      <vt:lpstr>SYSTEM ANALYSIS</vt:lpstr>
      <vt:lpstr> SYSTEM ARCHITECTURE</vt:lpstr>
      <vt:lpstr>MODULES:</vt:lpstr>
      <vt:lpstr>RESULT</vt:lpstr>
      <vt:lpstr>Slide 11</vt:lpstr>
      <vt:lpstr>Slide 12</vt:lpstr>
      <vt:lpstr>Slide 13</vt:lpstr>
      <vt:lpstr>Slide 14</vt:lpstr>
      <vt:lpstr>Slide 15</vt:lpstr>
      <vt:lpstr>Slide 16</vt:lpstr>
      <vt:lpstr>Slide 17</vt:lpstr>
      <vt:lpstr>CONCLUSION</vt:lpstr>
      <vt:lpstr>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shaik</dc:creator>
  <cp:lastModifiedBy>Hom</cp:lastModifiedBy>
  <cp:revision>63</cp:revision>
  <dcterms:created xsi:type="dcterms:W3CDTF">2023-08-02T10:05:32Z</dcterms:created>
  <dcterms:modified xsi:type="dcterms:W3CDTF">2024-07-12T16:27:13Z</dcterms:modified>
</cp:coreProperties>
</file>