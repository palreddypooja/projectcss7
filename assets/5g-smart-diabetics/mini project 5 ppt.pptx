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68" r:id="rId6"/>
    <p:sldId id="271" r:id="rId7"/>
    <p:sldId id="278" r:id="rId8"/>
    <p:sldId id="263" r:id="rId9"/>
    <p:sldId id="284" r:id="rId10"/>
    <p:sldId id="289" r:id="rId11"/>
    <p:sldId id="285" r:id="rId12"/>
    <p:sldId id="290" r:id="rId13"/>
    <p:sldId id="288" r:id="rId14"/>
    <p:sldId id="280" r:id="rId15"/>
    <p:sldId id="291" r:id="rId16"/>
    <p:sldId id="283" r:id="rId17"/>
    <p:sldId id="28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927" autoAdjust="0"/>
    <p:restoredTop sz="94660"/>
  </p:normalViewPr>
  <p:slideViewPr>
    <p:cSldViewPr showGuides="1">
      <p:cViewPr varScale="1">
        <p:scale>
          <a:sx n="68" d="100"/>
          <a:sy n="68" d="100"/>
        </p:scale>
        <p:origin x="-11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552D1E-EBCD-4E1C-99A0-7116E97B5D0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317D81-0B31-4578-A522-4E7E109B55A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5233074260</a:t>
            </a:r>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a:t>
            </a:r>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82972F2A-9A6A-441E-9A86-36C79E5189D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972F2A-9A6A-441E-9A86-36C79E5189D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972F2A-9A6A-441E-9A86-36C79E5189D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2972F2A-9A6A-441E-9A86-36C79E5189D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972F2A-9A6A-441E-9A86-36C79E5189DB}"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E6471B-1E35-410C-B2BE-6C79435CCB8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2853"/>
            <a:ext cx="7772400" cy="857256"/>
          </a:xfrm>
        </p:spPr>
        <p:txBody>
          <a:bodyPr>
            <a:normAutofit fontScale="90000"/>
          </a:bodyPr>
          <a:lstStyle/>
          <a:p>
            <a:br>
              <a:rPr lang="en-US" sz="700" dirty="0"/>
            </a:br>
            <a:endParaRPr lang="en-US" dirty="0"/>
          </a:p>
        </p:txBody>
      </p:sp>
      <p:sp>
        <p:nvSpPr>
          <p:cNvPr id="3" name="Subtitle 2"/>
          <p:cNvSpPr>
            <a:spLocks noGrp="1"/>
          </p:cNvSpPr>
          <p:nvPr>
            <p:ph type="subTitle" idx="1"/>
          </p:nvPr>
        </p:nvSpPr>
        <p:spPr>
          <a:xfrm>
            <a:off x="471170" y="1981200"/>
            <a:ext cx="8063230" cy="4648200"/>
          </a:xfrm>
        </p:spPr>
        <p:txBody>
          <a:bodyPr>
            <a:normAutofit fontScale="67500"/>
          </a:bodyPr>
          <a:lstStyle/>
          <a:p>
            <a:pPr algn="ctr"/>
            <a:r>
              <a:rPr lang="en-US" sz="3600" b="1" dirty="0" smtClean="0">
                <a:solidFill>
                  <a:schemeClr val="tx1"/>
                </a:solidFill>
                <a:latin typeface="+mj-lt"/>
              </a:rPr>
              <a:t>“5G SMART DIABETES  DIAGNOSIS TOWARDS PERSONALIZED DIABETES  WITH HEALTH CARE BIG DATA CLOUDS”</a:t>
            </a:r>
            <a:endParaRPr lang="en-US" sz="3600" b="1" dirty="0" smtClean="0">
              <a:solidFill>
                <a:schemeClr val="tx1"/>
              </a:solidFill>
              <a:latin typeface="+mj-lt"/>
            </a:endParaRPr>
          </a:p>
          <a:p>
            <a:pPr algn="ctr"/>
            <a:endParaRPr lang="en-US" sz="3600" b="1" dirty="0" smtClean="0">
              <a:solidFill>
                <a:schemeClr val="tx1"/>
              </a:solidFill>
              <a:latin typeface="+mj-lt"/>
            </a:endParaRPr>
          </a:p>
          <a:p>
            <a:pPr algn="ctr"/>
            <a:r>
              <a:rPr lang="en-US" dirty="0">
                <a:solidFill>
                  <a:schemeClr val="tx1"/>
                </a:solidFill>
                <a:latin typeface="Bookman Old Style" panose="02050604050505020204" pitchFamily="18" charset="0"/>
              </a:rPr>
              <a:t>Submitted by</a:t>
            </a:r>
            <a:endParaRPr lang="en-US" dirty="0">
              <a:solidFill>
                <a:schemeClr val="tx1"/>
              </a:solidFill>
              <a:latin typeface="Bookman Old Style" panose="02050604050505020204" pitchFamily="18" charset="0"/>
            </a:endParaRPr>
          </a:p>
          <a:p>
            <a:pPr indent="457200" algn="just"/>
            <a:r>
              <a:rPr lang="en-US" sz="2580" dirty="0" smtClean="0">
                <a:solidFill>
                  <a:schemeClr val="tx1"/>
                </a:solidFill>
                <a:latin typeface="+mj-ea"/>
                <a:cs typeface="+mj-ea"/>
              </a:rPr>
              <a:t>P.POOJA                                           		 21RG1A0540</a:t>
            </a:r>
            <a:endParaRPr lang="en-US" sz="2580" dirty="0">
              <a:solidFill>
                <a:schemeClr val="tx1"/>
              </a:solidFill>
              <a:latin typeface="+mj-ea"/>
              <a:cs typeface="+mj-ea"/>
            </a:endParaRPr>
          </a:p>
          <a:p>
            <a:pPr indent="457200" algn="just"/>
            <a:r>
              <a:rPr lang="en-US" sz="2580" dirty="0" smtClean="0">
                <a:solidFill>
                  <a:schemeClr val="tx1"/>
                </a:solidFill>
                <a:latin typeface="+mj-ea"/>
                <a:cs typeface="+mj-ea"/>
              </a:rPr>
              <a:t>S.ARCHANA                                      		 21RG1A0550</a:t>
            </a:r>
            <a:endParaRPr lang="en-US" sz="2580" dirty="0">
              <a:solidFill>
                <a:schemeClr val="tx1"/>
              </a:solidFill>
              <a:latin typeface="+mj-ea"/>
              <a:cs typeface="+mj-ea"/>
            </a:endParaRPr>
          </a:p>
          <a:p>
            <a:pPr indent="457200" algn="just"/>
            <a:r>
              <a:rPr lang="en-US" sz="2580" dirty="0" smtClean="0">
                <a:solidFill>
                  <a:schemeClr val="tx1"/>
                </a:solidFill>
                <a:latin typeface="+mj-ea"/>
                <a:cs typeface="+mj-ea"/>
              </a:rPr>
              <a:t>S.KAVYACHANDRIKA</a:t>
            </a:r>
            <a:r>
              <a:rPr lang="en-US" sz="2580" dirty="0">
                <a:solidFill>
                  <a:schemeClr val="tx1"/>
                </a:solidFill>
                <a:latin typeface="+mj-ea"/>
                <a:cs typeface="+mj-ea"/>
              </a:rPr>
              <a:t>	                	                </a:t>
            </a:r>
            <a:r>
              <a:rPr lang="en-US" sz="2580" dirty="0" smtClean="0">
                <a:solidFill>
                  <a:schemeClr val="tx1"/>
                </a:solidFill>
                <a:latin typeface="+mj-ea"/>
                <a:cs typeface="+mj-ea"/>
              </a:rPr>
              <a:t>21RG1A0552</a:t>
            </a:r>
            <a:endParaRPr lang="en-US" sz="2580" dirty="0">
              <a:solidFill>
                <a:schemeClr val="tx1"/>
              </a:solidFill>
              <a:latin typeface="+mj-ea"/>
              <a:cs typeface="+mj-ea"/>
            </a:endParaRPr>
          </a:p>
          <a:p>
            <a:pPr indent="457200" algn="just"/>
            <a:r>
              <a:rPr lang="en-US" sz="2580" dirty="0" smtClean="0">
                <a:solidFill>
                  <a:schemeClr val="tx1"/>
                </a:solidFill>
                <a:latin typeface="+mj-ea"/>
                <a:cs typeface="+mj-ea"/>
              </a:rPr>
              <a:t>T.AKHILA   </a:t>
            </a:r>
            <a:r>
              <a:rPr lang="en-US" sz="2580" b="1" dirty="0" smtClean="0">
                <a:solidFill>
                  <a:schemeClr val="tx1"/>
                </a:solidFill>
                <a:latin typeface="+mj-ea"/>
                <a:cs typeface="+mj-ea"/>
              </a:rPr>
              <a:t>                                       		 </a:t>
            </a:r>
            <a:r>
              <a:rPr lang="en-US" sz="2580" dirty="0" smtClean="0">
                <a:solidFill>
                  <a:schemeClr val="tx1"/>
                </a:solidFill>
                <a:latin typeface="+mj-ea"/>
                <a:cs typeface="+mj-ea"/>
              </a:rPr>
              <a:t>22RG5A050</a:t>
            </a:r>
            <a:r>
              <a:rPr lang="en-US" sz="2580" dirty="0" smtClean="0">
                <a:solidFill>
                  <a:schemeClr val="tx1"/>
                </a:solidFill>
                <a:latin typeface="Bookman Old Style" panose="02050604050505020204" pitchFamily="18" charset="0"/>
              </a:rPr>
              <a:t>6</a:t>
            </a:r>
            <a:endParaRPr lang="en-US" sz="2580" dirty="0" smtClean="0">
              <a:solidFill>
                <a:schemeClr val="tx1"/>
              </a:solidFill>
              <a:latin typeface="Bookman Old Style" panose="02050604050505020204" pitchFamily="18" charset="0"/>
            </a:endParaRPr>
          </a:p>
          <a:p>
            <a:pPr algn="just"/>
            <a:endParaRPr lang="en-US" sz="2580" b="1" dirty="0">
              <a:solidFill>
                <a:schemeClr val="tx1"/>
              </a:solidFill>
              <a:latin typeface="Bookman Old Style" panose="02050604050505020204" pitchFamily="18" charset="0"/>
            </a:endParaRPr>
          </a:p>
          <a:p>
            <a:pPr algn="just"/>
            <a:r>
              <a:rPr lang="en-US" b="1" i="1" dirty="0">
                <a:solidFill>
                  <a:schemeClr val="tx1"/>
                </a:solidFill>
                <a:latin typeface="Bookman Old Style" panose="02050604050505020204" pitchFamily="18" charset="0"/>
              </a:rPr>
              <a:t> </a:t>
            </a:r>
            <a:r>
              <a:rPr lang="en-US" b="1" i="1" dirty="0" smtClean="0">
                <a:solidFill>
                  <a:schemeClr val="tx1"/>
                </a:solidFill>
                <a:latin typeface="Bookman Old Style" panose="02050604050505020204" pitchFamily="18" charset="0"/>
              </a:rPr>
              <a:t>                     </a:t>
            </a:r>
            <a:r>
              <a:rPr lang="en-US" i="1" dirty="0" smtClean="0">
                <a:solidFill>
                  <a:schemeClr val="tx1"/>
                </a:solidFill>
                <a:latin typeface="Bookman Old Style" panose="02050604050505020204" pitchFamily="18" charset="0"/>
              </a:rPr>
              <a:t>Under </a:t>
            </a:r>
            <a:r>
              <a:rPr lang="en-US" i="1" dirty="0">
                <a:solidFill>
                  <a:schemeClr val="tx1"/>
                </a:solidFill>
                <a:latin typeface="Bookman Old Style" panose="02050604050505020204" pitchFamily="18" charset="0"/>
              </a:rPr>
              <a:t>the Guidance of </a:t>
            </a:r>
            <a:endParaRPr lang="en-US" i="1" dirty="0">
              <a:solidFill>
                <a:schemeClr val="tx1"/>
              </a:solidFill>
              <a:latin typeface="Bookman Old Style" panose="02050604050505020204" pitchFamily="18" charset="0"/>
            </a:endParaRPr>
          </a:p>
          <a:p>
            <a:pPr algn="just"/>
            <a:r>
              <a:rPr lang="en-US" b="1" i="1" dirty="0">
                <a:solidFill>
                  <a:schemeClr val="tx1"/>
                </a:solidFill>
                <a:latin typeface="Bookman Old Style" panose="02050604050505020204" pitchFamily="18" charset="0"/>
              </a:rPr>
              <a:t> </a:t>
            </a:r>
            <a:r>
              <a:rPr lang="en-US" b="1" i="1" dirty="0" smtClean="0">
                <a:solidFill>
                  <a:schemeClr val="tx1"/>
                </a:solidFill>
                <a:latin typeface="Bookman Old Style" panose="02050604050505020204" pitchFamily="18" charset="0"/>
              </a:rPr>
              <a:t>               </a:t>
            </a:r>
            <a:r>
              <a:rPr lang="en-US" b="1" i="1" dirty="0" smtClean="0">
                <a:solidFill>
                  <a:schemeClr val="tx1"/>
                </a:solidFill>
                <a:latin typeface="+mn-ea"/>
                <a:cs typeface="+mn-ea"/>
              </a:rPr>
              <a:t>           AVYAKTHA.E</a:t>
            </a:r>
            <a:endParaRPr lang="en-US" b="1" i="1" dirty="0" smtClean="0">
              <a:solidFill>
                <a:schemeClr val="tx1"/>
              </a:solidFill>
              <a:latin typeface="+mn-ea"/>
              <a:cs typeface="+mn-ea"/>
            </a:endParaRPr>
          </a:p>
          <a:p>
            <a:pPr algn="just"/>
            <a:r>
              <a:rPr lang="en-US" sz="2600" i="1" dirty="0" smtClean="0">
                <a:solidFill>
                  <a:schemeClr val="tx1"/>
                </a:solidFill>
                <a:cs typeface="+mn-lt"/>
              </a:rPr>
              <a:t>                                      M.TECH, ASSISTANT  PROFESSOR</a:t>
            </a:r>
            <a:endParaRPr lang="en-US" sz="2600" dirty="0">
              <a:solidFill>
                <a:schemeClr val="tx1"/>
              </a:solidFill>
              <a:cs typeface="+mn-lt"/>
            </a:endParaRPr>
          </a:p>
          <a:p>
            <a:endParaRPr lang="en-US" dirty="0">
              <a:solidFill>
                <a:schemeClr val="tx1"/>
              </a:solidFill>
              <a:cs typeface="+mn-lt"/>
            </a:endParaRPr>
          </a:p>
          <a:p>
            <a:endParaRPr lang="en-US" dirty="0">
              <a:cs typeface="+mn-lt"/>
            </a:endParaRPr>
          </a:p>
        </p:txBody>
      </p:sp>
      <p:sp>
        <p:nvSpPr>
          <p:cNvPr id="4097" name="Rectangle 1"/>
          <p:cNvSpPr>
            <a:spLocks noChangeArrowheads="1"/>
          </p:cNvSpPr>
          <p:nvPr/>
        </p:nvSpPr>
        <p:spPr bwMode="auto">
          <a:xfrm>
            <a:off x="928661" y="1"/>
            <a:ext cx="8215339" cy="1631216"/>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b="1" i="0" u="none" strike="noStrike" cap="none" normalizeH="0" baseline="0" dirty="0">
              <a:ln>
                <a:noFill/>
              </a:ln>
              <a:solidFill>
                <a:srgbClr val="FF3399"/>
              </a:solidFill>
              <a:effectLst/>
              <a:latin typeface="Calibri" panose="020F0502020204030204" pitchFamily="34" charset="0"/>
              <a:ea typeface="Bookman Old Style" panose="02050604050505020204" pitchFamily="18" charset="0"/>
              <a:cs typeface="Bookman Old Style" panose="020506040505050202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b="1" i="0" u="none" strike="noStrike" cap="none" normalizeH="0" baseline="0" dirty="0">
                <a:ln>
                  <a:noFill/>
                </a:ln>
                <a:solidFill>
                  <a:srgbClr val="FF3399"/>
                </a:solidFill>
                <a:effectLst/>
                <a:latin typeface="Bookman Old Style" panose="02050604050505020204" pitchFamily="18" charset="0"/>
                <a:ea typeface="Bookman Old Style" panose="02050604050505020204" pitchFamily="18" charset="0"/>
                <a:cs typeface="Bookman Old Style" panose="02050604050505020204" pitchFamily="18" charset="0"/>
              </a:rPr>
              <a:t>MALLA REDDY COLLEGE </a:t>
            </a:r>
            <a:r>
              <a:rPr kumimoji="0" lang="en-US" b="1" i="1" u="none" strike="noStrike" cap="none" normalizeH="0" baseline="0" dirty="0">
                <a:ln>
                  <a:noFill/>
                </a:ln>
                <a:solidFill>
                  <a:srgbClr val="FF3399"/>
                </a:solidFill>
                <a:effectLst/>
                <a:latin typeface="Bookman Old Style" panose="02050604050505020204" pitchFamily="18" charset="0"/>
                <a:ea typeface="Bookman Old Style" panose="02050604050505020204" pitchFamily="18" charset="0"/>
                <a:cs typeface="Bookman Old Style" panose="02050604050505020204" pitchFamily="18" charset="0"/>
              </a:rPr>
              <a:t>OF</a:t>
            </a:r>
            <a:r>
              <a:rPr kumimoji="0" lang="en-US" b="1" i="0" u="none" strike="noStrike" cap="none" normalizeH="0" baseline="0" dirty="0">
                <a:ln>
                  <a:noFill/>
                </a:ln>
                <a:solidFill>
                  <a:srgbClr val="FF3399"/>
                </a:solidFill>
                <a:effectLst/>
                <a:latin typeface="Bookman Old Style" panose="02050604050505020204" pitchFamily="18" charset="0"/>
                <a:ea typeface="Bookman Old Style" panose="02050604050505020204" pitchFamily="18" charset="0"/>
                <a:cs typeface="Bookman Old Style" panose="02050604050505020204" pitchFamily="18" charset="0"/>
              </a:rPr>
              <a:t> ENGINEERING FOR WOMEN  </a:t>
            </a: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(Approved by AICTE New Delhi and Affiliated to JNTUH) </a:t>
            </a: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a:t>
            </a:r>
            <a:r>
              <a:rPr kumimoji="0" lang="en-US" sz="1600" b="0" i="1" u="none" strike="noStrike" cap="none" normalizeH="0" baseline="0" dirty="0" err="1">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B.Tech</a:t>
            </a: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 Programs-CSE &amp; ECE Accredited by NBA)</a:t>
            </a:r>
            <a:endParaRPr kumimoji="0" lang="en-US" sz="8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(An ISO 9001 : 2015 Certified Institution)</a:t>
            </a:r>
            <a:endPar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sz="1600" b="0" i="1" u="none" strike="noStrike" cap="none" normalizeH="0" baseline="0" dirty="0" err="1">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Maisammguda</a:t>
            </a: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 </a:t>
            </a:r>
            <a:r>
              <a:rPr kumimoji="0" lang="en-US" sz="1600" b="0" i="1" u="none" strike="noStrike" cap="none" normalizeH="0" baseline="0" dirty="0" err="1">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Medchal</a:t>
            </a:r>
            <a:r>
              <a:rPr kumimoji="0" lang="en-US" sz="1600" b="0" i="1" u="none" strike="noStrike" cap="none" normalizeH="0" baseline="0" dirty="0">
                <a:ln>
                  <a:noFill/>
                </a:ln>
                <a:solidFill>
                  <a:srgbClr val="0033CC"/>
                </a:solidFill>
                <a:effectLst/>
                <a:latin typeface="Bookman Old Style" panose="02050604050505020204" pitchFamily="18" charset="0"/>
                <a:ea typeface="Bookman Old Style" panose="02050604050505020204" pitchFamily="18" charset="0"/>
                <a:cs typeface="Bookman Old Style" panose="02050604050505020204" pitchFamily="18" charset="0"/>
              </a:rPr>
              <a:t> (M), Hyderabad-500100,Telangana</a:t>
            </a:r>
            <a:endParaRPr kumimoji="0" lang="en-US" sz="2400" b="0" i="0" u="none" strike="noStrike" cap="none" normalizeH="0" baseline="0" dirty="0">
              <a:ln>
                <a:noFill/>
              </a:ln>
              <a:solidFill>
                <a:schemeClr val="tx1"/>
              </a:solidFill>
              <a:effectLst/>
              <a:latin typeface="Bookman Old Style" panose="02050604050505020204" pitchFamily="18" charset="0"/>
              <a:cs typeface="Arial" panose="020B0604020202020204" pitchFamily="34" charset="0"/>
            </a:endParaRPr>
          </a:p>
        </p:txBody>
      </p:sp>
      <p:pic>
        <p:nvPicPr>
          <p:cNvPr id="5" name="Picture 4"/>
          <p:cNvPicPr/>
          <p:nvPr/>
        </p:nvPicPr>
        <p:blipFill>
          <a:blip r:embed="rId1">
            <a:extLst>
              <a:ext uri="{28A0092B-C50C-407E-A947-70E740481C1C}">
                <a14:useLocalDpi xmlns:a14="http://schemas.microsoft.com/office/drawing/2010/main" val="0"/>
              </a:ext>
            </a:extLst>
          </a:blip>
          <a:srcRect/>
          <a:stretch>
            <a:fillRect/>
          </a:stretch>
        </p:blipFill>
        <p:spPr bwMode="auto">
          <a:xfrm>
            <a:off x="228600" y="381000"/>
            <a:ext cx="1265851" cy="10668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000" advTm="5945">
        <p:wedge/>
      </p:transition>
    </mc:Choice>
    <mc:Fallback>
      <p:transition spd="slow" advTm="5945">
        <p:wedg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style>
          <a:lnRef idx="2">
            <a:schemeClr val="accent1"/>
          </a:lnRef>
          <a:fillRef idx="1">
            <a:schemeClr val="lt1"/>
          </a:fillRef>
          <a:effectRef idx="0">
            <a:schemeClr val="accent1"/>
          </a:effectRef>
          <a:fontRef idx="minor">
            <a:schemeClr val="dk1"/>
          </a:fontRef>
        </p:style>
        <p:txBody>
          <a:bodyPr>
            <a:normAutofit/>
          </a:bodyPr>
          <a:lstStyle/>
          <a:p>
            <a:r>
              <a:rPr lang="en-US" sz="4800" b="1" dirty="0">
                <a:solidFill>
                  <a:schemeClr val="accent5">
                    <a:lumMod val="50000"/>
                  </a:schemeClr>
                </a:solidFill>
                <a:latin typeface="Bodoni MT Black" panose="02070A03080606020203" pitchFamily="18" charset="0"/>
              </a:rPr>
              <a:t>ABSTRACT</a:t>
            </a:r>
            <a:endParaRPr lang="en-US" sz="4800" b="1" dirty="0">
              <a:solidFill>
                <a:schemeClr val="accent5">
                  <a:lumMod val="50000"/>
                </a:schemeClr>
              </a:solidFill>
              <a:latin typeface="Bodoni MT Black" panose="02070A03080606020203" pitchFamily="18" charset="0"/>
            </a:endParaRPr>
          </a:p>
        </p:txBody>
      </p:sp>
      <p:sp>
        <p:nvSpPr>
          <p:cNvPr id="3" name="Content Placeholder 2"/>
          <p:cNvSpPr>
            <a:spLocks noGrp="1"/>
          </p:cNvSpPr>
          <p:nvPr>
            <p:ph idx="1"/>
          </p:nvPr>
        </p:nvSpPr>
        <p:spPr>
          <a:xfrm>
            <a:off x="533400" y="1371600"/>
            <a:ext cx="8400288" cy="5105400"/>
          </a:xfrm>
        </p:spPr>
        <p:txBody>
          <a:bodyPr>
            <a:noAutofit/>
          </a:bodyPr>
          <a:lstStyle/>
          <a:p>
            <a:pPr algn="just">
              <a:buFont typeface="Wingdings" panose="05000000000000000000" charset="0"/>
              <a:buChar char="Ø"/>
            </a:pPr>
            <a:r>
              <a:rPr lang="en-US" sz="2000" dirty="0"/>
              <a:t>Recent advances in wireless networking and big data technologies, such as 5G networks, medical big data analytics, and the Internet of Things, along with recent developments in wearable computing and artificial intelligence, are enabling </a:t>
            </a:r>
            <a:endParaRPr lang="en-US" sz="2000" dirty="0"/>
          </a:p>
          <a:p>
            <a:pPr algn="just">
              <a:buFont typeface="Wingdings" panose="05000000000000000000" charset="0"/>
              <a:buChar char="Ø"/>
            </a:pPr>
            <a:r>
              <a:rPr lang="en-US" sz="2000" dirty="0" smtClean="0"/>
              <a:t>the </a:t>
            </a:r>
            <a:r>
              <a:rPr lang="en-US" sz="2000" dirty="0"/>
              <a:t>development and implementation of innovative diabetes monitoring systems and applications</a:t>
            </a:r>
            <a:r>
              <a:rPr lang="en-US" sz="2000" dirty="0" smtClean="0"/>
              <a:t>.</a:t>
            </a:r>
            <a:endParaRPr lang="en-US" sz="2000" dirty="0" smtClean="0"/>
          </a:p>
          <a:p>
            <a:pPr algn="just">
              <a:buFont typeface="Wingdings" panose="05000000000000000000" charset="0"/>
              <a:buChar char="Ø"/>
            </a:pPr>
            <a:r>
              <a:rPr lang="en-US" sz="2000" dirty="0" smtClean="0"/>
              <a:t> </a:t>
            </a:r>
            <a:r>
              <a:rPr lang="en-US" sz="2000" dirty="0"/>
              <a:t>Due to the life-long and systematic harm suffered by diabetes patients, it is critical to design effective methods for the diagnosis and treatment of diabetes. </a:t>
            </a:r>
            <a:endParaRPr lang="en-US" sz="2000" dirty="0"/>
          </a:p>
          <a:p>
            <a:pPr algn="just">
              <a:buFont typeface="Wingdings" panose="05000000000000000000" charset="0"/>
              <a:buChar char="Ø"/>
            </a:pPr>
            <a:r>
              <a:rPr lang="en-US" sz="2000" dirty="0" smtClean="0"/>
              <a:t>Based </a:t>
            </a:r>
            <a:r>
              <a:rPr lang="en-US" sz="2000" dirty="0"/>
              <a:t>on our comprehensive investigation, this article classifies those methods into Diabetes 1.0 and Diabetes </a:t>
            </a:r>
            <a:r>
              <a:rPr lang="en-US" sz="2000" dirty="0" smtClean="0"/>
              <a:t>2.0</a:t>
            </a:r>
            <a:endParaRPr lang="en-US" sz="2000" dirty="0" smtClean="0"/>
          </a:p>
          <a:p>
            <a:pPr algn="just">
              <a:buFont typeface="Wingdings" panose="05000000000000000000" charset="0"/>
              <a:buChar char="Ø"/>
            </a:pPr>
            <a:r>
              <a:rPr lang="en-US" sz="2000" dirty="0" smtClean="0"/>
              <a:t> </a:t>
            </a:r>
            <a:r>
              <a:rPr lang="en-US" sz="2000" dirty="0"/>
              <a:t>which exhibit deficiencies in terms of networking and intelligence. Thus, our goal is to design a </a:t>
            </a:r>
            <a:r>
              <a:rPr lang="en-US" sz="2000" dirty="0" smtClean="0"/>
              <a:t>sustainable</a:t>
            </a:r>
            <a:endParaRPr lang="en-US" sz="2000" dirty="0" smtClean="0"/>
          </a:p>
          <a:p>
            <a:pPr algn="just">
              <a:buFont typeface="Wingdings" panose="05000000000000000000" charset="0"/>
              <a:buChar char="Ø"/>
            </a:pPr>
            <a:r>
              <a:rPr lang="en-US" sz="2000" dirty="0" smtClean="0"/>
              <a:t>cost-effective</a:t>
            </a:r>
            <a:r>
              <a:rPr lang="en-US" sz="2000" dirty="0"/>
              <a:t>, and intelligent diabetes diagnosis solution with personalized treatment. </a:t>
            </a:r>
            <a:endParaRPr lang="en-US" sz="2000" dirty="0"/>
          </a:p>
          <a:p>
            <a:pPr algn="just"/>
            <a:endParaRPr lang="en-US" sz="2000" dirty="0">
              <a:latin typeface="Bookman Old Style" panose="020506040505050202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advTm="6127">
        <p:wedge/>
      </p:transition>
    </mc:Choice>
    <mc:Fallback>
      <p:transition spd="slow" advTm="6127">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60755"/>
          </a:xfrm>
          <a:solidFill>
            <a:schemeClr val="bg1"/>
          </a:solidFill>
          <a:ln>
            <a:solidFill>
              <a:schemeClr val="tx2">
                <a:lumMod val="60000"/>
                <a:lumOff val="40000"/>
              </a:schemeClr>
            </a:solidFill>
          </a:ln>
        </p:spPr>
        <p:style>
          <a:lnRef idx="1">
            <a:schemeClr val="accent2"/>
          </a:lnRef>
          <a:fillRef idx="2">
            <a:schemeClr val="accent2"/>
          </a:fillRef>
          <a:effectRef idx="1">
            <a:schemeClr val="accent2"/>
          </a:effectRef>
          <a:fontRef idx="minor">
            <a:schemeClr val="dk1"/>
          </a:fontRef>
        </p:style>
        <p:txBody>
          <a:bodyPr/>
          <a:lstStyle/>
          <a:p>
            <a:r>
              <a:rPr lang="en-IN" sz="4800" b="1" dirty="0">
                <a:solidFill>
                  <a:schemeClr val="tx1"/>
                </a:solidFill>
                <a:latin typeface="Bodoni MT Black" panose="02070A03080606020203" pitchFamily="18" charset="0"/>
                <a:cs typeface="Bodoni MT Black" panose="02070A03080606020203" pitchFamily="18" charset="0"/>
              </a:rPr>
              <a:t>INTRODUCTION</a:t>
            </a:r>
            <a:endParaRPr lang="en-IN" sz="4800" b="1" dirty="0">
              <a:solidFill>
                <a:schemeClr val="tx1"/>
              </a:solidFill>
              <a:latin typeface="Bodoni MT Black" panose="02070A03080606020203" pitchFamily="18" charset="0"/>
              <a:cs typeface="Bodoni MT Black" panose="02070A03080606020203" pitchFamily="18" charset="0"/>
            </a:endParaRPr>
          </a:p>
        </p:txBody>
      </p:sp>
      <p:sp>
        <p:nvSpPr>
          <p:cNvPr id="3" name="Content Placeholder 2"/>
          <p:cNvSpPr>
            <a:spLocks noGrp="1"/>
          </p:cNvSpPr>
          <p:nvPr>
            <p:ph idx="1"/>
          </p:nvPr>
        </p:nvSpPr>
        <p:spPr>
          <a:xfrm>
            <a:off x="152400" y="1351280"/>
            <a:ext cx="8763000" cy="5506720"/>
          </a:xfrm>
        </p:spPr>
        <p:txBody>
          <a:bodyPr>
            <a:normAutofit fontScale="75000"/>
          </a:bodyPr>
          <a:lstStyle/>
          <a:p>
            <a:pPr>
              <a:buNone/>
            </a:pPr>
            <a:r>
              <a:rPr lang="en-US" sz="2200" b="1" dirty="0" smtClean="0">
                <a:latin typeface="Bookman Old Style" panose="02050604050505020204" pitchFamily="18" charset="0"/>
              </a:rPr>
              <a:t>CONCEPT</a:t>
            </a:r>
            <a:endParaRPr lang="en-US" sz="2200" dirty="0">
              <a:latin typeface="Bookman Old Style" panose="02050604050505020204" pitchFamily="18" charset="0"/>
            </a:endParaRPr>
          </a:p>
          <a:p>
            <a:pPr>
              <a:buFont typeface="Wingdings" panose="05000000000000000000" pitchFamily="2" charset="2"/>
              <a:buChar char="Ø"/>
            </a:pPr>
            <a:r>
              <a:rPr lang="en-US" sz="2600" dirty="0"/>
              <a:t>Diabetes is an extremely common chronic disease from which nearly 8.5 percent of </a:t>
            </a:r>
            <a:r>
              <a:rPr lang="en-US" sz="2600" dirty="0" smtClean="0"/>
              <a:t>the world </a:t>
            </a:r>
            <a:r>
              <a:rPr lang="en-US" sz="2600" dirty="0"/>
              <a:t>population suffer; 422 million people worldwide have to struggle with </a:t>
            </a:r>
            <a:r>
              <a:rPr lang="en-US" sz="2600" dirty="0" smtClean="0"/>
              <a:t>diabetes.</a:t>
            </a:r>
            <a:endParaRPr lang="en-US" sz="2600" dirty="0" smtClean="0"/>
          </a:p>
          <a:p>
            <a:pPr>
              <a:buFont typeface="Wingdings" panose="05000000000000000000" pitchFamily="2" charset="2"/>
              <a:buChar char="Ø"/>
            </a:pPr>
            <a:r>
              <a:rPr lang="en-US" sz="2600" dirty="0" smtClean="0"/>
              <a:t> More </a:t>
            </a:r>
            <a:r>
              <a:rPr lang="en-US" sz="2600" dirty="0"/>
              <a:t>critically, the situation will be worse, as reported in </a:t>
            </a:r>
            <a:r>
              <a:rPr lang="en-US" sz="2600" dirty="0" smtClean="0"/>
              <a:t> </a:t>
            </a:r>
            <a:r>
              <a:rPr lang="en-US" sz="2600" dirty="0"/>
              <a:t>with more teenagers and youth becoming susceptible to diabetes as well</a:t>
            </a:r>
            <a:r>
              <a:rPr lang="en-US" sz="2600" dirty="0" smtClean="0"/>
              <a:t>.</a:t>
            </a:r>
            <a:endParaRPr lang="en-US" sz="2600" dirty="0" smtClean="0"/>
          </a:p>
          <a:p>
            <a:pPr>
              <a:buFont typeface="Wingdings" panose="05000000000000000000" pitchFamily="2" charset="2"/>
              <a:buChar char="Ø"/>
            </a:pPr>
            <a:r>
              <a:rPr lang="en-US" sz="2600" dirty="0" smtClean="0"/>
              <a:t> </a:t>
            </a:r>
            <a:r>
              <a:rPr lang="en-US" sz="2600" dirty="0"/>
              <a:t>Due to the fact that diabetes has a huge impact on global well being and economy, it is urgent to improve methods for the prevention and treatment of </a:t>
            </a:r>
            <a:r>
              <a:rPr lang="en-US" sz="2600" dirty="0" smtClean="0"/>
              <a:t>diabetes</a:t>
            </a:r>
            <a:r>
              <a:rPr lang="en-US" sz="2000" dirty="0" smtClean="0"/>
              <a:t>. </a:t>
            </a:r>
            <a:endParaRPr lang="en-US" sz="2000" dirty="0"/>
          </a:p>
          <a:p>
            <a:pPr>
              <a:buNone/>
            </a:pPr>
            <a:r>
              <a:rPr lang="en-US" sz="2200" b="1" dirty="0" smtClean="0">
                <a:latin typeface="Bookman Old Style" panose="02050604050505020204" pitchFamily="18" charset="0"/>
              </a:rPr>
              <a:t>PROBLEM SOLUTION</a:t>
            </a:r>
            <a:endParaRPr lang="en-US" sz="2200" b="1" dirty="0" smtClean="0">
              <a:latin typeface="Bookman Old Style" panose="02050604050505020204" pitchFamily="18" charset="0"/>
            </a:endParaRPr>
          </a:p>
          <a:p>
            <a:pPr>
              <a:buFont typeface="Wingdings" panose="05000000000000000000" charset="0"/>
              <a:buChar char="Ø"/>
            </a:pPr>
            <a:r>
              <a:rPr lang="en-US" sz="2800" dirty="0"/>
              <a:t>To solve the above problems, in this article, we first propose a next generation diabetes solution called the 5G-Smart Diabetes </a:t>
            </a:r>
            <a:r>
              <a:rPr lang="en-US" sz="2800" dirty="0" smtClean="0"/>
              <a:t>system</a:t>
            </a:r>
            <a:endParaRPr lang="en-US" sz="2800" dirty="0" smtClean="0"/>
          </a:p>
          <a:p>
            <a:pPr>
              <a:buFont typeface="Wingdings" panose="05000000000000000000" charset="0"/>
              <a:buChar char="Ø"/>
            </a:pPr>
            <a:r>
              <a:rPr lang="en-US" sz="2800" dirty="0" smtClean="0"/>
              <a:t> </a:t>
            </a:r>
            <a:r>
              <a:rPr lang="en-US" sz="2800" dirty="0"/>
              <a:t>which integrates novel technologies including fifth generation (5G) mobile networks, machine learning, medical big data, social networking, smart clothing </a:t>
            </a:r>
            <a:r>
              <a:rPr lang="en-US" sz="2800" dirty="0" smtClean="0"/>
              <a:t>, </a:t>
            </a:r>
            <a:r>
              <a:rPr lang="en-US" sz="2800" dirty="0"/>
              <a:t>and so on. </a:t>
            </a:r>
            <a:endParaRPr lang="en-US" sz="2800" dirty="0"/>
          </a:p>
          <a:p>
            <a:endParaRPr lang="en-US" sz="2400" dirty="0">
              <a:latin typeface="Bookman Old Style" panose="02050604050505020204" pitchFamily="18" charset="0"/>
            </a:endParaRPr>
          </a:p>
          <a:p>
            <a:pPr>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advTm="7136">
        <p:wedge/>
      </p:transition>
    </mc:Choice>
    <mc:Fallback>
      <p:transition spd="slow" advTm="7136">
        <p:wedg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1062990"/>
          </a:xfrm>
          <a:solidFill>
            <a:schemeClr val="bg1"/>
          </a:solidFill>
          <a:ln>
            <a:solidFill>
              <a:schemeClr val="tx2">
                <a:lumMod val="60000"/>
                <a:lumOff val="40000"/>
              </a:schemeClr>
            </a:solidFill>
          </a:ln>
        </p:spPr>
        <p:style>
          <a:lnRef idx="0">
            <a:schemeClr val="accent1"/>
          </a:lnRef>
          <a:fillRef idx="3">
            <a:schemeClr val="accent1"/>
          </a:fillRef>
          <a:effectRef idx="3">
            <a:schemeClr val="accent1"/>
          </a:effectRef>
          <a:fontRef idx="minor">
            <a:schemeClr val="lt1"/>
          </a:fontRef>
        </p:style>
        <p:txBody>
          <a:bodyPr/>
          <a:lstStyle/>
          <a:p>
            <a:r>
              <a:rPr lang="en-IN" b="1" dirty="0">
                <a:solidFill>
                  <a:schemeClr val="tx1"/>
                </a:solidFill>
                <a:latin typeface="Bodoni MT Black" panose="02070A03080606020203" pitchFamily="18" charset="0"/>
                <a:cs typeface="Bodoni MT Black" panose="02070A03080606020203" pitchFamily="18" charset="0"/>
              </a:rPr>
              <a:t>SYSTEM ANALYSIS</a:t>
            </a:r>
            <a:endParaRPr lang="en-IN" b="1" dirty="0">
              <a:solidFill>
                <a:schemeClr val="tx1"/>
              </a:solidFill>
              <a:latin typeface="Bodoni MT Black" panose="02070A03080606020203" pitchFamily="18" charset="0"/>
              <a:cs typeface="Bodoni MT Black" panose="02070A03080606020203" pitchFamily="18" charset="0"/>
            </a:endParaRPr>
          </a:p>
        </p:txBody>
      </p:sp>
      <p:sp>
        <p:nvSpPr>
          <p:cNvPr id="3" name="Content Placeholder 2"/>
          <p:cNvSpPr>
            <a:spLocks noGrp="1"/>
          </p:cNvSpPr>
          <p:nvPr>
            <p:ph idx="1"/>
          </p:nvPr>
        </p:nvSpPr>
        <p:spPr>
          <a:xfrm>
            <a:off x="381000" y="1371600"/>
            <a:ext cx="8543956" cy="5181600"/>
          </a:xfrm>
        </p:spPr>
        <p:txBody>
          <a:bodyPr>
            <a:normAutofit fontScale="25000" lnSpcReduction="20000"/>
          </a:bodyPr>
          <a:lstStyle/>
          <a:p>
            <a:pPr>
              <a:buNone/>
            </a:pPr>
            <a:r>
              <a:rPr lang="en-US" sz="9600" b="1" dirty="0">
                <a:solidFill>
                  <a:srgbClr val="FF0000"/>
                </a:solidFill>
                <a:latin typeface="Bookman Old Style" panose="02050604050505020204" pitchFamily="18" charset="0"/>
              </a:rPr>
              <a:t>EXISTING SYSTEM</a:t>
            </a:r>
            <a:r>
              <a:rPr lang="en-US" sz="9600" b="1" dirty="0" smtClean="0">
                <a:solidFill>
                  <a:srgbClr val="FF0000"/>
                </a:solidFill>
                <a:latin typeface="Bookman Old Style" panose="02050604050505020204" pitchFamily="18" charset="0"/>
              </a:rPr>
              <a:t>:</a:t>
            </a:r>
            <a:endParaRPr lang="en-US" sz="9600" b="1" dirty="0" smtClean="0">
              <a:solidFill>
                <a:srgbClr val="FF0000"/>
              </a:solidFill>
              <a:latin typeface="Bookman Old Style" panose="02050604050505020204" pitchFamily="18" charset="0"/>
            </a:endParaRPr>
          </a:p>
          <a:p>
            <a:pPr>
              <a:buFont typeface="Wingdings" panose="05000000000000000000" charset="0"/>
              <a:buChar char="Ø"/>
            </a:pPr>
            <a:r>
              <a:rPr lang="en-US" sz="11200" dirty="0">
                <a:latin typeface="+mj-lt"/>
              </a:rPr>
              <a:t>As there is no staff available in unmanned restaurants, it is difficult for the restaurant management to estimate how the concept and the food is experienced by the customers. Existing</a:t>
            </a:r>
            <a:endParaRPr lang="en-US" sz="11200" dirty="0">
              <a:latin typeface="+mj-lt"/>
            </a:endParaRPr>
          </a:p>
          <a:p>
            <a:pPr>
              <a:buFont typeface="Wingdings" panose="05000000000000000000" charset="0"/>
              <a:buChar char="Ø"/>
            </a:pPr>
            <a:r>
              <a:rPr lang="en-US" sz="11200" dirty="0">
                <a:latin typeface="+mj-lt"/>
              </a:rPr>
              <a:t>T</a:t>
            </a:r>
            <a:r>
              <a:rPr lang="en-US" sz="11200" dirty="0" smtClean="0">
                <a:latin typeface="+mj-lt"/>
              </a:rPr>
              <a:t>he rating </a:t>
            </a:r>
            <a:r>
              <a:rPr lang="en-US" sz="11200" dirty="0">
                <a:latin typeface="+mj-lt"/>
              </a:rPr>
              <a:t>systems, such as Google and </a:t>
            </a:r>
            <a:r>
              <a:rPr lang="en-US" sz="11200" dirty="0" smtClean="0">
                <a:latin typeface="+mj-lt"/>
              </a:rPr>
              <a:t>Trip Advisor</a:t>
            </a:r>
            <a:r>
              <a:rPr lang="en-US" sz="11200" dirty="0">
                <a:latin typeface="+mj-lt"/>
              </a:rPr>
              <a:t>, only partially solve this problem, as they only cover a part of the customer’s opinions. </a:t>
            </a:r>
            <a:endParaRPr lang="en-US" sz="11200" dirty="0">
              <a:latin typeface="+mj-lt"/>
            </a:endParaRPr>
          </a:p>
          <a:p>
            <a:pPr>
              <a:buFont typeface="Wingdings" panose="05000000000000000000" charset="0"/>
              <a:buChar char="Ø"/>
            </a:pPr>
            <a:r>
              <a:rPr lang="en-US" sz="11200" dirty="0" smtClean="0"/>
              <a:t>These </a:t>
            </a:r>
            <a:r>
              <a:rPr lang="en-US" sz="11200" dirty="0"/>
              <a:t>rating systems are only used by a subset of the customers who rate the restaurant on independent rating platforms on their own initiative. </a:t>
            </a:r>
            <a:endParaRPr lang="en-US" sz="11200" dirty="0"/>
          </a:p>
          <a:p>
            <a:pPr>
              <a:buFont typeface="Wingdings" panose="05000000000000000000" charset="0"/>
              <a:buChar char="Ø"/>
            </a:pPr>
            <a:r>
              <a:rPr lang="en-US" sz="11200" dirty="0" smtClean="0"/>
              <a:t>This </a:t>
            </a:r>
            <a:r>
              <a:rPr lang="en-US" sz="11200" dirty="0"/>
              <a:t>applies mainly to customers who experience their visit as very positive or negative.</a:t>
            </a:r>
            <a:endParaRPr lang="en-US" sz="11200" dirty="0"/>
          </a:p>
          <a:p>
            <a:pPr>
              <a:buNone/>
            </a:pPr>
            <a:endParaRPr lang="en-US" sz="11200" dirty="0"/>
          </a:p>
        </p:txBody>
      </p:sp>
    </p:spTree>
  </p:cSld>
  <p:clrMapOvr>
    <a:masterClrMapping/>
  </p:clrMapOvr>
  <p:transition advTm="6111">
    <p:diamon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770" y="1615440"/>
            <a:ext cx="8587740" cy="4510405"/>
          </a:xfrm>
        </p:spPr>
        <p:txBody>
          <a:bodyPr>
            <a:normAutofit/>
          </a:bodyPr>
          <a:lstStyle/>
          <a:p>
            <a:pPr>
              <a:buNone/>
            </a:pPr>
            <a:endParaRPr lang="en-US" sz="2800" b="1" dirty="0">
              <a:solidFill>
                <a:schemeClr val="tx2">
                  <a:lumMod val="60000"/>
                  <a:lumOff val="40000"/>
                </a:schemeClr>
              </a:solidFill>
              <a:latin typeface="Bookman Old Style" panose="02050604050505020204" pitchFamily="18" charset="0"/>
            </a:endParaRPr>
          </a:p>
          <a:p>
            <a:pPr>
              <a:buFont typeface="Wingdings" panose="05000000000000000000" charset="0"/>
              <a:buChar char="Ø"/>
            </a:pPr>
            <a:r>
              <a:rPr lang="en-US" dirty="0" smtClean="0"/>
              <a:t>Smartness</a:t>
            </a:r>
            <a:endParaRPr lang="en-US" dirty="0" smtClean="0"/>
          </a:p>
          <a:p>
            <a:pPr>
              <a:buFont typeface="Wingdings" panose="05000000000000000000" charset="0"/>
              <a:buChar char="Ø"/>
            </a:pPr>
            <a:r>
              <a:rPr lang="en-US" dirty="0" smtClean="0"/>
              <a:t>With </a:t>
            </a:r>
            <a:r>
              <a:rPr lang="en-US" dirty="0"/>
              <a:t>cognitive intelligence toward patients' status </a:t>
            </a:r>
            <a:endParaRPr lang="en-US" dirty="0"/>
          </a:p>
          <a:p>
            <a:pPr>
              <a:buFont typeface="Wingdings" panose="05000000000000000000" charset="0"/>
              <a:buChar char="Ø"/>
            </a:pPr>
            <a:r>
              <a:rPr lang="en-US" dirty="0" smtClean="0"/>
              <a:t>network resources</a:t>
            </a:r>
            <a:endParaRPr lang="en-US" dirty="0" smtClean="0"/>
          </a:p>
          <a:p>
            <a:pPr>
              <a:buFont typeface="Wingdings" panose="05000000000000000000" charset="0"/>
              <a:buChar char="Ø"/>
            </a:pPr>
            <a:r>
              <a:rPr lang="en-US" dirty="0" smtClean="0"/>
              <a:t> </a:t>
            </a:r>
            <a:r>
              <a:rPr lang="en-US" dirty="0"/>
              <a:t>5G-Smart Diabetes achieves early detection and prevention of diabetes and provides personalized treatment to patients.</a:t>
            </a:r>
            <a:endParaRPr lang="en-US" dirty="0"/>
          </a:p>
        </p:txBody>
      </p:sp>
      <p:sp>
        <p:nvSpPr>
          <p:cNvPr id="4" name="Title 3"/>
          <p:cNvSpPr/>
          <p:nvPr>
            <p:ph type="title"/>
          </p:nvPr>
        </p:nvSpPr>
        <p:spPr>
          <a:ln>
            <a:solidFill>
              <a:schemeClr val="tx2">
                <a:lumMod val="60000"/>
                <a:lumOff val="40000"/>
              </a:schemeClr>
            </a:solidFill>
          </a:ln>
        </p:spPr>
        <p:txBody>
          <a:bodyPr>
            <a:noAutofit/>
          </a:bodyPr>
          <a:p>
            <a:r>
              <a:rPr lang="en-IN" sz="3600" b="1" dirty="0">
                <a:solidFill>
                  <a:schemeClr val="tx1"/>
                </a:solidFill>
                <a:latin typeface="Bodoni MT Black" panose="02070A03080606020203" pitchFamily="18" charset="0"/>
                <a:cs typeface="Bodoni MT Black" panose="02070A03080606020203" pitchFamily="18" charset="0"/>
                <a:sym typeface="+mn-ea"/>
              </a:rPr>
              <a:t>ADVANTAGES OF PROPOSED SYSTEM</a:t>
            </a:r>
            <a:endParaRPr lang="en-IN" sz="3600" b="1" dirty="0">
              <a:solidFill>
                <a:schemeClr val="tx1"/>
              </a:solidFill>
              <a:latin typeface="Bodoni MT Black" panose="02070A03080606020203" pitchFamily="18" charset="0"/>
              <a:cs typeface="Bodoni MT Black" panose="02070A03080606020203"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advTm="4256">
        <p:wedge/>
      </p:transition>
    </mc:Choice>
    <mc:Fallback>
      <p:transition spd="slow" advTm="4256">
        <p:wedg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solidFill>
            <a:schemeClr val="bg1">
              <a:lumMod val="95000"/>
            </a:schemeClr>
          </a:solidFill>
          <a:ln>
            <a:solidFill>
              <a:schemeClr val="tx2">
                <a:lumMod val="60000"/>
                <a:lumOff val="40000"/>
              </a:schemeClr>
            </a:solidFill>
          </a:ln>
        </p:spPr>
        <p:style>
          <a:lnRef idx="0">
            <a:schemeClr val="accent4"/>
          </a:lnRef>
          <a:fillRef idx="3">
            <a:schemeClr val="accent4"/>
          </a:fillRef>
          <a:effectRef idx="3">
            <a:schemeClr val="accent4"/>
          </a:effectRef>
          <a:fontRef idx="minor">
            <a:schemeClr val="lt1"/>
          </a:fontRef>
        </p:style>
        <p:txBody>
          <a:bodyPr/>
          <a:lstStyle/>
          <a:p>
            <a:r>
              <a:rPr lang="en-US" b="1" dirty="0" smtClean="0">
                <a:latin typeface="Bookman Old Style" panose="02050604050505020204" pitchFamily="18" charset="0"/>
              </a:rPr>
              <a:t> </a:t>
            </a:r>
            <a:r>
              <a:rPr lang="en-US" b="1" dirty="0" smtClean="0">
                <a:solidFill>
                  <a:schemeClr val="tx1"/>
                </a:solidFill>
                <a:latin typeface="Bodoni MT Black" panose="02070A03080606020203" pitchFamily="18" charset="0"/>
                <a:cs typeface="Bodoni MT Black" panose="02070A03080606020203" pitchFamily="18" charset="0"/>
              </a:rPr>
              <a:t>SYSTEM ARCHITECTURE</a:t>
            </a:r>
            <a:endParaRPr lang="en-US" b="1" dirty="0" smtClean="0">
              <a:solidFill>
                <a:schemeClr val="tx1"/>
              </a:solidFill>
              <a:latin typeface="Bodoni MT Black" panose="02070A03080606020203" pitchFamily="18" charset="0"/>
              <a:cs typeface="Bodoni MT Black" panose="02070A03080606020203" pitchFamily="18" charset="0"/>
            </a:endParaRPr>
          </a:p>
        </p:txBody>
      </p:sp>
      <p:sp>
        <p:nvSpPr>
          <p:cNvPr id="6" name="Content Placeholder 5"/>
          <p:cNvSpPr>
            <a:spLocks noGrp="1"/>
          </p:cNvSpPr>
          <p:nvPr>
            <p:ph idx="1"/>
          </p:nvPr>
        </p:nvSpPr>
        <p:spPr>
          <a:xfrm>
            <a:off x="1142977" y="1527048"/>
            <a:ext cx="7786743" cy="4830910"/>
          </a:xfrm>
        </p:spPr>
        <p:txBody>
          <a:bodyPr>
            <a:normAutofit/>
          </a:bodyPr>
          <a:lstStyle/>
          <a:p>
            <a:pPr>
              <a:buNone/>
            </a:pPr>
            <a:endParaRPr lang="en-IN" dirty="0"/>
          </a:p>
          <a:p>
            <a:pPr>
              <a:buNone/>
            </a:pPr>
            <a:endParaRPr lang="en-IN" dirty="0"/>
          </a:p>
          <a:p>
            <a:pPr>
              <a:buNone/>
            </a:pPr>
            <a:endParaRPr lang="en-IN" dirty="0"/>
          </a:p>
          <a:p>
            <a:pPr>
              <a:buNone/>
            </a:pPr>
            <a:endParaRPr lang="en-IN" dirty="0"/>
          </a:p>
        </p:txBody>
      </p:sp>
      <p:pic>
        <p:nvPicPr>
          <p:cNvPr id="7" name="Picture 6"/>
          <p:cNvPicPr/>
          <p:nvPr/>
        </p:nvPicPr>
        <p:blipFill>
          <a:blip r:embed="rId1">
            <a:extLst>
              <a:ext uri="{28A0092B-C50C-407E-A947-70E740481C1C}">
                <a14:useLocalDpi xmlns:a14="http://schemas.microsoft.com/office/drawing/2010/main" val="0"/>
              </a:ext>
            </a:extLst>
          </a:blip>
          <a:srcRect/>
          <a:stretch>
            <a:fillRect/>
          </a:stretch>
        </p:blipFill>
        <p:spPr bwMode="auto">
          <a:xfrm>
            <a:off x="269875" y="1524000"/>
            <a:ext cx="8616950" cy="50292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000" advTm="5245">
        <p:wedge/>
      </p:transition>
    </mc:Choice>
    <mc:Fallback>
      <p:transition spd="slow" advTm="5245">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483"/>
            <a:ext cx="8229600" cy="1143000"/>
          </a:xfrm>
          <a:solidFill>
            <a:schemeClr val="bg1"/>
          </a:solidFill>
        </p:spPr>
        <p:style>
          <a:lnRef idx="1">
            <a:schemeClr val="accent4"/>
          </a:lnRef>
          <a:fillRef idx="3">
            <a:schemeClr val="accent4"/>
          </a:fillRef>
          <a:effectRef idx="2">
            <a:schemeClr val="accent4"/>
          </a:effectRef>
          <a:fontRef idx="minor">
            <a:schemeClr val="lt1"/>
          </a:fontRef>
        </p:style>
        <p:txBody>
          <a:bodyPr/>
          <a:lstStyle/>
          <a:p>
            <a:r>
              <a:rPr lang="en-US" dirty="0">
                <a:solidFill>
                  <a:schemeClr val="tx1"/>
                </a:solidFill>
                <a:latin typeface="Bodoni MT Black" panose="02070A03080606020203" pitchFamily="18" charset="0"/>
                <a:cs typeface="Bodoni MT Black" panose="02070A03080606020203" pitchFamily="18" charset="0"/>
              </a:rPr>
              <a:t>RESULT</a:t>
            </a:r>
            <a:endParaRPr lang="en-US" dirty="0">
              <a:solidFill>
                <a:schemeClr val="tx1"/>
              </a:solidFill>
              <a:latin typeface="Bodoni MT Black" panose="02070A03080606020203" pitchFamily="18" charset="0"/>
              <a:cs typeface="Bodoni MT Black" panose="02070A03080606020203" pitchFamily="18" charset="0"/>
            </a:endParaRPr>
          </a:p>
        </p:txBody>
      </p:sp>
      <p:sp>
        <p:nvSpPr>
          <p:cNvPr id="7" name="TextBox 6"/>
          <p:cNvSpPr txBox="1"/>
          <p:nvPr/>
        </p:nvSpPr>
        <p:spPr>
          <a:xfrm>
            <a:off x="457200" y="6172200"/>
            <a:ext cx="8305800" cy="706755"/>
          </a:xfrm>
          <a:prstGeom prst="rect">
            <a:avLst/>
          </a:prstGeom>
          <a:noFill/>
        </p:spPr>
        <p:txBody>
          <a:bodyPr wrap="square" rtlCol="0">
            <a:spAutoFit/>
          </a:bodyPr>
          <a:lstStyle/>
          <a:p>
            <a:pPr marL="2286000" lvl="5" indent="457200"/>
            <a:r>
              <a:rPr lang="en-IN" sz="2000" dirty="0" smtClean="0"/>
              <a:t>F</a:t>
            </a:r>
            <a:r>
              <a:rPr lang="en-US" altLang="en-IN" sz="2000" dirty="0" smtClean="0"/>
              <a:t>i</a:t>
            </a:r>
            <a:r>
              <a:rPr lang="en-IN" sz="2000" dirty="0" smtClean="0"/>
              <a:t>g</a:t>
            </a:r>
            <a:r>
              <a:rPr lang="en-IN" sz="2000" dirty="0" smtClean="0"/>
              <a:t>-1: </a:t>
            </a:r>
            <a:r>
              <a:rPr lang="en-IN" sz="2000" dirty="0" smtClean="0"/>
              <a:t>Upload Files </a:t>
            </a:r>
            <a:endParaRPr lang="en-US" sz="2000" dirty="0" smtClean="0"/>
          </a:p>
          <a:p>
            <a:endParaRPr lang="en-IN" sz="2000" dirty="0"/>
          </a:p>
        </p:txBody>
      </p:sp>
      <p:pic>
        <p:nvPicPr>
          <p:cNvPr id="9" name="Content Placeholder 8"/>
          <p:cNvPicPr>
            <a:picLocks noGrp="1"/>
          </p:cNvPicPr>
          <p:nvPr>
            <p:ph idx="1"/>
          </p:nvPr>
        </p:nvPicPr>
        <p:blipFill>
          <a:blip r:embed="rId1"/>
          <a:srcRect/>
          <a:stretch>
            <a:fillRect/>
          </a:stretch>
        </p:blipFill>
        <p:spPr bwMode="auto">
          <a:xfrm>
            <a:off x="546957" y="1600200"/>
            <a:ext cx="8050085" cy="4419599"/>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4878">
        <p:wedge/>
      </p:transition>
    </mc:Choice>
    <mc:Fallback>
      <p:transition spd="slow" advTm="4878">
        <p:wedg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8600" y="5939790"/>
            <a:ext cx="8915400" cy="572770"/>
          </a:xfrm>
          <a:prstGeom prst="rect">
            <a:avLst/>
          </a:prstGeom>
          <a:noFill/>
        </p:spPr>
        <p:txBody>
          <a:bodyPr wrap="square" rtlCol="0">
            <a:noAutofit/>
          </a:bodyPr>
          <a:lstStyle/>
          <a:p>
            <a:r>
              <a:rPr lang="en-US" altLang="en-IN" sz="2000" dirty="0" smtClean="0"/>
              <a:t>       			</a:t>
            </a:r>
            <a:r>
              <a:rPr lang="en-IN" sz="2000" dirty="0" smtClean="0"/>
              <a:t>F</a:t>
            </a:r>
            <a:r>
              <a:rPr lang="en-US" altLang="en-IN" sz="2000" dirty="0" smtClean="0"/>
              <a:t>i</a:t>
            </a:r>
            <a:r>
              <a:rPr lang="en-IN" sz="2000" dirty="0" smtClean="0"/>
              <a:t>g-2</a:t>
            </a:r>
            <a:r>
              <a:rPr lang="en-US" altLang="en-IN" sz="2000" dirty="0" smtClean="0"/>
              <a:t>:</a:t>
            </a:r>
            <a:r>
              <a:rPr lang="en-IN" sz="2000" dirty="0" smtClean="0"/>
              <a:t>Pre-process Dataset</a:t>
            </a:r>
            <a:endParaRPr lang="en-US" sz="2000" dirty="0" smtClean="0"/>
          </a:p>
          <a:p>
            <a:r>
              <a:rPr lang="en-IN" sz="2000" dirty="0" smtClean="0"/>
              <a:t> </a:t>
            </a:r>
            <a:endParaRPr lang="en-US" sz="2000" dirty="0" smtClean="0"/>
          </a:p>
          <a:p>
            <a:endParaRPr lang="en-IN" dirty="0"/>
          </a:p>
        </p:txBody>
      </p:sp>
      <p:pic>
        <p:nvPicPr>
          <p:cNvPr id="9" name="Picture 8"/>
          <p:cNvPicPr/>
          <p:nvPr/>
        </p:nvPicPr>
        <p:blipFill>
          <a:blip r:embed="rId1"/>
          <a:srcRect/>
          <a:stretch>
            <a:fillRect/>
          </a:stretch>
        </p:blipFill>
        <p:spPr bwMode="auto">
          <a:xfrm>
            <a:off x="914400" y="457200"/>
            <a:ext cx="7620000" cy="5105399"/>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5367">
        <p:wedge/>
      </p:transition>
    </mc:Choice>
    <mc:Fallback>
      <p:transition spd="slow" advTm="5367">
        <p:wedg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943600" y="1002030"/>
            <a:ext cx="3048000" cy="804545"/>
          </a:xfrm>
          <a:prstGeom prst="rect">
            <a:avLst/>
          </a:prstGeom>
          <a:noFill/>
        </p:spPr>
        <p:txBody>
          <a:bodyPr wrap="square" rtlCol="0">
            <a:noAutofit/>
          </a:bodyPr>
          <a:lstStyle/>
          <a:p>
            <a:r>
              <a:rPr lang="en-IN" dirty="0" smtClean="0"/>
              <a:t>F</a:t>
            </a:r>
            <a:r>
              <a:rPr lang="en-US" altLang="en-IN" dirty="0" smtClean="0"/>
              <a:t>i</a:t>
            </a:r>
            <a:r>
              <a:rPr lang="en-IN" dirty="0" smtClean="0"/>
              <a:t>g-3: </a:t>
            </a:r>
            <a:r>
              <a:rPr lang="en-IN" dirty="0" smtClean="0"/>
              <a:t>Run Decision Tree Algorithm </a:t>
            </a:r>
            <a:endParaRPr lang="en-US" dirty="0" smtClean="0"/>
          </a:p>
          <a:p>
            <a:endParaRPr lang="en-IN" dirty="0"/>
          </a:p>
        </p:txBody>
      </p:sp>
      <p:sp>
        <p:nvSpPr>
          <p:cNvPr id="9" name="TextBox 8"/>
          <p:cNvSpPr txBox="1"/>
          <p:nvPr/>
        </p:nvSpPr>
        <p:spPr>
          <a:xfrm>
            <a:off x="609600" y="4777105"/>
            <a:ext cx="2209800" cy="764540"/>
          </a:xfrm>
          <a:prstGeom prst="rect">
            <a:avLst/>
          </a:prstGeom>
          <a:noFill/>
        </p:spPr>
        <p:txBody>
          <a:bodyPr wrap="square" rtlCol="0">
            <a:noAutofit/>
          </a:bodyPr>
          <a:lstStyle/>
          <a:p>
            <a:r>
              <a:rPr lang="en-IN" dirty="0" smtClean="0"/>
              <a:t>F</a:t>
            </a:r>
            <a:r>
              <a:rPr lang="en-US" altLang="en-IN" dirty="0" smtClean="0"/>
              <a:t>i</a:t>
            </a:r>
            <a:r>
              <a:rPr lang="en-IN" dirty="0" smtClean="0"/>
              <a:t>g-4:</a:t>
            </a:r>
            <a:r>
              <a:rPr lang="en-US" altLang="en-IN" dirty="0" smtClean="0"/>
              <a:t>Run SVM Algorithm</a:t>
            </a:r>
            <a:endParaRPr lang="en-US" dirty="0" smtClean="0"/>
          </a:p>
          <a:p>
            <a:r>
              <a:rPr lang="en-IN" dirty="0" smtClean="0"/>
              <a:t> </a:t>
            </a:r>
            <a:endParaRPr lang="en-US" dirty="0" smtClean="0"/>
          </a:p>
          <a:p>
            <a:endParaRPr lang="en-IN" dirty="0"/>
          </a:p>
        </p:txBody>
      </p:sp>
      <p:pic>
        <p:nvPicPr>
          <p:cNvPr id="10" name="Picture 9"/>
          <p:cNvPicPr/>
          <p:nvPr/>
        </p:nvPicPr>
        <p:blipFill>
          <a:blip r:embed="rId1"/>
          <a:srcRect/>
          <a:stretch>
            <a:fillRect/>
          </a:stretch>
        </p:blipFill>
        <p:spPr bwMode="auto">
          <a:xfrm>
            <a:off x="457200" y="228600"/>
            <a:ext cx="5274310" cy="2971800"/>
          </a:xfrm>
          <a:prstGeom prst="rect">
            <a:avLst/>
          </a:prstGeom>
          <a:noFill/>
          <a:ln w="9525">
            <a:noFill/>
            <a:miter lim="800000"/>
            <a:headEnd/>
            <a:tailEnd/>
          </a:ln>
        </p:spPr>
      </p:pic>
      <p:pic>
        <p:nvPicPr>
          <p:cNvPr id="11" name="Picture 10"/>
          <p:cNvPicPr/>
          <p:nvPr/>
        </p:nvPicPr>
        <p:blipFill>
          <a:blip r:embed="rId2"/>
          <a:srcRect/>
          <a:stretch>
            <a:fillRect/>
          </a:stretch>
        </p:blipFill>
        <p:spPr bwMode="auto">
          <a:xfrm>
            <a:off x="3048000" y="3429000"/>
            <a:ext cx="5731510" cy="3222401"/>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6785">
        <p:wedge/>
      </p:transition>
    </mc:Choice>
    <mc:Fallback>
      <p:transition spd="slow" advTm="6785">
        <p:wedg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324600" y="1355725"/>
            <a:ext cx="2423795" cy="930910"/>
          </a:xfrm>
          <a:prstGeom prst="rect">
            <a:avLst/>
          </a:prstGeom>
          <a:noFill/>
        </p:spPr>
        <p:txBody>
          <a:bodyPr wrap="square" rtlCol="0">
            <a:noAutofit/>
          </a:bodyPr>
          <a:lstStyle/>
          <a:p>
            <a:r>
              <a:rPr lang="en-IN" dirty="0" smtClean="0"/>
              <a:t>F</a:t>
            </a:r>
            <a:r>
              <a:rPr lang="en-US" altLang="en-IN" dirty="0" smtClean="0"/>
              <a:t>i</a:t>
            </a:r>
            <a:r>
              <a:rPr lang="en-IN" dirty="0" smtClean="0"/>
              <a:t>g-5:</a:t>
            </a:r>
            <a:r>
              <a:rPr lang="en-US" altLang="en-IN" dirty="0" smtClean="0"/>
              <a:t>Run ANN Algorithm</a:t>
            </a:r>
            <a:endParaRPr lang="en-US" dirty="0" smtClean="0"/>
          </a:p>
          <a:p>
            <a:r>
              <a:rPr lang="en-IN" dirty="0" smtClean="0"/>
              <a:t> </a:t>
            </a:r>
            <a:endParaRPr lang="en-US" dirty="0" smtClean="0"/>
          </a:p>
          <a:p>
            <a:endParaRPr lang="en-IN" dirty="0"/>
          </a:p>
        </p:txBody>
      </p:sp>
      <p:sp>
        <p:nvSpPr>
          <p:cNvPr id="11" name="TextBox 10"/>
          <p:cNvSpPr txBox="1"/>
          <p:nvPr/>
        </p:nvSpPr>
        <p:spPr>
          <a:xfrm>
            <a:off x="304800" y="4608195"/>
            <a:ext cx="2590800" cy="740410"/>
          </a:xfrm>
          <a:prstGeom prst="rect">
            <a:avLst/>
          </a:prstGeom>
          <a:noFill/>
        </p:spPr>
        <p:txBody>
          <a:bodyPr wrap="square" rtlCol="0">
            <a:noAutofit/>
          </a:bodyPr>
          <a:lstStyle/>
          <a:p>
            <a:r>
              <a:rPr lang="en-IN" dirty="0" smtClean="0"/>
              <a:t>F</a:t>
            </a:r>
            <a:r>
              <a:rPr lang="en-US" altLang="en-IN" dirty="0" smtClean="0"/>
              <a:t>i</a:t>
            </a:r>
            <a:r>
              <a:rPr lang="en-IN" dirty="0" smtClean="0"/>
              <a:t>g-6:</a:t>
            </a:r>
            <a:r>
              <a:rPr lang="en-US" altLang="en-IN" dirty="0" smtClean="0"/>
              <a:t>Accuracy Graph</a:t>
            </a:r>
            <a:endParaRPr lang="en-US" dirty="0" smtClean="0"/>
          </a:p>
          <a:p>
            <a:r>
              <a:rPr lang="en-IN" dirty="0" smtClean="0"/>
              <a:t> </a:t>
            </a:r>
            <a:endParaRPr lang="en-US" dirty="0" smtClean="0"/>
          </a:p>
          <a:p>
            <a:endParaRPr lang="en-IN" dirty="0"/>
          </a:p>
          <a:p>
            <a:endParaRPr lang="en-IN" dirty="0"/>
          </a:p>
        </p:txBody>
      </p:sp>
      <p:pic>
        <p:nvPicPr>
          <p:cNvPr id="9" name="Picture 8"/>
          <p:cNvPicPr/>
          <p:nvPr/>
        </p:nvPicPr>
        <p:blipFill>
          <a:blip r:embed="rId1"/>
          <a:srcRect/>
          <a:stretch>
            <a:fillRect/>
          </a:stretch>
        </p:blipFill>
        <p:spPr bwMode="auto">
          <a:xfrm>
            <a:off x="304800" y="304800"/>
            <a:ext cx="5029200" cy="3200400"/>
          </a:xfrm>
          <a:prstGeom prst="rect">
            <a:avLst/>
          </a:prstGeom>
          <a:noFill/>
          <a:ln w="9525">
            <a:noFill/>
            <a:miter lim="800000"/>
            <a:headEnd/>
            <a:tailEnd/>
          </a:ln>
        </p:spPr>
      </p:pic>
      <p:pic>
        <p:nvPicPr>
          <p:cNvPr id="12" name="Picture 11"/>
          <p:cNvPicPr/>
          <p:nvPr/>
        </p:nvPicPr>
        <p:blipFill>
          <a:blip r:embed="rId2"/>
          <a:srcRect/>
          <a:stretch>
            <a:fillRect/>
          </a:stretch>
        </p:blipFill>
        <p:spPr bwMode="auto">
          <a:xfrm>
            <a:off x="3048000" y="3635599"/>
            <a:ext cx="5731510" cy="3070001"/>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7666">
        <p:wedge/>
      </p:transition>
    </mc:Choice>
    <mc:Fallback>
      <p:transition spd="slow" advTm="7666">
        <p:wedg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72795" y="5334000"/>
            <a:ext cx="7685405" cy="1198880"/>
          </a:xfrm>
          <a:prstGeom prst="rect">
            <a:avLst/>
          </a:prstGeom>
          <a:noFill/>
        </p:spPr>
        <p:txBody>
          <a:bodyPr wrap="square" rtlCol="0">
            <a:spAutoFit/>
          </a:bodyPr>
          <a:lstStyle/>
          <a:p>
            <a:pPr marL="1828800" lvl="4" indent="457200"/>
            <a:endParaRPr lang="en-IN" dirty="0"/>
          </a:p>
          <a:p>
            <a:pPr marL="1828800" lvl="4" indent="457200"/>
            <a:r>
              <a:rPr lang="en-IN" dirty="0"/>
              <a:t>F</a:t>
            </a:r>
            <a:r>
              <a:rPr lang="en-US" altLang="en-IN" dirty="0"/>
              <a:t>i</a:t>
            </a:r>
            <a:r>
              <a:rPr lang="en-IN" dirty="0"/>
              <a:t>g-7 </a:t>
            </a:r>
            <a:r>
              <a:rPr lang="en-IN" dirty="0" smtClean="0"/>
              <a:t>:</a:t>
            </a:r>
            <a:r>
              <a:rPr lang="en-US" altLang="en-IN" dirty="0" smtClean="0"/>
              <a:t>Start Cloud Server</a:t>
            </a:r>
            <a:endParaRPr lang="en-US" dirty="0" smtClean="0"/>
          </a:p>
          <a:p>
            <a:endParaRPr lang="en-IN" dirty="0"/>
          </a:p>
          <a:p>
            <a:endParaRPr lang="en-IN" dirty="0"/>
          </a:p>
        </p:txBody>
      </p:sp>
      <p:pic>
        <p:nvPicPr>
          <p:cNvPr id="6" name="Picture 5"/>
          <p:cNvPicPr/>
          <p:nvPr/>
        </p:nvPicPr>
        <p:blipFill>
          <a:blip r:embed="rId1"/>
          <a:srcRect/>
          <a:stretch>
            <a:fillRect/>
          </a:stretch>
        </p:blipFill>
        <p:spPr bwMode="auto">
          <a:xfrm>
            <a:off x="838200" y="533400"/>
            <a:ext cx="7467600" cy="44306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7738">
        <p:wedge/>
      </p:transition>
    </mc:Choice>
    <mc:Fallback>
      <p:transition spd="slow" advTm="7738">
        <p:wedg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82370" y="5334000"/>
            <a:ext cx="7061200" cy="1198880"/>
          </a:xfrm>
          <a:prstGeom prst="rect">
            <a:avLst/>
          </a:prstGeom>
          <a:noFill/>
        </p:spPr>
        <p:txBody>
          <a:bodyPr wrap="square" rtlCol="0">
            <a:spAutoFit/>
          </a:bodyPr>
          <a:lstStyle/>
          <a:p>
            <a:pPr marL="1371600" lvl="3" indent="457200"/>
            <a:endParaRPr lang="en-IN" dirty="0" smtClean="0"/>
          </a:p>
          <a:p>
            <a:pPr marL="1371600" lvl="3" indent="457200"/>
            <a:r>
              <a:rPr lang="en-IN" dirty="0" smtClean="0"/>
              <a:t>F</a:t>
            </a:r>
            <a:r>
              <a:rPr lang="en-US" altLang="en-IN" dirty="0" smtClean="0"/>
              <a:t>i</a:t>
            </a:r>
            <a:r>
              <a:rPr lang="en-IN" dirty="0" smtClean="0"/>
              <a:t>g-</a:t>
            </a:r>
            <a:r>
              <a:rPr lang="en-US" altLang="en-IN" dirty="0" smtClean="0"/>
              <a:t>8</a:t>
            </a:r>
            <a:r>
              <a:rPr lang="en-IN" dirty="0" smtClean="0"/>
              <a:t>:</a:t>
            </a:r>
            <a:r>
              <a:rPr lang="en-US" altLang="en-IN" dirty="0" smtClean="0"/>
              <a:t>Upload User Details</a:t>
            </a:r>
            <a:endParaRPr lang="en-US" dirty="0" smtClean="0"/>
          </a:p>
          <a:p>
            <a:r>
              <a:rPr lang="en-IN" dirty="0" smtClean="0"/>
              <a:t> </a:t>
            </a:r>
            <a:endParaRPr lang="en-US" dirty="0" smtClean="0"/>
          </a:p>
          <a:p>
            <a:endParaRPr lang="en-IN" dirty="0"/>
          </a:p>
        </p:txBody>
      </p:sp>
      <p:pic>
        <p:nvPicPr>
          <p:cNvPr id="7" name="Picture 6"/>
          <p:cNvPicPr/>
          <p:nvPr/>
        </p:nvPicPr>
        <p:blipFill>
          <a:blip r:embed="rId1"/>
          <a:srcRect/>
          <a:stretch>
            <a:fillRect/>
          </a:stretch>
        </p:blipFill>
        <p:spPr bwMode="auto">
          <a:xfrm>
            <a:off x="1143000" y="609601"/>
            <a:ext cx="7162800" cy="44306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000" advTm="4780">
        <p:wedge/>
      </p:transition>
    </mc:Choice>
    <mc:Fallback>
      <p:transition spd="slow" advTm="4780">
        <p:wedg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rcRect/>
          <a:stretch>
            <a:fillRect/>
          </a:stretch>
        </p:blipFill>
        <p:spPr bwMode="auto">
          <a:xfrm>
            <a:off x="1219200" y="533400"/>
            <a:ext cx="6781800" cy="4571999"/>
          </a:xfrm>
          <a:prstGeom prst="rect">
            <a:avLst/>
          </a:prstGeom>
          <a:noFill/>
          <a:ln w="9525">
            <a:noFill/>
            <a:miter lim="800000"/>
            <a:headEnd/>
            <a:tailEnd/>
          </a:ln>
        </p:spPr>
      </p:pic>
      <p:sp>
        <p:nvSpPr>
          <p:cNvPr id="3" name="Rectangle 2"/>
          <p:cNvSpPr/>
          <p:nvPr/>
        </p:nvSpPr>
        <p:spPr>
          <a:xfrm>
            <a:off x="304800" y="5382260"/>
            <a:ext cx="8229600" cy="105473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schemeClr val="tx1"/>
              </a:solidFill>
            </a:endParaRPr>
          </a:p>
          <a:p>
            <a:endParaRPr lang="en-US" dirty="0" smtClean="0">
              <a:solidFill>
                <a:schemeClr val="tx1"/>
              </a:solidFill>
            </a:endParaRPr>
          </a:p>
          <a:p>
            <a:pPr marL="2286000" lvl="5" indent="457200"/>
            <a:r>
              <a:rPr lang="en-US" dirty="0" smtClean="0">
                <a:solidFill>
                  <a:schemeClr val="tx1"/>
                </a:solidFill>
              </a:rPr>
              <a:t>Fig 9:Details of patient</a:t>
            </a:r>
            <a:endParaRPr lang="en-US" dirty="0" smtClean="0">
              <a:solidFill>
                <a:schemeClr val="tx1"/>
              </a:solidFill>
            </a:endParaRPr>
          </a:p>
          <a:p>
            <a:r>
              <a:rPr lang="en-IN" dirty="0" smtClean="0">
                <a:solidFill>
                  <a:schemeClr val="tx1"/>
                </a:solidFill>
              </a:rPr>
              <a:t> </a:t>
            </a:r>
            <a:endParaRPr lang="en-US" dirty="0" smtClean="0">
              <a:solidFill>
                <a:schemeClr val="tx1"/>
              </a:solidFill>
            </a:endParaRPr>
          </a:p>
          <a:p>
            <a:pPr algn="ctr"/>
            <a:r>
              <a:rPr lang="en-US" dirty="0" smtClean="0">
                <a:solidFill>
                  <a:schemeClr val="tx1"/>
                </a:solidFill>
              </a:rPr>
              <a:t> </a:t>
            </a:r>
            <a:endParaRPr 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advTm="6757">
        <p:wedge/>
      </p:transition>
    </mc:Choice>
    <mc:Fallback>
      <p:transition spd="slow" advTm="6757">
        <p:wedg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57555" y="274955"/>
            <a:ext cx="7690485" cy="1170305"/>
          </a:xfrm>
          <a:solidFill>
            <a:schemeClr val="bg1"/>
          </a:solidFill>
          <a:ln>
            <a:solidFill>
              <a:schemeClr val="tx2">
                <a:lumMod val="60000"/>
                <a:lumOff val="40000"/>
              </a:schemeClr>
            </a:solidFill>
          </a:ln>
        </p:spPr>
        <p:style>
          <a:lnRef idx="0">
            <a:schemeClr val="accent1"/>
          </a:lnRef>
          <a:fillRef idx="3">
            <a:schemeClr val="accent1"/>
          </a:fillRef>
          <a:effectRef idx="3">
            <a:schemeClr val="accent1"/>
          </a:effectRef>
          <a:fontRef idx="minor">
            <a:schemeClr val="lt1"/>
          </a:fontRef>
        </p:style>
        <p:txBody>
          <a:bodyPr>
            <a:normAutofit/>
          </a:bodyPr>
          <a:lstStyle/>
          <a:p>
            <a:r>
              <a:rPr lang="en-US" sz="4890" b="1" dirty="0">
                <a:solidFill>
                  <a:schemeClr val="tx1"/>
                </a:solidFill>
                <a:latin typeface="Bodoni MT Black" panose="02070A03080606020203" pitchFamily="18" charset="0"/>
                <a:cs typeface="Bodoni MT Black" panose="02070A03080606020203" pitchFamily="18" charset="0"/>
              </a:rPr>
              <a:t>CONCLUSION</a:t>
            </a:r>
            <a:endParaRPr lang="en-US" sz="4890" b="1" dirty="0">
              <a:solidFill>
                <a:schemeClr val="tx1"/>
              </a:solidFill>
              <a:latin typeface="Bodoni MT Black" panose="02070A03080606020203" pitchFamily="18" charset="0"/>
              <a:cs typeface="Bodoni MT Black" panose="02070A03080606020203" pitchFamily="18" charset="0"/>
            </a:endParaRPr>
          </a:p>
        </p:txBody>
      </p:sp>
      <p:sp>
        <p:nvSpPr>
          <p:cNvPr id="18433" name="Rectangle 1"/>
          <p:cNvSpPr>
            <a:spLocks noChangeArrowheads="1"/>
          </p:cNvSpPr>
          <p:nvPr/>
        </p:nvSpPr>
        <p:spPr bwMode="auto">
          <a:xfrm>
            <a:off x="228600" y="1589405"/>
            <a:ext cx="8458200" cy="4954905"/>
          </a:xfrm>
          <a:prstGeom prst="rect">
            <a:avLst/>
          </a:prstGeom>
          <a:noFill/>
          <a:ln w="9525">
            <a:noFill/>
            <a:miter lim="800000"/>
          </a:ln>
          <a:effectLst/>
        </p:spPr>
        <p:txBody>
          <a:bodyPr vert="horz" wrap="square" lIns="91440" tIns="45720" rIns="91440" bIns="45720" numCol="1" anchor="ctr" anchorCtr="0" compatLnSpc="1">
            <a:noAutofit/>
          </a:bodyPr>
          <a:lstStyle/>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rPr>
              <a:t>In this article, we first propose a 5G-Smart Diabetes system that includes a sensing layer, a personalized diagnosis layer, and a data sharing layer.</a:t>
            </a:r>
            <a:endPar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rPr>
              <a:t> Compared to Diabetes 1.0 and Diabetes 2.0, this system can achieve sustainable, cost-effective, and intelligence diabetes diagnosis. </a:t>
            </a:r>
            <a:endPar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rPr>
              <a:t>Then we propose a highly cost-efficient data sharing mechanism in social space and data space. </a:t>
            </a:r>
            <a:endPar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rPr>
              <a:t>In addition, using machine learning methods, we present a personalized data analysis model for 5G-Smart Diabetes. Finally, based on the smart clothing, </a:t>
            </a:r>
            <a:r>
              <a:rPr kumimoji="0" lang="en-US" sz="2400" b="0" i="0" u="none" strike="noStrike" cap="none" normalizeH="0" baseline="0" dirty="0" err="1" smtClean="0">
                <a:ln>
                  <a:noFill/>
                </a:ln>
                <a:solidFill>
                  <a:schemeClr val="accent1">
                    <a:lumMod val="50000"/>
                  </a:schemeClr>
                </a:solidFill>
                <a:effectLst/>
                <a:ea typeface="Calibri" panose="020F0502020204030204" pitchFamily="34" charset="0"/>
                <a:cs typeface="Times New Roman" panose="02020603050405020304" pitchFamily="18" charset="0"/>
              </a:rPr>
              <a:t>smartphone</a:t>
            </a:r>
            <a:r>
              <a:rPr kumimoji="0" lang="en-US" sz="2400" b="0" i="0" u="none" strike="noStrike" cap="none" normalizeH="0" baseline="0" dirty="0" smtClean="0">
                <a:ln>
                  <a:noFill/>
                </a:ln>
                <a:solidFill>
                  <a:schemeClr val="accent1">
                    <a:lumMod val="50000"/>
                  </a:schemeClr>
                </a:solidFill>
                <a:effectLst/>
                <a:ea typeface="Calibri" panose="020F0502020204030204" pitchFamily="34" charset="0"/>
                <a:cs typeface="Times New Roman" panose="02020603050405020304" pitchFamily="18" charset="0"/>
              </a:rPr>
              <a:t> and data center, we build a 5G-Smart Diabetes test.</a:t>
            </a:r>
            <a:endParaRPr kumimoji="0" lang="en-US" sz="3600" b="0" i="0" u="none" strike="noStrike" cap="none" normalizeH="0" baseline="0" dirty="0" smtClean="0">
              <a:ln>
                <a:noFill/>
              </a:ln>
              <a:solidFill>
                <a:schemeClr val="accent1">
                  <a:lumMod val="50000"/>
                </a:schemeClr>
              </a:solidFill>
              <a:effectLst/>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advTm="7766">
        <p:wedge/>
      </p:transition>
    </mc:Choice>
    <mc:Fallback>
      <p:transition spd="slow" advTm="7766">
        <p:wedg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57290" y="571480"/>
            <a:ext cx="7498080" cy="4214842"/>
          </a:xfrm>
        </p:spPr>
        <p:txBody>
          <a:bodyPr/>
          <a:lstStyle/>
          <a:p>
            <a:br>
              <a:rPr lang="en-US" dirty="0"/>
            </a:br>
            <a:endParaRPr lang="en-US" dirty="0">
              <a:solidFill>
                <a:schemeClr val="tx1"/>
              </a:solidFill>
            </a:endParaRPr>
          </a:p>
        </p:txBody>
      </p:sp>
      <p:pic>
        <p:nvPicPr>
          <p:cNvPr id="5" name="Picture 4" descr="1476271_7412.jpg"/>
          <p:cNvPicPr>
            <a:picLocks noChangeAspect="1"/>
          </p:cNvPicPr>
          <p:nvPr/>
        </p:nvPicPr>
        <p:blipFill>
          <a:blip r:embed="rId1" cstate="print"/>
          <a:stretch>
            <a:fillRect/>
          </a:stretch>
        </p:blipFill>
        <p:spPr>
          <a:xfrm>
            <a:off x="363855" y="262890"/>
            <a:ext cx="8092440" cy="64763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advTm="3310">
        <p:wedge/>
      </p:transition>
    </mc:Choice>
    <mc:Fallback>
      <p:transition advTm="3310">
        <p:wedg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4045</Words>
  <Application>WPS Presentation</Application>
  <PresentationFormat>On-screen Show (4:3)</PresentationFormat>
  <Paragraphs>113</Paragraphs>
  <Slides>15</Slides>
  <Notes>2</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15</vt:i4>
      </vt:variant>
    </vt:vector>
  </HeadingPairs>
  <TitlesOfParts>
    <vt:vector size="38" baseType="lpstr">
      <vt:lpstr>Arial</vt:lpstr>
      <vt:lpstr>SimSun</vt:lpstr>
      <vt:lpstr>Wingdings</vt:lpstr>
      <vt:lpstr>Bookman Old Style</vt:lpstr>
      <vt:lpstr>Calibri</vt:lpstr>
      <vt:lpstr>Bodoni MT Black</vt:lpstr>
      <vt:lpstr>Courier New</vt:lpstr>
      <vt:lpstr>Arial Black</vt:lpstr>
      <vt:lpstr>Times New Roman</vt:lpstr>
      <vt:lpstr>Microsoft YaHei</vt:lpstr>
      <vt:lpstr>Arial Unicode MS</vt:lpstr>
      <vt:lpstr>Berlin Sans FB</vt:lpstr>
      <vt:lpstr>Bell MT</vt:lpstr>
      <vt:lpstr>Wingdings</vt:lpstr>
      <vt:lpstr>Bitstream Vera Sans Mono</vt:lpstr>
      <vt:lpstr>Britannic Bold</vt:lpstr>
      <vt:lpstr>Book Antiqua</vt:lpstr>
      <vt:lpstr>Bodoni MT Poster Compressed</vt:lpstr>
      <vt:lpstr>Bodoni MT Condensed</vt:lpstr>
      <vt:lpstr>Bodoni MT</vt:lpstr>
      <vt:lpstr>Blackadder ITC</vt:lpstr>
      <vt:lpstr>Bernard MT Condensed</vt:lpstr>
      <vt:lpstr>Office Theme</vt:lpstr>
      <vt:lpstr> </vt:lpstr>
      <vt:lpstr>ABSTRACT</vt:lpstr>
      <vt:lpstr>INTRODUCTION</vt:lpstr>
      <vt:lpstr>SYSTEM ANALYSIS</vt:lpstr>
      <vt:lpstr>SYSTEM ANALYSIS</vt:lpstr>
      <vt:lpstr> SYSTEM ARCHITECTURE</vt:lpstr>
      <vt:lpstr>RESULT</vt:lpstr>
      <vt:lpstr>PowerPoint 演示文稿</vt:lpstr>
      <vt:lpstr>PowerPoint 演示文稿</vt:lpstr>
      <vt:lpstr>PowerPoint 演示文稿</vt:lpstr>
      <vt:lpstr>PowerPoint 演示文稿</vt:lpstr>
      <vt:lpstr>PowerPoint 演示文稿</vt:lpstr>
      <vt:lpstr>PowerPoint 演示文稿</vt:lpstr>
      <vt:lpstr>CONCLUSION</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shaik</dc:creator>
  <cp:lastModifiedBy>raval</cp:lastModifiedBy>
  <cp:revision>71</cp:revision>
  <dcterms:created xsi:type="dcterms:W3CDTF">2023-08-02T10:05:00Z</dcterms:created>
  <dcterms:modified xsi:type="dcterms:W3CDTF">2024-07-13T05:22:03Z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A39E98B1508945CD87C2041B84291794_13</vt:lpwstr>
  </property>
  <property fmtid="{D5CDD505-2E9C-101B-9397-08002B2CF9AE}" pid="3" name="KSOProductBuildVer">
    <vt:lpwstr>1033-12.2.0.17153</vt:lpwstr>
  </property>
</Properties>
</file>