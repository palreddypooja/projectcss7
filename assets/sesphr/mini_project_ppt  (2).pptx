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98" r:id="rId3"/>
    <p:sldId id="257" r:id="rId4"/>
    <p:sldId id="270" r:id="rId5"/>
    <p:sldId id="271" r:id="rId6"/>
    <p:sldId id="273" r:id="rId7"/>
    <p:sldId id="278" r:id="rId8"/>
    <p:sldId id="299" r:id="rId9"/>
    <p:sldId id="300" r:id="rId10"/>
    <p:sldId id="263" r:id="rId11"/>
    <p:sldId id="284" r:id="rId12"/>
    <p:sldId id="309" r:id="rId13"/>
    <p:sldId id="290" r:id="rId14"/>
    <p:sldId id="308" r:id="rId15"/>
    <p:sldId id="288" r:id="rId16"/>
    <p:sldId id="280" r:id="rId17"/>
    <p:sldId id="291" r:id="rId18"/>
    <p:sldId id="310" r:id="rId19"/>
    <p:sldId id="302" r:id="rId20"/>
    <p:sldId id="303" r:id="rId21"/>
    <p:sldId id="306" r:id="rId22"/>
    <p:sldId id="286"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28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927" autoAdjust="0"/>
    <p:restoredTop sz="94660"/>
  </p:normalViewPr>
  <p:slideViewPr>
    <p:cSldViewPr showGuides="1">
      <p:cViewPr>
        <p:scale>
          <a:sx n="75" d="100"/>
          <a:sy n="75" d="100"/>
        </p:scale>
        <p:origin x="-1930" y="-235"/>
      </p:cViewPr>
      <p:guideLst>
        <p:guide orient="horz" pos="2160"/>
        <p:guide pos="2896"/>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552D1E-EBCD-4E1C-99A0-7116E97B5D0D}" type="datetimeFigureOut">
              <a:rPr lang="en-US" smtClean="0"/>
              <a:pPr/>
              <a:t>5/1/2025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317D81-0B31-4578-A522-4E7E109B55A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pPr algn="just">
              <a:buNone/>
            </a:pPr>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endParaRPr>
          </a:p>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1" dirty="0">
              <a:solidFill>
                <a:schemeClr val="tx1"/>
              </a:solidFill>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4C317D81-0B31-4578-A522-4E7E109B55A7}"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C317D81-0B31-4578-A522-4E7E109B55A7}"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pPr indent="0">
              <a:buClr>
                <a:srgbClr val="009DD9"/>
              </a:buClr>
              <a:buFont typeface="Wingdings" panose="05000000000000000000" charset="0"/>
              <a:buNone/>
            </a:pPr>
            <a:r>
              <a:rPr lang="en-US" dirty="0">
                <a:latin typeface="Times New Roman" panose="02020603050405020304" pitchFamily="18" charset="0"/>
                <a:cs typeface="Times New Roman" panose="02020603050405020304" pitchFamily="18" charset="0"/>
                <a:sym typeface="+mn-ea"/>
              </a:rPr>
              <a:t>                                                                                                   </a:t>
            </a:r>
            <a:endParaRPr lang="en-US" dirty="0"/>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82972F2A-9A6A-441E-9A86-36C79E5189DB}" type="datetimeFigureOut">
              <a:rPr lang="en-US" smtClean="0"/>
              <a:pPr/>
              <a:t>5/1/2025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2FE6471B-1E35-410C-B2BE-6C79435CCB88}"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972F2A-9A6A-441E-9A86-36C79E5189DB}"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2972F2A-9A6A-441E-9A86-36C79E5189DB}"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972F2A-9A6A-441E-9A86-36C79E5189DB}"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2972F2A-9A6A-441E-9A86-36C79E5189DB}" type="datetimeFigureOut">
              <a:rPr lang="en-US" smtClean="0"/>
              <a:pPr/>
              <a:t>5/1/2025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82972F2A-9A6A-441E-9A86-36C79E5189DB}" type="datetimeFigureOut">
              <a:rPr lang="en-US" smtClean="0"/>
              <a:pPr/>
              <a:t>5/1/2025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972F2A-9A6A-441E-9A86-36C79E5189DB}" type="datetimeFigureOut">
              <a:rPr lang="en-US" smtClean="0"/>
              <a:pPr/>
              <a:t>5/1/2025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972F2A-9A6A-441E-9A86-36C79E5189DB}"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2972F2A-9A6A-441E-9A86-36C79E5189DB}"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2FE6471B-1E35-410C-B2BE-6C79435CCB88}"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972F2A-9A6A-441E-9A86-36C79E5189DB}"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972F2A-9A6A-441E-9A86-36C79E5189DB}"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972F2A-9A6A-441E-9A86-36C79E5189DB}"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2972F2A-9A6A-441E-9A86-36C79E5189DB}" type="datetimeFigureOut">
              <a:rPr lang="en-US" smtClean="0"/>
              <a:pPr/>
              <a:t>5/1/2025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FE6471B-1E35-410C-B2BE-6C79435CCB88}"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371600" y="0"/>
            <a:ext cx="7772400" cy="1752600"/>
          </a:xfrm>
        </p:spPr>
        <p:txBody>
          <a:bodyPr>
            <a:normAutofit/>
          </a:bodyPr>
          <a:lstStyle/>
          <a:p>
            <a:r>
              <a:rPr lang="en-US" sz="700" dirty="0"/>
              <a:t/>
            </a:r>
            <a:br>
              <a:rPr lang="en-US" sz="700" dirty="0"/>
            </a:br>
            <a:r>
              <a:rPr lang="en-US" sz="700" dirty="0"/>
              <a:t>    </a:t>
            </a:r>
            <a:endParaRPr lang="en-US" dirty="0"/>
          </a:p>
        </p:txBody>
      </p:sp>
      <p:sp>
        <p:nvSpPr>
          <p:cNvPr id="3" name="Subtitle 2"/>
          <p:cNvSpPr>
            <a:spLocks noGrp="1"/>
          </p:cNvSpPr>
          <p:nvPr>
            <p:ph type="subTitle" idx="4294967295"/>
          </p:nvPr>
        </p:nvSpPr>
        <p:spPr>
          <a:xfrm>
            <a:off x="368300" y="2016760"/>
            <a:ext cx="8604885" cy="4606925"/>
          </a:xfrm>
        </p:spPr>
        <p:txBody>
          <a:bodyPr>
            <a:normAutofit lnSpcReduction="10000"/>
          </a:bodyPr>
          <a:lstStyle/>
          <a:p>
            <a:pPr algn="ctr">
              <a:buNone/>
            </a:pPr>
            <a:r>
              <a:rPr lang="en-US" sz="2160" b="1" dirty="0">
                <a:solidFill>
                  <a:schemeClr val="tx1"/>
                </a:solidFill>
                <a:latin typeface="Times New Roman" panose="02020603050405020304" pitchFamily="18" charset="0"/>
                <a:cs typeface="Times New Roman" panose="02020603050405020304" pitchFamily="18" charset="0"/>
              </a:rPr>
              <a:t>“</a:t>
            </a:r>
            <a:r>
              <a:rPr lang="en-US" sz="2160" b="1" dirty="0" err="1" smtClean="0">
                <a:solidFill>
                  <a:schemeClr val="tx1"/>
                </a:solidFill>
                <a:latin typeface="Times New Roman" panose="02020603050405020304" pitchFamily="18" charset="0"/>
                <a:cs typeface="Times New Roman" panose="02020603050405020304" pitchFamily="18" charset="0"/>
              </a:rPr>
              <a:t>SeSPHR</a:t>
            </a:r>
            <a:r>
              <a:rPr lang="en-US" sz="2160" b="1" dirty="0">
                <a:latin typeface="Times New Roman" panose="02020603050405020304" pitchFamily="18" charset="0"/>
                <a:cs typeface="Times New Roman" panose="02020603050405020304" pitchFamily="18" charset="0"/>
              </a:rPr>
              <a:t> </a:t>
            </a:r>
            <a:r>
              <a:rPr lang="en-US" sz="2160" b="1" dirty="0" smtClean="0">
                <a:solidFill>
                  <a:schemeClr val="tx1"/>
                </a:solidFill>
                <a:latin typeface="Times New Roman" panose="02020603050405020304" pitchFamily="18" charset="0"/>
                <a:cs typeface="Times New Roman" panose="02020603050405020304" pitchFamily="18" charset="0"/>
              </a:rPr>
              <a:t>A  </a:t>
            </a:r>
            <a:r>
              <a:rPr lang="en-US" sz="2160" b="1" dirty="0" smtClean="0">
                <a:latin typeface="Times New Roman" panose="02020603050405020304" pitchFamily="18" charset="0"/>
                <a:cs typeface="Times New Roman" panose="02020603050405020304" pitchFamily="18" charset="0"/>
              </a:rPr>
              <a:t>Methodology </a:t>
            </a:r>
            <a:r>
              <a:rPr lang="en-US" sz="2160" b="1" dirty="0">
                <a:latin typeface="Times New Roman" panose="02020603050405020304" pitchFamily="18" charset="0"/>
                <a:cs typeface="Times New Roman" panose="02020603050405020304" pitchFamily="18" charset="0"/>
              </a:rPr>
              <a:t>for Secure Sharing of Personal Health Records in the Cloud”</a:t>
            </a:r>
            <a:endParaRPr lang="en-US" sz="2160" b="1" dirty="0">
              <a:solidFill>
                <a:schemeClr val="tx1"/>
              </a:solidFill>
              <a:latin typeface="Times New Roman" panose="02020603050405020304" pitchFamily="18" charset="0"/>
              <a:cs typeface="Times New Roman" panose="02020603050405020304" pitchFamily="18" charset="0"/>
            </a:endParaRPr>
          </a:p>
          <a:p>
            <a:pPr algn="ctr">
              <a:buNone/>
            </a:pPr>
            <a:endParaRPr lang="en-US" sz="2160" b="1" dirty="0">
              <a:solidFill>
                <a:schemeClr val="tx1"/>
              </a:solidFill>
              <a:latin typeface="Times New Roman" panose="02020603050405020304" pitchFamily="18" charset="0"/>
              <a:cs typeface="Times New Roman" panose="02020603050405020304" pitchFamily="18" charset="0"/>
            </a:endParaRPr>
          </a:p>
          <a:p>
            <a:pPr algn="ctr">
              <a:buNone/>
            </a:pPr>
            <a:r>
              <a:rPr lang="en-US" sz="1800" b="1" i="1" dirty="0">
                <a:solidFill>
                  <a:schemeClr val="tx1"/>
                </a:solidFill>
                <a:latin typeface="Times New Roman" panose="02020603050405020304" pitchFamily="18" charset="0"/>
                <a:cs typeface="Times New Roman" panose="02020603050405020304" pitchFamily="18" charset="0"/>
              </a:rPr>
              <a:t>Submitted by </a:t>
            </a:r>
          </a:p>
          <a:p>
            <a:pPr algn="ctr">
              <a:buNone/>
            </a:pPr>
            <a:endParaRPr lang="en-US" sz="1800" dirty="0">
              <a:solidFill>
                <a:schemeClr val="tx1"/>
              </a:solidFill>
              <a:latin typeface="Times New Roman" panose="02020603050405020304" pitchFamily="18" charset="0"/>
              <a:cs typeface="Times New Roman" panose="02020603050405020304" pitchFamily="18" charset="0"/>
            </a:endParaRPr>
          </a:p>
          <a:p>
            <a:pPr algn="just">
              <a:buNone/>
            </a:pPr>
            <a:r>
              <a:rPr lang="en-US" sz="2000" b="1" dirty="0">
                <a:solidFill>
                  <a:schemeClr val="tx1"/>
                </a:solidFill>
                <a:latin typeface="Times New Roman" panose="02020603050405020304" pitchFamily="18" charset="0"/>
                <a:cs typeface="Times New Roman" panose="02020603050405020304" pitchFamily="18" charset="0"/>
              </a:rPr>
              <a:t>                          P.POOJA                                         21RG1A0540</a:t>
            </a:r>
            <a:endParaRPr lang="en-US" sz="2000" dirty="0">
              <a:solidFill>
                <a:schemeClr val="tx1"/>
              </a:solidFill>
              <a:latin typeface="Times New Roman" panose="02020603050405020304" pitchFamily="18" charset="0"/>
              <a:cs typeface="Times New Roman" panose="02020603050405020304" pitchFamily="18" charset="0"/>
            </a:endParaRPr>
          </a:p>
          <a:p>
            <a:pPr marL="1188720" lvl="2" indent="457200" algn="just">
              <a:buNone/>
            </a:pPr>
            <a:r>
              <a:rPr lang="en-US" sz="2000" b="1" dirty="0">
                <a:solidFill>
                  <a:schemeClr val="tx1"/>
                </a:solidFill>
                <a:latin typeface="Times New Roman" panose="02020603050405020304" pitchFamily="18" charset="0"/>
                <a:cs typeface="Times New Roman" panose="02020603050405020304" pitchFamily="18" charset="0"/>
              </a:rPr>
              <a:t>S.ARCHANA                                  21RG1A0550</a:t>
            </a:r>
            <a:endParaRPr lang="en-US" sz="2000" dirty="0">
              <a:solidFill>
                <a:schemeClr val="tx1"/>
              </a:solidFill>
              <a:latin typeface="Times New Roman" panose="02020603050405020304" pitchFamily="18" charset="0"/>
              <a:cs typeface="Times New Roman" panose="02020603050405020304" pitchFamily="18" charset="0"/>
            </a:endParaRPr>
          </a:p>
          <a:p>
            <a:pPr marL="1188720" lvl="2" indent="457200" algn="just">
              <a:buNone/>
            </a:pPr>
            <a:r>
              <a:rPr lang="en-US" sz="2000" b="1" dirty="0">
                <a:solidFill>
                  <a:schemeClr val="tx1"/>
                </a:solidFill>
                <a:latin typeface="Times New Roman" panose="02020603050405020304" pitchFamily="18" charset="0"/>
                <a:cs typeface="Times New Roman" panose="02020603050405020304" pitchFamily="18" charset="0"/>
              </a:rPr>
              <a:t>S.KAVYACHANDRIKA	           21RG1A0552</a:t>
            </a:r>
            <a:endParaRPr lang="en-US" sz="2000" dirty="0">
              <a:solidFill>
                <a:schemeClr val="tx1"/>
              </a:solidFill>
              <a:latin typeface="Times New Roman" panose="02020603050405020304" pitchFamily="18" charset="0"/>
              <a:cs typeface="Times New Roman" panose="02020603050405020304" pitchFamily="18" charset="0"/>
            </a:endParaRPr>
          </a:p>
          <a:p>
            <a:pPr marL="1188720" lvl="2" indent="457200" algn="just">
              <a:buNone/>
            </a:pPr>
            <a:r>
              <a:rPr lang="en-US" sz="2000" b="1" dirty="0">
                <a:solidFill>
                  <a:schemeClr val="tx1"/>
                </a:solidFill>
                <a:latin typeface="Times New Roman" panose="02020603050405020304" pitchFamily="18" charset="0"/>
                <a:cs typeface="Times New Roman" panose="02020603050405020304" pitchFamily="18" charset="0"/>
              </a:rPr>
              <a:t>T.AKHILA                                      22RG5A0506</a:t>
            </a:r>
          </a:p>
          <a:p>
            <a:pPr algn="just">
              <a:buNone/>
            </a:pPr>
            <a:r>
              <a:rPr lang="en-US" sz="2000" b="1" i="1" dirty="0">
                <a:solidFill>
                  <a:schemeClr val="tx1"/>
                </a:solidFill>
                <a:latin typeface="Times New Roman" panose="02020603050405020304" pitchFamily="18" charset="0"/>
                <a:cs typeface="Times New Roman" panose="02020603050405020304" pitchFamily="18" charset="0"/>
              </a:rPr>
              <a:t>                               </a:t>
            </a:r>
          </a:p>
          <a:p>
            <a:pPr algn="just">
              <a:buNone/>
            </a:pPr>
            <a:r>
              <a:rPr lang="en-US" sz="2000" b="1" i="1" dirty="0">
                <a:solidFill>
                  <a:schemeClr val="tx1"/>
                </a:solidFill>
                <a:latin typeface="Times New Roman" panose="02020603050405020304" pitchFamily="18" charset="0"/>
                <a:cs typeface="Times New Roman" panose="02020603050405020304" pitchFamily="18" charset="0"/>
              </a:rPr>
              <a:t>                                      	Under the Guidance of </a:t>
            </a:r>
            <a:endParaRPr lang="en-US" sz="2000" i="1" dirty="0">
              <a:solidFill>
                <a:schemeClr val="tx1"/>
              </a:solidFill>
              <a:latin typeface="Times New Roman" panose="02020603050405020304" pitchFamily="18" charset="0"/>
              <a:cs typeface="Times New Roman" panose="02020603050405020304" pitchFamily="18" charset="0"/>
            </a:endParaRPr>
          </a:p>
          <a:p>
            <a:pPr algn="just">
              <a:buNone/>
            </a:pPr>
            <a:r>
              <a:rPr lang="en-US" sz="2000" b="1" i="1" dirty="0">
                <a:solidFill>
                  <a:schemeClr val="tx1"/>
                </a:solidFill>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sym typeface="+mn-ea"/>
              </a:rPr>
              <a:t>AVYAKTHA.E</a:t>
            </a:r>
          </a:p>
          <a:p>
            <a:pPr algn="just">
              <a:buNone/>
            </a:pPr>
            <a:r>
              <a:rPr lang="en-US" sz="2000" b="1" i="1" dirty="0">
                <a:latin typeface="Times New Roman" panose="02020603050405020304" pitchFamily="18" charset="0"/>
                <a:cs typeface="Times New Roman" panose="02020603050405020304" pitchFamily="18" charset="0"/>
                <a:sym typeface="+mn-ea"/>
              </a:rPr>
              <a:t>                                                                </a:t>
            </a:r>
            <a:r>
              <a:rPr lang="en-US" sz="1600" i="1" dirty="0">
                <a:latin typeface="Times New Roman" panose="02020603050405020304" pitchFamily="18" charset="0"/>
                <a:cs typeface="Times New Roman" panose="02020603050405020304" pitchFamily="18" charset="0"/>
                <a:sym typeface="+mn-ea"/>
              </a:rPr>
              <a:t>M.TECH</a:t>
            </a:r>
          </a:p>
          <a:p>
            <a:pPr algn="just">
              <a:buNone/>
            </a:pPr>
            <a:r>
              <a:rPr lang="en-US" sz="1600" i="1" dirty="0">
                <a:latin typeface="Times New Roman" panose="02020603050405020304" pitchFamily="18" charset="0"/>
                <a:cs typeface="Times New Roman" panose="02020603050405020304" pitchFamily="18" charset="0"/>
                <a:sym typeface="+mn-ea"/>
              </a:rPr>
              <a:t>                                                            </a:t>
            </a:r>
            <a:r>
              <a:rPr lang="en-US" sz="1600" b="1" i="1" dirty="0">
                <a:solidFill>
                  <a:schemeClr val="tx1"/>
                </a:solidFill>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sym typeface="+mn-ea"/>
              </a:rPr>
              <a:t>ASSISTANT  PROFESSOR</a:t>
            </a:r>
            <a:endParaRPr lang="en-US" sz="1600" dirty="0"/>
          </a:p>
        </p:txBody>
      </p:sp>
      <p:sp>
        <p:nvSpPr>
          <p:cNvPr id="4097" name="Rectangle 1"/>
          <p:cNvSpPr>
            <a:spLocks noChangeArrowheads="1"/>
          </p:cNvSpPr>
          <p:nvPr/>
        </p:nvSpPr>
        <p:spPr bwMode="auto">
          <a:xfrm>
            <a:off x="457200" y="2057400"/>
            <a:ext cx="990600" cy="1169551"/>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b="1" i="0" u="none" strike="noStrike" cap="none" normalizeH="0" baseline="0" dirty="0">
              <a:ln>
                <a:noFill/>
              </a:ln>
              <a:solidFill>
                <a:srgbClr val="FF3399"/>
              </a:solidFill>
              <a:effectLst/>
              <a:latin typeface="Calibri" panose="020F0502020204030204" pitchFamily="34" charset="0"/>
              <a:ea typeface="Bookman Old Style" panose="02050604050505020204" pitchFamily="18" charset="0"/>
              <a:cs typeface="Bookman Old Style" panose="02050604050505020204" pitchFamily="18" charset="0"/>
            </a:endParaRPr>
          </a:p>
          <a:p>
            <a:pPr lvl="0"/>
            <a:endParaRPr lang="en-US" dirty="0"/>
          </a:p>
          <a:p>
            <a:r>
              <a:rPr lang="en-US" dirty="0"/>
              <a:t/>
            </a:r>
            <a:br>
              <a:rPr lang="en-US" dirty="0"/>
            </a:br>
            <a:endParaRPr kumimoji="0" lang="en-US" sz="800" b="0" i="0" u="none" strike="noStrike" cap="none" normalizeH="0" baseline="0" dirty="0">
              <a:ln>
                <a:noFill/>
              </a:ln>
              <a:solidFill>
                <a:schemeClr val="tx1"/>
              </a:solidFill>
              <a:effectLst/>
              <a:latin typeface="Bookman Old Style" panose="02050604050505020204" pitchFamily="18"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sz="800" b="0" i="0" u="none" strike="noStrike" cap="none" normalizeH="0" baseline="0" dirty="0">
              <a:ln>
                <a:noFill/>
              </a:ln>
              <a:solidFill>
                <a:schemeClr val="tx1"/>
              </a:solidFill>
              <a:effectLst/>
              <a:latin typeface="Bookman Old Style" panose="02050604050505020204" pitchFamily="18" charset="0"/>
              <a:cs typeface="Arial" panose="020B0604020202020204" pitchFamily="34" charset="0"/>
            </a:endParaRPr>
          </a:p>
        </p:txBody>
      </p:sp>
      <p:pic>
        <p:nvPicPr>
          <p:cNvPr id="5" name="Picture 4"/>
          <p:cNvPicPr/>
          <p:nvPr/>
        </p:nvPicPr>
        <p:blipFill>
          <a:blip r:embed="rId3">
            <a:extLst>
              <a:ext uri="{28A0092B-C50C-407E-A947-70E740481C1C}">
                <a14:useLocalDpi xmlns="" xmlns:a14="http://schemas.microsoft.com/office/drawing/2010/main" val="0"/>
              </a:ext>
            </a:extLst>
          </a:blip>
          <a:srcRect/>
          <a:stretch>
            <a:fillRect/>
          </a:stretch>
        </p:blipFill>
        <p:spPr bwMode="auto">
          <a:xfrm>
            <a:off x="533400" y="533400"/>
            <a:ext cx="1265851" cy="1066800"/>
          </a:xfrm>
          <a:prstGeom prst="rect">
            <a:avLst/>
          </a:prstGeom>
          <a:noFill/>
          <a:ln>
            <a:noFill/>
          </a:ln>
        </p:spPr>
      </p:pic>
      <p:sp>
        <p:nvSpPr>
          <p:cNvPr id="21505" name="Rectangle 1"/>
          <p:cNvSpPr>
            <a:spLocks noChangeArrowheads="1"/>
          </p:cNvSpPr>
          <p:nvPr/>
        </p:nvSpPr>
        <p:spPr bwMode="auto">
          <a:xfrm>
            <a:off x="1447800" y="76200"/>
            <a:ext cx="8153400" cy="2018069"/>
          </a:xfrm>
          <a:prstGeom prst="rect">
            <a:avLst/>
          </a:prstGeom>
          <a:noFill/>
          <a:ln w="9525">
            <a:noFill/>
            <a:miter lim="800000"/>
          </a:ln>
          <a:effectLst/>
        </p:spPr>
        <p:txBody>
          <a:bodyPr vert="horz" wrap="square" lIns="736368" tIns="850632" rIns="596712" bIns="50784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sz="2400" b="0" i="0" u="none" strike="noStrike" cap="none" normalizeH="0" baseline="0" dirty="0">
                <a:ln>
                  <a:noFill/>
                </a:ln>
                <a:solidFill>
                  <a:schemeClr val="tx1"/>
                </a:solidFill>
                <a:effectLst/>
                <a:latin typeface="Arial" panose="020B0604020202020204" pitchFamily="34" charset="0"/>
                <a:ea typeface="Cambria" panose="02040503050406030204" pitchFamily="18" charset="0"/>
                <a:cs typeface="Cambria" panose="02040503050406030204" pitchFamily="18" charset="0"/>
              </a:rPr>
              <a:t/>
            </a:r>
            <a:br>
              <a:rPr kumimoji="0" lang="en-US" sz="2400" b="0" i="0" u="none" strike="noStrike" cap="none" normalizeH="0" baseline="0" dirty="0">
                <a:ln>
                  <a:noFill/>
                </a:ln>
                <a:solidFill>
                  <a:schemeClr val="tx1"/>
                </a:solidFill>
                <a:effectLst/>
                <a:latin typeface="Arial" panose="020B0604020202020204" pitchFamily="34" charset="0"/>
                <a:ea typeface="Cambria" panose="02040503050406030204" pitchFamily="18" charset="0"/>
                <a:cs typeface="Cambria" panose="02040503050406030204" pitchFamily="18" charset="0"/>
              </a:rPr>
            </a:b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4"/>
          <a:stretch>
            <a:fillRect/>
          </a:stretch>
        </p:blipFill>
        <p:spPr>
          <a:xfrm>
            <a:off x="311150" y="534035"/>
            <a:ext cx="8451850" cy="1370965"/>
          </a:xfrm>
          <a:prstGeom prst="rect">
            <a:avLst/>
          </a:prstGeom>
        </p:spPr>
      </p:pic>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25475" y="1953895"/>
            <a:ext cx="5424170" cy="4599940"/>
          </a:xfrm>
          <a:prstGeom prst="rect">
            <a:avLst/>
          </a:prstGeom>
          <a:noFill/>
        </p:spPr>
        <p:txBody>
          <a:bodyPr wrap="square" rtlCol="0" anchor="t">
            <a:noAutofit/>
          </a:bodyPr>
          <a:lstStyle/>
          <a:p>
            <a:pPr indent="0">
              <a:buClr>
                <a:srgbClr val="009DD9"/>
              </a:buClr>
              <a:buFont typeface="Wingdings" panose="05000000000000000000" charset="0"/>
              <a:buChar char="Ø"/>
            </a:pPr>
            <a:r>
              <a:rPr lang="en-US" sz="2000" dirty="0">
                <a:latin typeface="Times New Roman" panose="02020603050405020304" pitchFamily="18" charset="0"/>
                <a:cs typeface="Times New Roman" panose="02020603050405020304" pitchFamily="18" charset="0"/>
                <a:sym typeface="+mn-ea"/>
              </a:rPr>
              <a:t> </a:t>
            </a:r>
            <a:r>
              <a:rPr lang="en-US" sz="2000" b="1" dirty="0">
                <a:latin typeface="Times New Roman" panose="02020603050405020304" pitchFamily="18" charset="0"/>
                <a:cs typeface="Times New Roman" panose="02020603050405020304" pitchFamily="18" charset="0"/>
                <a:sym typeface="+mn-ea"/>
              </a:rPr>
              <a:t>Abstract</a:t>
            </a:r>
          </a:p>
          <a:p>
            <a:pPr indent="0">
              <a:buClr>
                <a:srgbClr val="009DD9"/>
              </a:buClr>
              <a:buFont typeface="Wingdings" panose="05000000000000000000" charset="0"/>
              <a:buChar char="Ø"/>
            </a:pPr>
            <a:r>
              <a:rPr lang="en-US" sz="2000" b="1" dirty="0">
                <a:latin typeface="Times New Roman" panose="02020603050405020304" pitchFamily="18" charset="0"/>
                <a:cs typeface="Times New Roman" panose="02020603050405020304" pitchFamily="18" charset="0"/>
                <a:sym typeface="+mn-ea"/>
              </a:rPr>
              <a:t> Introduction</a:t>
            </a:r>
          </a:p>
          <a:p>
            <a:pPr indent="0">
              <a:buClr>
                <a:srgbClr val="009DD9"/>
              </a:buClr>
              <a:buFont typeface="Wingdings" panose="05000000000000000000" charset="0"/>
              <a:buChar char="Ø"/>
            </a:pPr>
            <a:r>
              <a:rPr lang="en-US" sz="2000" b="1" dirty="0">
                <a:latin typeface="Times New Roman" panose="02020603050405020304" pitchFamily="18" charset="0"/>
                <a:cs typeface="Times New Roman" panose="02020603050405020304" pitchFamily="18" charset="0"/>
                <a:sym typeface="+mn-ea"/>
              </a:rPr>
              <a:t> Existing System</a:t>
            </a:r>
          </a:p>
          <a:p>
            <a:pPr indent="0">
              <a:buClr>
                <a:srgbClr val="009DD9"/>
              </a:buClr>
              <a:buFont typeface="Wingdings" panose="05000000000000000000" charset="0"/>
              <a:buChar char="Ø"/>
            </a:pPr>
            <a:r>
              <a:rPr lang="en-US" sz="2000" b="1" dirty="0">
                <a:latin typeface="Times New Roman" panose="02020603050405020304" pitchFamily="18" charset="0"/>
                <a:cs typeface="Times New Roman" panose="02020603050405020304" pitchFamily="18" charset="0"/>
                <a:sym typeface="+mn-ea"/>
              </a:rPr>
              <a:t> Literature Survey</a:t>
            </a:r>
          </a:p>
          <a:p>
            <a:pPr indent="0">
              <a:buClr>
                <a:srgbClr val="009DD9"/>
              </a:buClr>
              <a:buFont typeface="Wingdings" panose="05000000000000000000" charset="0"/>
              <a:buChar char="Ø"/>
            </a:pPr>
            <a:r>
              <a:rPr lang="en-US" sz="2000" b="1" dirty="0">
                <a:latin typeface="Times New Roman" panose="02020603050405020304" pitchFamily="18" charset="0"/>
                <a:cs typeface="Times New Roman" panose="02020603050405020304" pitchFamily="18" charset="0"/>
                <a:sym typeface="+mn-ea"/>
              </a:rPr>
              <a:t> Proposed Method</a:t>
            </a:r>
          </a:p>
          <a:p>
            <a:pPr indent="0">
              <a:buClr>
                <a:srgbClr val="009DD9"/>
              </a:buClr>
              <a:buFont typeface="Wingdings" panose="05000000000000000000" charset="0"/>
              <a:buChar char="Ø"/>
            </a:pPr>
            <a:r>
              <a:rPr lang="en-US" sz="2000" b="1" dirty="0">
                <a:latin typeface="Times New Roman" panose="02020603050405020304" pitchFamily="18" charset="0"/>
                <a:cs typeface="Times New Roman" panose="02020603050405020304" pitchFamily="18" charset="0"/>
                <a:sym typeface="+mn-ea"/>
              </a:rPr>
              <a:t> Hardware &amp; Software Requirements</a:t>
            </a:r>
          </a:p>
          <a:p>
            <a:pPr indent="0">
              <a:buClr>
                <a:srgbClr val="009DD9"/>
              </a:buClr>
              <a:buFont typeface="Wingdings" panose="05000000000000000000" charset="0"/>
              <a:buChar char="Ø"/>
            </a:pPr>
            <a:r>
              <a:rPr lang="en-US" sz="2000" b="1" dirty="0">
                <a:latin typeface="Times New Roman" panose="02020603050405020304" pitchFamily="18" charset="0"/>
                <a:cs typeface="Times New Roman" panose="02020603050405020304" pitchFamily="18" charset="0"/>
                <a:sym typeface="+mn-ea"/>
              </a:rPr>
              <a:t> Advantages</a:t>
            </a:r>
          </a:p>
          <a:p>
            <a:pPr indent="0">
              <a:buClr>
                <a:srgbClr val="009DD9"/>
              </a:buClr>
              <a:buFont typeface="Wingdings" panose="05000000000000000000" charset="0"/>
              <a:buChar char="Ø"/>
            </a:pPr>
            <a:r>
              <a:rPr lang="en-US" sz="2000" b="1" dirty="0">
                <a:latin typeface="Times New Roman" panose="02020603050405020304" pitchFamily="18" charset="0"/>
                <a:cs typeface="Times New Roman" panose="02020603050405020304" pitchFamily="18" charset="0"/>
                <a:sym typeface="+mn-ea"/>
              </a:rPr>
              <a:t> Result  Analysis</a:t>
            </a:r>
          </a:p>
          <a:p>
            <a:pPr indent="0">
              <a:buClr>
                <a:srgbClr val="009DD9"/>
              </a:buClr>
              <a:buFont typeface="Wingdings" panose="05000000000000000000" charset="0"/>
              <a:buChar char="Ø"/>
            </a:pPr>
            <a:r>
              <a:rPr lang="en-US" sz="2000" b="1" dirty="0">
                <a:latin typeface="Times New Roman" panose="02020603050405020304" pitchFamily="18" charset="0"/>
                <a:cs typeface="Times New Roman" panose="02020603050405020304" pitchFamily="18" charset="0"/>
                <a:sym typeface="+mn-ea"/>
              </a:rPr>
              <a:t> Future Scope</a:t>
            </a:r>
          </a:p>
          <a:p>
            <a:pPr indent="0">
              <a:buClr>
                <a:srgbClr val="009DD9"/>
              </a:buClr>
              <a:buFont typeface="Wingdings" panose="05000000000000000000" charset="0"/>
              <a:buChar char="Ø"/>
            </a:pPr>
            <a:r>
              <a:rPr lang="en-US" sz="2000" b="1" dirty="0">
                <a:latin typeface="Times New Roman" panose="02020603050405020304" pitchFamily="18" charset="0"/>
                <a:cs typeface="Times New Roman" panose="02020603050405020304" pitchFamily="18" charset="0"/>
                <a:sym typeface="+mn-ea"/>
              </a:rPr>
              <a:t> Conclusion</a:t>
            </a:r>
          </a:p>
          <a:p>
            <a:pPr indent="0">
              <a:buClr>
                <a:srgbClr val="009DD9"/>
              </a:buClr>
              <a:buFont typeface="Wingdings" panose="05000000000000000000" charset="0"/>
              <a:buChar char="Ø"/>
            </a:pPr>
            <a:r>
              <a:rPr lang="en-US" sz="2000" b="1" dirty="0">
                <a:latin typeface="Times New Roman" panose="02020603050405020304" pitchFamily="18" charset="0"/>
                <a:cs typeface="Times New Roman" panose="02020603050405020304" pitchFamily="18" charset="0"/>
                <a:sym typeface="+mn-ea"/>
              </a:rPr>
              <a:t> References</a:t>
            </a:r>
          </a:p>
        </p:txBody>
      </p:sp>
      <p:sp>
        <p:nvSpPr>
          <p:cNvPr id="3" name="Text Box 2"/>
          <p:cNvSpPr txBox="1"/>
          <p:nvPr/>
        </p:nvSpPr>
        <p:spPr>
          <a:xfrm>
            <a:off x="492760" y="1049020"/>
            <a:ext cx="2495550" cy="709295"/>
          </a:xfrm>
          <a:prstGeom prst="rect">
            <a:avLst/>
          </a:prstGeom>
          <a:noFill/>
        </p:spPr>
        <p:txBody>
          <a:bodyPr wrap="square" rtlCol="0" anchor="t">
            <a:noAutofit/>
          </a:bodyPr>
          <a:lstStyle/>
          <a:p>
            <a:pPr algn="ctr"/>
            <a:r>
              <a:rPr lang="en-US" sz="32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CONTENT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600200"/>
            <a:ext cx="8552815" cy="4826635"/>
          </a:xfrm>
        </p:spPr>
        <p:txBody>
          <a:bodyPr>
            <a:noAutofit/>
          </a:bodyPr>
          <a:lstStyle/>
          <a:p>
            <a:pPr algn="just">
              <a:lnSpc>
                <a:spcPct val="150000"/>
              </a:lnSpc>
              <a:buFont typeface="Wingdings" pitchFamily="2" charset="2"/>
              <a:buChar char="Ø"/>
            </a:pPr>
            <a:r>
              <a:rPr lang="en-US" sz="2000" dirty="0">
                <a:latin typeface="Times New Roman" pitchFamily="18" charset="0"/>
                <a:cs typeface="Times New Roman" pitchFamily="18" charset="0"/>
              </a:rPr>
              <a:t> With the popularity of wearable devices, along with the development of clouds and cloud let technology, there has been increasing need to provide better medical care. The processing chain of medical data mainly includes data collection, data storage and data sharing, etc.</a:t>
            </a:r>
          </a:p>
          <a:p>
            <a:pPr algn="just">
              <a:lnSpc>
                <a:spcPct val="150000"/>
              </a:lnSpc>
              <a:buFont typeface="Wingdings" pitchFamily="2" charset="2"/>
              <a:buChar char="Ø"/>
            </a:pPr>
            <a:r>
              <a:rPr lang="en-US" sz="2000" dirty="0">
                <a:latin typeface="Times New Roman" pitchFamily="18" charset="0"/>
                <a:cs typeface="Times New Roman" pitchFamily="18" charset="0"/>
              </a:rPr>
              <a:t> Traditional healthcare system often requires the delivery of medical data to the cloud, which involves users’ sensitive information and causes communication energy consumption. </a:t>
            </a:r>
          </a:p>
          <a:p>
            <a:pPr algn="just">
              <a:lnSpc>
                <a:spcPct val="150000"/>
              </a:lnSpc>
              <a:buFont typeface="Wingdings" pitchFamily="2" charset="2"/>
              <a:buChar char="Ø"/>
            </a:pPr>
            <a:r>
              <a:rPr lang="en-US" sz="2000" dirty="0">
                <a:latin typeface="Times New Roman" pitchFamily="18" charset="0"/>
                <a:cs typeface="Times New Roman" pitchFamily="18" charset="0"/>
              </a:rPr>
              <a:t>Practically, medical data sharing is a critical and challenging issue. Thus in this paper, we build up a novel healthcare system by utilizing the flexibility of cloudlet. The functions of cloudlet include privacy protection, data sharing and intrusion detection. </a:t>
            </a:r>
          </a:p>
          <a:p>
            <a:pPr algn="just"/>
            <a:endParaRPr lang="en-US" sz="2000" dirty="0">
              <a:latin typeface="Times New Roman" pitchFamily="18" charset="0"/>
              <a:cs typeface="Times New Roman" pitchFamily="18" charset="0"/>
            </a:endParaRPr>
          </a:p>
        </p:txBody>
      </p:sp>
      <p:sp>
        <p:nvSpPr>
          <p:cNvPr id="6" name="Title 5"/>
          <p:cNvSpPr>
            <a:spLocks noGrp="1"/>
          </p:cNvSpPr>
          <p:nvPr>
            <p:ph type="title"/>
          </p:nvPr>
        </p:nvSpPr>
        <p:spPr>
          <a:xfrm>
            <a:off x="457200" y="704215"/>
            <a:ext cx="8229600" cy="703580"/>
          </a:xfrm>
        </p:spPr>
        <p:txBody>
          <a:bodyPr>
            <a:normAutofit/>
          </a:bodyPr>
          <a:lstStyle/>
          <a:p>
            <a:r>
              <a:rPr lang="en-US" sz="3200" b="1" dirty="0">
                <a:solidFill>
                  <a:schemeClr val="tx1"/>
                </a:solidFill>
                <a:latin typeface="Times New Roman" panose="02020603050405020304" pitchFamily="18" charset="0"/>
                <a:cs typeface="Times New Roman" panose="02020603050405020304" pitchFamily="18" charset="0"/>
                <a:sym typeface="+mn-ea"/>
              </a:rPr>
              <a:t>   ABSTRACT</a:t>
            </a:r>
          </a:p>
        </p:txBody>
      </p:sp>
    </p:spTree>
  </p:cSld>
  <p:clrMapOvr>
    <a:masterClrMapping/>
  </p:clrMapOvr>
  <p:transition>
    <p:wipe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619750"/>
          </a:xfrm>
        </p:spPr>
        <p:txBody>
          <a:bodyPr>
            <a:normAutofit fontScale="25000" lnSpcReduction="20000"/>
          </a:bodyPr>
          <a:lstStyle/>
          <a:p>
            <a:pPr>
              <a:buFont typeface="Wingdings" panose="05000000000000000000" charset="0"/>
              <a:buChar char="Ø"/>
            </a:pPr>
            <a:endParaRPr lang="en-US" sz="5000" dirty="0">
              <a:latin typeface="Times New Roman" panose="02020603050405020304" pitchFamily="18" charset="0"/>
              <a:cs typeface="Times New Roman" panose="02020603050405020304" pitchFamily="18" charset="0"/>
              <a:sym typeface="+mn-ea"/>
            </a:endParaRPr>
          </a:p>
          <a:p>
            <a:pPr algn="just">
              <a:lnSpc>
                <a:spcPct val="150000"/>
              </a:lnSpc>
              <a:buFont typeface="Wingdings" pitchFamily="2" charset="2"/>
              <a:buChar char="Ø"/>
            </a:pPr>
            <a:r>
              <a:rPr lang="en-US" sz="8000" dirty="0">
                <a:latin typeface="Times New Roman" pitchFamily="18" charset="0"/>
                <a:cs typeface="Times New Roman" pitchFamily="18" charset="0"/>
              </a:rPr>
              <a:t>In the stage of data collection, we first utilize Number Theory Research Unit (NTRU)method to encrypt user’s body data collected by wearable devices. Those data will be transmitted to nearby cloudlet in an energy efficient fashion. Secondly, we present a new trust model to help users to select trustable partners who want to share stored data in the cloudlet. </a:t>
            </a:r>
          </a:p>
          <a:p>
            <a:pPr algn="just">
              <a:lnSpc>
                <a:spcPct val="150000"/>
              </a:lnSpc>
              <a:buFont typeface="Wingdings" pitchFamily="2" charset="2"/>
              <a:buChar char="Ø"/>
            </a:pPr>
            <a:r>
              <a:rPr lang="en-US" sz="8000" dirty="0">
                <a:latin typeface="Times New Roman" pitchFamily="18" charset="0"/>
                <a:cs typeface="Times New Roman" pitchFamily="18" charset="0"/>
              </a:rPr>
              <a:t>The trust model also helps similar patients to communicate with each other about their diseases. Thirdly, we divide users’ medical data stored in remote cloud of hospital into three parts, and give them proper protection. </a:t>
            </a:r>
          </a:p>
          <a:p>
            <a:pPr algn="just">
              <a:lnSpc>
                <a:spcPct val="150000"/>
              </a:lnSpc>
              <a:buFont typeface="Wingdings" pitchFamily="2" charset="2"/>
              <a:buChar char="Ø"/>
            </a:pPr>
            <a:r>
              <a:rPr lang="en-US" sz="8000" dirty="0">
                <a:latin typeface="Times New Roman" pitchFamily="18" charset="0"/>
                <a:cs typeface="Times New Roman" pitchFamily="18" charset="0"/>
              </a:rPr>
              <a:t>Finally, in order to protect the healthcare system from malicious attacks, we develop a novel collaborative intrusion detection system (IDS) method based on cloudlet mesh, which can effectively prevent the remote healthcare big data cloud from attacks. Our experiments demonstrate the effectiveness of the proposed scheme.</a:t>
            </a:r>
          </a:p>
          <a:p>
            <a:endParaRPr lang="en-US" sz="11200" dirty="0">
              <a:latin typeface="Times New Roman" panose="02020603050405020304" pitchFamily="18" charset="0"/>
              <a:cs typeface="Times New Roman" panose="02020603050405020304" pitchFamily="18" charset="0"/>
            </a:endParaRPr>
          </a:p>
          <a:p>
            <a:pPr>
              <a:buNone/>
            </a:pPr>
            <a:endParaRPr lang="en-US" sz="7200" dirty="0">
              <a:latin typeface="Times New Roman" panose="02020603050405020304" pitchFamily="18" charset="0"/>
              <a:cs typeface="Times New Roman" panose="02020603050405020304" pitchFamily="18" charset="0"/>
            </a:endParaRPr>
          </a:p>
        </p:txBody>
      </p:sp>
      <p:sp>
        <p:nvSpPr>
          <p:cNvPr id="4" name="Title 3"/>
          <p:cNvSpPr>
            <a:spLocks noGrp="1"/>
          </p:cNvSpPr>
          <p:nvPr>
            <p:ph type="title"/>
          </p:nvPr>
        </p:nvSpPr>
        <p:spPr>
          <a:xfrm>
            <a:off x="615315" y="704215"/>
            <a:ext cx="5634355" cy="667385"/>
          </a:xfrm>
        </p:spPr>
        <p:txBody>
          <a:bodyPr/>
          <a:lstStyle/>
          <a:p>
            <a:r>
              <a:rPr lang="en-IN" sz="3600" b="1" dirty="0">
                <a:solidFill>
                  <a:schemeClr val="tx1"/>
                </a:solidFill>
                <a:latin typeface="Times New Roman" panose="02020603050405020304" pitchFamily="18" charset="0"/>
                <a:cs typeface="Times New Roman" panose="02020603050405020304" pitchFamily="18" charset="0"/>
                <a:sym typeface="+mn-ea"/>
              </a:rPr>
              <a:t>INTRODUCTION</a:t>
            </a:r>
          </a:p>
        </p:txBody>
      </p:sp>
    </p:spTree>
  </p:cSld>
  <p:clrMapOvr>
    <a:masterClrMapping/>
  </p:clrMapOvr>
  <p:transition>
    <p:zoom dir="in"/>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524001"/>
            <a:ext cx="8360410" cy="4800600"/>
          </a:xfrm>
        </p:spPr>
        <p:txBody>
          <a:bodyPr>
            <a:normAutofit fontScale="25000" lnSpcReduction="20000"/>
          </a:bodyPr>
          <a:lstStyle/>
          <a:p>
            <a:pPr>
              <a:buNone/>
            </a:pPr>
            <a:r>
              <a:rPr lang="en-US" sz="3600" b="1" dirty="0">
                <a:solidFill>
                  <a:srgbClr val="C00000"/>
                </a:solidFill>
                <a:latin typeface="Times New Roman" panose="02020603050405020304" pitchFamily="18" charset="0"/>
                <a:cs typeface="Times New Roman" panose="02020603050405020304" pitchFamily="18" charset="0"/>
              </a:rPr>
              <a:t>  </a:t>
            </a:r>
            <a:r>
              <a:rPr lang="en-US" sz="9600" b="1" dirty="0">
                <a:solidFill>
                  <a:srgbClr val="C00000"/>
                </a:solidFill>
                <a:latin typeface="Times New Roman" panose="02020603050405020304" pitchFamily="18" charset="0"/>
                <a:cs typeface="Times New Roman" panose="02020603050405020304" pitchFamily="18" charset="0"/>
              </a:rPr>
              <a:t>EXISTING SYSTEM </a:t>
            </a:r>
          </a:p>
          <a:p>
            <a:pPr lvl="0" algn="just">
              <a:lnSpc>
                <a:spcPct val="150000"/>
              </a:lnSpc>
              <a:buFont typeface="Wingdings" pitchFamily="2" charset="2"/>
              <a:buChar char="Ø"/>
            </a:pPr>
            <a:r>
              <a:rPr lang="en-US" sz="7200" dirty="0" smtClean="0">
                <a:latin typeface="Times New Roman" pitchFamily="18" charset="0"/>
                <a:cs typeface="Times New Roman" pitchFamily="18" charset="0"/>
              </a:rPr>
              <a:t>Lu </a:t>
            </a:r>
            <a:r>
              <a:rPr lang="en-US" sz="7200" dirty="0" err="1" smtClean="0">
                <a:latin typeface="Times New Roman" pitchFamily="18" charset="0"/>
                <a:cs typeface="Times New Roman" pitchFamily="18" charset="0"/>
              </a:rPr>
              <a:t>etal</a:t>
            </a:r>
            <a:r>
              <a:rPr lang="en-US" sz="7200" dirty="0">
                <a:latin typeface="Times New Roman" pitchFamily="18" charset="0"/>
                <a:cs typeface="Times New Roman" pitchFamily="18" charset="0"/>
              </a:rPr>
              <a:t>. proposed a system called SPOC, which stands for the secure and privacy-preserving opportunistic computing framework, was proposed to treat the storage problem of healthcare data in a cloud environment and addressed the problem of security and privacy protection under such an environment.</a:t>
            </a:r>
          </a:p>
          <a:p>
            <a:pPr lvl="0" algn="just">
              <a:lnSpc>
                <a:spcPct val="150000"/>
              </a:lnSpc>
              <a:buFont typeface="Wingdings" pitchFamily="2" charset="2"/>
              <a:buChar char="Ø"/>
            </a:pPr>
            <a:r>
              <a:rPr lang="en-US" sz="7200" dirty="0">
                <a:latin typeface="Times New Roman" pitchFamily="18" charset="0"/>
                <a:cs typeface="Times New Roman" pitchFamily="18" charset="0"/>
              </a:rPr>
              <a:t>Cao et al., an MRSE (multi keyword ranked search over encrypted data in cloud computing) privacy protection system was presented, which aims to provide users with a multi-keyword method for the cloud’s encrypted data. Although this method can provide result ranking, in which people are interested, the amount of calculation could be cumbersome. </a:t>
            </a:r>
          </a:p>
          <a:p>
            <a:pPr lvl="0" algn="just">
              <a:lnSpc>
                <a:spcPct val="150000"/>
              </a:lnSpc>
              <a:buFont typeface="Wingdings" pitchFamily="2" charset="2"/>
              <a:buChar char="Ø"/>
            </a:pPr>
            <a:r>
              <a:rPr lang="en-US" sz="7200" dirty="0">
                <a:latin typeface="Times New Roman" pitchFamily="18" charset="0"/>
                <a:cs typeface="Times New Roman" pitchFamily="18" charset="0"/>
              </a:rPr>
              <a:t>In Zhang et al., a priority based health data aggregation (PHDA) scheme was presented to protect and aggregate different types of healthcare date in cloud assisted wireless </a:t>
            </a:r>
            <a:r>
              <a:rPr lang="en-US" sz="7200" dirty="0" err="1">
                <a:latin typeface="Times New Roman" pitchFamily="18" charset="0"/>
                <a:cs typeface="Times New Roman" pitchFamily="18" charset="0"/>
              </a:rPr>
              <a:t>boby</a:t>
            </a:r>
            <a:r>
              <a:rPr lang="en-US" sz="7200" dirty="0">
                <a:latin typeface="Times New Roman" pitchFamily="18" charset="0"/>
                <a:cs typeface="Times New Roman" pitchFamily="18" charset="0"/>
              </a:rPr>
              <a:t> area network (WBANs). </a:t>
            </a:r>
          </a:p>
          <a:p>
            <a:pPr algn="just">
              <a:lnSpc>
                <a:spcPct val="150000"/>
              </a:lnSpc>
            </a:pPr>
            <a:endParaRPr lang="en-US" sz="5400" dirty="0">
              <a:latin typeface="Times New Roman" pitchFamily="18" charset="0"/>
              <a:cs typeface="Times New Roman" pitchFamily="18" charset="0"/>
            </a:endParaRPr>
          </a:p>
          <a:p>
            <a:pPr>
              <a:buNone/>
            </a:pPr>
            <a:endParaRPr lang="en-US" sz="5000" dirty="0">
              <a:latin typeface="Times New Roman" panose="02020603050405020304" pitchFamily="18" charset="0"/>
              <a:cs typeface="Times New Roman" panose="02020603050405020304" pitchFamily="18" charset="0"/>
            </a:endParaRPr>
          </a:p>
        </p:txBody>
      </p:sp>
      <p:sp>
        <p:nvSpPr>
          <p:cNvPr id="4" name="Title 3"/>
          <p:cNvSpPr>
            <a:spLocks noGrp="1"/>
          </p:cNvSpPr>
          <p:nvPr>
            <p:ph type="title"/>
          </p:nvPr>
        </p:nvSpPr>
        <p:spPr>
          <a:xfrm>
            <a:off x="571472" y="704215"/>
            <a:ext cx="8115328" cy="667385"/>
          </a:xfrm>
        </p:spPr>
        <p:txBody>
          <a:bodyPr>
            <a:normAutofit/>
          </a:bodyPr>
          <a:lstStyle/>
          <a:p>
            <a:r>
              <a:rPr lang="en-IN" sz="3600" b="1" dirty="0">
                <a:solidFill>
                  <a:schemeClr val="tx1"/>
                </a:solidFill>
                <a:latin typeface="Times New Roman" panose="02020603050405020304" pitchFamily="18" charset="0"/>
                <a:cs typeface="Times New Roman" panose="02020603050405020304" pitchFamily="18" charset="0"/>
                <a:sym typeface="+mn-ea"/>
              </a:rPr>
              <a:t>SYSTEM ANALYSIS</a:t>
            </a:r>
          </a:p>
        </p:txBody>
      </p:sp>
    </p:spTree>
  </p:cSld>
  <p:clrMapOvr>
    <a:masterClrMapping/>
  </p:clrMapOvr>
  <p:transition>
    <p:diamon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35480"/>
            <a:ext cx="8229600" cy="579120"/>
          </a:xfrm>
        </p:spPr>
        <p:txBody>
          <a:bodyPr>
            <a:normAutofit/>
          </a:bodyPr>
          <a:lstStyle/>
          <a:p>
            <a:pPr>
              <a:buNone/>
            </a:pPr>
            <a:r>
              <a:rPr lang="en-US" dirty="0"/>
              <a:t>.</a:t>
            </a:r>
          </a:p>
        </p:txBody>
      </p:sp>
      <p:sp>
        <p:nvSpPr>
          <p:cNvPr id="4" name="Title 3"/>
          <p:cNvSpPr>
            <a:spLocks noGrp="1"/>
          </p:cNvSpPr>
          <p:nvPr>
            <p:ph type="title"/>
          </p:nvPr>
        </p:nvSpPr>
        <p:spPr>
          <a:xfrm>
            <a:off x="638810" y="704215"/>
            <a:ext cx="8047990" cy="781685"/>
          </a:xfrm>
        </p:spPr>
        <p:txBody>
          <a:bodyPr/>
          <a:lstStyle/>
          <a:p>
            <a:r>
              <a:rPr lang="en-US" sz="3600" b="1" dirty="0">
                <a:solidFill>
                  <a:schemeClr val="tx1"/>
                </a:solidFill>
                <a:latin typeface="Times New Roman" panose="02020603050405020304" pitchFamily="18" charset="0"/>
                <a:cs typeface="Times New Roman" panose="02020603050405020304" pitchFamily="18" charset="0"/>
                <a:sym typeface="+mn-ea"/>
              </a:rPr>
              <a:t>LITERATURE SURVEY</a:t>
            </a:r>
            <a:endParaRPr lang="en-US" sz="3600" b="1">
              <a:latin typeface="Times New Roman" panose="02020603050405020304" pitchFamily="18" charset="0"/>
              <a:cs typeface="Times New Roman" panose="02020603050405020304" pitchFamily="18" charset="0"/>
            </a:endParaRPr>
          </a:p>
        </p:txBody>
      </p:sp>
      <p:sp>
        <p:nvSpPr>
          <p:cNvPr id="6" name="Rectangle 4"/>
          <p:cNvSpPr/>
          <p:nvPr/>
        </p:nvSpPr>
        <p:spPr>
          <a:xfrm>
            <a:off x="456565" y="1997710"/>
            <a:ext cx="8230235" cy="1245870"/>
          </a:xfrm>
          <a:prstGeom prst="rect">
            <a:avLst/>
          </a:prstGeom>
        </p:spPr>
        <p:txBody>
          <a:bodyPr wrap="square">
            <a:noAutofit/>
          </a:bodyPr>
          <a:lstStyle/>
          <a:p>
            <a:r>
              <a:rPr lang="en-US" b="1" dirty="0"/>
              <a:t>A. N. Khan, ML M. </a:t>
            </a:r>
            <a:r>
              <a:rPr lang="en-US" b="1" dirty="0" err="1"/>
              <a:t>Kiah</a:t>
            </a:r>
            <a:r>
              <a:rPr lang="en-US" b="1" dirty="0"/>
              <a:t>, S. A. </a:t>
            </a:r>
            <a:r>
              <a:rPr lang="en-US" b="1" dirty="0" err="1"/>
              <a:t>Madani</a:t>
            </a:r>
            <a:r>
              <a:rPr lang="en-US" b="1" dirty="0"/>
              <a:t>, M. Ali</a:t>
            </a:r>
            <a:r>
              <a:rPr lang="en-US" dirty="0"/>
              <a:t>, and S. </a:t>
            </a:r>
            <a:r>
              <a:rPr lang="en-US" dirty="0" err="1"/>
              <a:t>Shamshirband</a:t>
            </a:r>
            <a:r>
              <a:rPr lang="en-US" dirty="0"/>
              <a:t>, “Incremental proxy re- encryption scheme for mobile cloud computing environment,” The Journal of Supercomputing, Vol. 68, No. 2, 2014, pp. 624-</a:t>
            </a:r>
          </a:p>
          <a:p>
            <a:r>
              <a:rPr lang="en-US" dirty="0"/>
              <a:t>651. </a:t>
            </a:r>
          </a:p>
          <a:p>
            <a:endParaRPr lang="en-US" dirty="0"/>
          </a:p>
          <a:p>
            <a:r>
              <a:rPr lang="en-US" b="1" dirty="0"/>
              <a:t>R. Wu, G.-J. </a:t>
            </a:r>
            <a:r>
              <a:rPr lang="en-US" b="1" dirty="0" err="1"/>
              <a:t>Ahn</a:t>
            </a:r>
            <a:r>
              <a:rPr lang="en-US" b="1" dirty="0"/>
              <a:t>, and H. </a:t>
            </a:r>
            <a:r>
              <a:rPr lang="en-US" b="1" dirty="0" err="1"/>
              <a:t>Hu</a:t>
            </a:r>
            <a:r>
              <a:rPr lang="en-US" dirty="0"/>
              <a:t>, “Secure sharing of electronic health records in clouds,” In 8th IEEE International Conference on Collaborative Computing: </a:t>
            </a:r>
          </a:p>
          <a:p>
            <a:r>
              <a:rPr lang="en-US" dirty="0"/>
              <a:t>Networking, Applications and Work</a:t>
            </a:r>
          </a:p>
          <a:p>
            <a:endParaRPr lang="en-US" dirty="0"/>
          </a:p>
          <a:p>
            <a:r>
              <a:rPr lang="en-US" b="1" dirty="0" err="1"/>
              <a:t>Abbas</a:t>
            </a:r>
            <a:r>
              <a:rPr lang="en-US" b="1" dirty="0"/>
              <a:t> and S. U. Khan,</a:t>
            </a:r>
            <a:r>
              <a:rPr lang="en-US" dirty="0"/>
              <a:t> “A Review on the State-of-the-Art Privacy Preserving Approaches in E- Health Clouds,” IEEE Journal of Biomedical and Health Informatics, vol. 18, no. 4, pp. 1431-1441, 2014.</a:t>
            </a:r>
          </a:p>
          <a:p>
            <a:endParaRPr lang="en-US" dirty="0"/>
          </a:p>
          <a:p>
            <a:r>
              <a:rPr lang="en-US" b="1" dirty="0"/>
              <a:t>M. H. Au, T. H. Yuen, J. K. Liu, W. </a:t>
            </a:r>
            <a:r>
              <a:rPr lang="en-US" b="1" dirty="0" err="1"/>
              <a:t>Susilo</a:t>
            </a:r>
            <a:r>
              <a:rPr lang="en-US" b="1" dirty="0"/>
              <a:t>, X. Huang, Y. Xiang, and Z. L. Jiang, </a:t>
            </a:r>
            <a:r>
              <a:rPr lang="en-US" dirty="0"/>
              <a:t>“A general framework for secure sharing of personal health records in cloud system,” Journal of Computer and System Sciences, vol. 90, pp, 4</a:t>
            </a:r>
          </a:p>
          <a:p>
            <a:endParaRPr lang="en-US"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090" y="1753870"/>
            <a:ext cx="8348345" cy="4998720"/>
          </a:xfrm>
        </p:spPr>
        <p:txBody>
          <a:bodyPr>
            <a:noAutofit/>
          </a:bodyPr>
          <a:lstStyle/>
          <a:p>
            <a:pPr lvl="0" algn="just">
              <a:lnSpc>
                <a:spcPct val="160000"/>
              </a:lnSpc>
              <a:buFont typeface="Wingdings" pitchFamily="2" charset="2"/>
              <a:buChar char="Ø"/>
            </a:pPr>
            <a:r>
              <a:rPr lang="en-US" sz="2000" dirty="0">
                <a:latin typeface="Times New Roman" pitchFamily="18" charset="0"/>
                <a:cs typeface="Times New Roman" pitchFamily="18" charset="0"/>
              </a:rPr>
              <a:t>This paper proposes a cloud let based healthcare system. The body data collected by wearable devices are transmitted to the nearby cloudlet. Those data are further delivered to the remote cloud where doctors can access for disease diagnosis. </a:t>
            </a:r>
          </a:p>
          <a:p>
            <a:pPr lvl="0" algn="just">
              <a:lnSpc>
                <a:spcPct val="160000"/>
              </a:lnSpc>
              <a:buFont typeface="Wingdings" pitchFamily="2" charset="2"/>
              <a:buChar char="Ø"/>
            </a:pPr>
            <a:r>
              <a:rPr lang="en-US" sz="2000" dirty="0">
                <a:latin typeface="Times New Roman" pitchFamily="18" charset="0"/>
                <a:cs typeface="Times New Roman" pitchFamily="18" charset="0"/>
              </a:rPr>
              <a:t>According to data delivery chain, we separate the privacy protection into three stages. In the first stage, user’s vital signs collected by wearable devices are delivered to a closet gateway of cloudlet. During this stage, data privacy is the main concern. In the second stage, user’s data will be further delivered toward remote cloud through cloudlets. </a:t>
            </a:r>
          </a:p>
          <a:p>
            <a:pPr>
              <a:buNone/>
            </a:pPr>
            <a:endParaRPr lang="en-US" sz="2000" dirty="0">
              <a:latin typeface="Times New Roman" pitchFamily="18" charset="0"/>
              <a:cs typeface="Times New Roman" pitchFamily="18" charset="0"/>
            </a:endParaRPr>
          </a:p>
          <a:p>
            <a:pPr>
              <a:buNone/>
            </a:pPr>
            <a:endParaRPr lang="en-US" sz="1100" dirty="0">
              <a:latin typeface="Times New Roman" panose="02020603050405020304" pitchFamily="18" charset="0"/>
              <a:cs typeface="Times New Roman" panose="02020603050405020304" pitchFamily="18" charset="0"/>
            </a:endParaRPr>
          </a:p>
        </p:txBody>
      </p:sp>
      <p:sp>
        <p:nvSpPr>
          <p:cNvPr id="4" name="Title 3"/>
          <p:cNvSpPr>
            <a:spLocks noGrp="1"/>
          </p:cNvSpPr>
          <p:nvPr>
            <p:ph type="title"/>
          </p:nvPr>
        </p:nvSpPr>
        <p:spPr>
          <a:xfrm>
            <a:off x="732155" y="704215"/>
            <a:ext cx="7954645" cy="716280"/>
          </a:xfrm>
        </p:spPr>
        <p:txBody>
          <a:bodyPr/>
          <a:lstStyle/>
          <a:p>
            <a:r>
              <a:rPr lang="en-US" sz="3600" b="1" dirty="0">
                <a:solidFill>
                  <a:schemeClr val="tx1"/>
                </a:solidFill>
                <a:latin typeface="Times New Roman" panose="02020603050405020304" pitchFamily="18" charset="0"/>
                <a:cs typeface="Times New Roman" panose="02020603050405020304" pitchFamily="18" charset="0"/>
                <a:sym typeface="+mn-ea"/>
              </a:rPr>
              <a:t>PROPOSED METHOD</a:t>
            </a:r>
            <a:endParaRPr lang="en-US" sz="3600" b="1">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16205" y="1016635"/>
            <a:ext cx="8782685" cy="835025"/>
          </a:xfrm>
          <a:prstGeom prst="rect">
            <a:avLst/>
          </a:prstGeom>
          <a:noFill/>
        </p:spPr>
        <p:txBody>
          <a:bodyPr wrap="square" rtlCol="0" anchor="t">
            <a:noAutofit/>
          </a:bodyPr>
          <a:lstStyle/>
          <a:p>
            <a:pPr algn="ctr"/>
            <a:r>
              <a:rPr lang="en-US" sz="3200" b="1" dirty="0">
                <a:latin typeface="Times New Roman" panose="02020603050405020304" pitchFamily="18" charset="0"/>
                <a:cs typeface="Times New Roman" panose="02020603050405020304" pitchFamily="18" charset="0"/>
                <a:sym typeface="+mn-ea"/>
              </a:rPr>
              <a:t>HARDWARE&amp;SOFTWARE REGUIREMENTS</a:t>
            </a:r>
          </a:p>
        </p:txBody>
      </p:sp>
      <p:sp>
        <p:nvSpPr>
          <p:cNvPr id="5" name="Text Box 4"/>
          <p:cNvSpPr txBox="1"/>
          <p:nvPr/>
        </p:nvSpPr>
        <p:spPr>
          <a:xfrm>
            <a:off x="762000" y="2000240"/>
            <a:ext cx="7002780" cy="4629160"/>
          </a:xfrm>
          <a:prstGeom prst="rect">
            <a:avLst/>
          </a:prstGeom>
          <a:noFill/>
        </p:spPr>
        <p:txBody>
          <a:bodyPr wrap="square"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lang="en-US" sz="2000" b="1" u="sng" dirty="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HARDWARE REQUIREMENTS</a:t>
            </a:r>
            <a:r>
              <a:rPr lang="en-US" sz="2000" b="1" u="sng"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a:t>
            </a:r>
          </a:p>
          <a:p>
            <a:pPr marL="0" marR="0" lvl="0" indent="0" algn="l" defTabSz="914400" rtl="0" eaLnBrk="1" fontAlgn="base" latinLnBrk="0" hangingPunct="1">
              <a:lnSpc>
                <a:spcPct val="100000"/>
              </a:lnSpc>
              <a:spcBef>
                <a:spcPct val="0"/>
              </a:spcBef>
              <a:spcAft>
                <a:spcPct val="0"/>
              </a:spcAft>
              <a:buClrTx/>
              <a:buSzTx/>
              <a:buFontTx/>
              <a:buNone/>
              <a:tabLst>
                <a:tab pos="457200" algn="l"/>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r>
              <a:rPr lang="en-GB" sz="2000" dirty="0"/>
              <a:t>System			: 	Pentium Dual Core.</a:t>
            </a:r>
            <a:endParaRPr lang="en-US" sz="2000" dirty="0"/>
          </a:p>
          <a:p>
            <a:pPr lvl="0"/>
            <a:r>
              <a:rPr lang="en-GB" sz="2000" dirty="0"/>
              <a:t>Hard Disk 		: 	120 GB.</a:t>
            </a:r>
            <a:endParaRPr lang="en-US" sz="2000" dirty="0"/>
          </a:p>
          <a:p>
            <a:pPr lvl="0"/>
            <a:r>
              <a:rPr lang="en-GB" sz="2000" dirty="0"/>
              <a:t>Monitor			: 	15’’ LED</a:t>
            </a:r>
            <a:endParaRPr lang="en-US" sz="2000" dirty="0"/>
          </a:p>
          <a:p>
            <a:pPr lvl="0"/>
            <a:r>
              <a:rPr lang="en-GB" sz="2000" dirty="0"/>
              <a:t>Input Devices		: 	Keyboard, Mouse</a:t>
            </a:r>
            <a:endParaRPr lang="en-US" sz="2000" dirty="0"/>
          </a:p>
          <a:p>
            <a:pPr lvl="0"/>
            <a:r>
              <a:rPr lang="en-GB" sz="2000" dirty="0"/>
              <a:t>Ram			:	1 GB</a:t>
            </a:r>
            <a:endParaRPr lang="en-US" sz="2000" dirty="0"/>
          </a:p>
          <a:p>
            <a:pPr marL="342900" marR="0" lvl="0" indent="-342900" algn="l" defTabSz="914400" rtl="0" eaLnBrk="0" fontAlgn="base" latinLnBrk="0" hangingPunct="0">
              <a:lnSpc>
                <a:spcPct val="100000"/>
              </a:lnSpc>
              <a:spcBef>
                <a:spcPct val="0"/>
              </a:spcBef>
              <a:spcAft>
                <a:spcPct val="0"/>
              </a:spcAft>
              <a:buClr>
                <a:srgbClr val="009DD9"/>
              </a:buClr>
              <a:buSzTx/>
              <a:buFont typeface="Wingdings" panose="05000000000000000000" charset="0"/>
              <a:buChar char="Ø"/>
              <a:tabLst>
                <a:tab pos="457200" algn="l"/>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indent="0" algn="l" defTabSz="914400" rtl="0" eaLnBrk="0" fontAlgn="base" latinLnBrk="0" hangingPunct="0">
              <a:lnSpc>
                <a:spcPct val="100000"/>
              </a:lnSpc>
              <a:spcBef>
                <a:spcPct val="0"/>
              </a:spcBef>
              <a:spcAft>
                <a:spcPct val="0"/>
              </a:spcAft>
              <a:buClr>
                <a:srgbClr val="009DD9"/>
              </a:buClr>
              <a:buSzTx/>
              <a:buFont typeface="Wingdings" panose="05000000000000000000" charset="0"/>
              <a:buNone/>
              <a:tabLst>
                <a:tab pos="457200" algn="l"/>
              </a:tabLst>
            </a:pPr>
            <a:r>
              <a:rPr lang="en-US" sz="2000" b="1" u="sng" dirty="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SOFTWARE REQUIREMENTS:</a:t>
            </a:r>
            <a:r>
              <a:rPr lang="en-US" sz="2000" b="1" dirty="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endParaRPr lang="en-US" sz="2000" b="1" dirty="0" smtClean="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endParaRPr>
          </a:p>
          <a:p>
            <a:pPr marR="0" lvl="0" indent="0" algn="l" defTabSz="914400" rtl="0" eaLnBrk="0" fontAlgn="base" latinLnBrk="0" hangingPunct="0">
              <a:lnSpc>
                <a:spcPct val="100000"/>
              </a:lnSpc>
              <a:spcBef>
                <a:spcPct val="0"/>
              </a:spcBef>
              <a:spcAft>
                <a:spcPct val="0"/>
              </a:spcAft>
              <a:buClr>
                <a:srgbClr val="009DD9"/>
              </a:buClr>
              <a:buSzTx/>
              <a:buFont typeface="Wingdings" panose="05000000000000000000" charset="0"/>
              <a:buNone/>
              <a:tabLst>
                <a:tab pos="457200" algn="l"/>
              </a:tabLst>
            </a:pPr>
            <a:endParaRPr lang="en-US" sz="2000" b="1" dirty="0">
              <a:ln>
                <a:noFill/>
              </a:ln>
              <a:effectLst/>
              <a:latin typeface="Times New Roman" panose="02020603050405020304" pitchFamily="18" charset="0"/>
              <a:ea typeface="Times New Roman" panose="02020603050405020304" pitchFamily="18" charset="0"/>
              <a:cs typeface="Times New Roman" panose="02020603050405020304" pitchFamily="18" charset="0"/>
              <a:sym typeface="+mn-ea"/>
            </a:endParaRPr>
          </a:p>
          <a:p>
            <a:pPr lvl="0"/>
            <a:r>
              <a:rPr lang="en-US" sz="2000" dirty="0"/>
              <a:t>Operating system 	: 	Windows 7.</a:t>
            </a:r>
          </a:p>
          <a:p>
            <a:pPr lvl="0"/>
            <a:r>
              <a:rPr lang="en-US" sz="2000" dirty="0"/>
              <a:t>Coding Language	:	JAVA/J2EE</a:t>
            </a:r>
          </a:p>
          <a:p>
            <a:pPr lvl="0"/>
            <a:r>
              <a:rPr lang="en-US" sz="2000" dirty="0"/>
              <a:t>Tool			:	Net beans 7.2.1</a:t>
            </a:r>
          </a:p>
          <a:p>
            <a:pPr lvl="0"/>
            <a:r>
              <a:rPr lang="en-US" sz="2000" dirty="0"/>
              <a:t>Database		:	MYSQL</a:t>
            </a:r>
          </a:p>
          <a:p>
            <a:pPr marR="0" lvl="0" indent="0" algn="l" defTabSz="914400" rtl="0" eaLnBrk="0" fontAlgn="base" latinLnBrk="0" hangingPunct="0">
              <a:lnSpc>
                <a:spcPct val="100000"/>
              </a:lnSpc>
              <a:spcBef>
                <a:spcPct val="0"/>
              </a:spcBef>
              <a:spcAft>
                <a:spcPct val="0"/>
              </a:spcAft>
              <a:buClr>
                <a:srgbClr val="009DD9"/>
              </a:buClr>
              <a:buSzTx/>
              <a:tabLst>
                <a:tab pos="457200" algn="l"/>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681355" y="803275"/>
            <a:ext cx="5365750" cy="1150620"/>
          </a:xfrm>
          <a:prstGeom prst="rect">
            <a:avLst/>
          </a:prstGeom>
          <a:noFill/>
        </p:spPr>
        <p:txBody>
          <a:bodyPr wrap="square" rtlCol="0" anchor="t">
            <a:noAutofit/>
          </a:bodyPr>
          <a:lstStyle/>
          <a:p>
            <a:r>
              <a:rPr lang="en-IN" sz="3200" b="1" dirty="0">
                <a:latin typeface="Times New Roman" panose="02020603050405020304" pitchFamily="18" charset="0"/>
                <a:cs typeface="Times New Roman" panose="02020603050405020304" pitchFamily="18" charset="0"/>
                <a:sym typeface="+mn-ea"/>
              </a:rPr>
              <a:t> ADVANTAGES</a:t>
            </a:r>
          </a:p>
        </p:txBody>
      </p:sp>
      <p:sp>
        <p:nvSpPr>
          <p:cNvPr id="5" name="Text Box 4"/>
          <p:cNvSpPr txBox="1"/>
          <p:nvPr/>
        </p:nvSpPr>
        <p:spPr>
          <a:xfrm>
            <a:off x="508001" y="6019800"/>
            <a:ext cx="8178800" cy="533400"/>
          </a:xfrm>
          <a:prstGeom prst="rect">
            <a:avLst/>
          </a:prstGeom>
          <a:noFill/>
        </p:spPr>
        <p:txBody>
          <a:bodyPr wrap="square" rtlCol="0" anchor="t">
            <a:noAutofit/>
          </a:bodyPr>
          <a:lstStyle/>
          <a:p>
            <a:pPr indent="0">
              <a:buClr>
                <a:srgbClr val="009DD9"/>
              </a:buClr>
            </a:pPr>
            <a:endParaRPr lang="en-US" sz="2000" dirty="0">
              <a:latin typeface="Times New Roman" panose="02020603050405020304" pitchFamily="18" charset="0"/>
              <a:cs typeface="Times New Roman" panose="02020603050405020304" pitchFamily="18" charset="0"/>
              <a:sym typeface="+mn-ea"/>
            </a:endParaRPr>
          </a:p>
        </p:txBody>
      </p:sp>
      <p:sp>
        <p:nvSpPr>
          <p:cNvPr id="6" name="Rectangle 5"/>
          <p:cNvSpPr/>
          <p:nvPr/>
        </p:nvSpPr>
        <p:spPr>
          <a:xfrm>
            <a:off x="762000" y="1447800"/>
            <a:ext cx="7467600" cy="5170646"/>
          </a:xfrm>
          <a:prstGeom prst="rect">
            <a:avLst/>
          </a:prstGeom>
        </p:spPr>
        <p:txBody>
          <a:bodyPr wrap="square">
            <a:spAutoFit/>
          </a:bodyPr>
          <a:lstStyle/>
          <a:p>
            <a:pPr lvl="0" algn="just">
              <a:lnSpc>
                <a:spcPct val="150000"/>
              </a:lnSpc>
              <a:buClr>
                <a:schemeClr val="bg2">
                  <a:lumMod val="50000"/>
                </a:schemeClr>
              </a:buClr>
              <a:buFont typeface="Wingdings" pitchFamily="2" charset="2"/>
              <a:buChar char="Ø"/>
            </a:pPr>
            <a:r>
              <a:rPr lang="en-US" sz="2000" dirty="0">
                <a:latin typeface="Times New Roman" pitchFamily="18" charset="0"/>
                <a:cs typeface="Times New Roman" pitchFamily="18" charset="0"/>
              </a:rPr>
              <a:t>A cloudlet based healthcare system is presented, where the privacy of users’ physiological data and the efficiency of data transmissions are our main concern. We use NTRU for data protection during data transmissions to the cloudlet.</a:t>
            </a:r>
          </a:p>
          <a:p>
            <a:pPr lvl="0" algn="just">
              <a:lnSpc>
                <a:spcPct val="150000"/>
              </a:lnSpc>
              <a:buClr>
                <a:schemeClr val="bg2">
                  <a:lumMod val="50000"/>
                </a:schemeClr>
              </a:buClr>
              <a:buFont typeface="Wingdings" pitchFamily="2" charset="2"/>
              <a:buChar char="Ø"/>
            </a:pPr>
            <a:r>
              <a:rPr lang="en-US" sz="2000" dirty="0">
                <a:latin typeface="Times New Roman" pitchFamily="18" charset="0"/>
                <a:cs typeface="Times New Roman" pitchFamily="18" charset="0"/>
              </a:rPr>
              <a:t>In order to share data in the cloudlet, we use users’ similarity and reputation to build up trust model. Based on the measured users’ trust level, the system determines whether data sharing is performed.</a:t>
            </a:r>
          </a:p>
          <a:p>
            <a:pPr lvl="0" algn="just">
              <a:lnSpc>
                <a:spcPct val="150000"/>
              </a:lnSpc>
              <a:buClr>
                <a:schemeClr val="bg2">
                  <a:lumMod val="50000"/>
                </a:schemeClr>
              </a:buClr>
              <a:buFont typeface="Wingdings" pitchFamily="2" charset="2"/>
              <a:buChar char="Ø"/>
            </a:pPr>
            <a:r>
              <a:rPr lang="en-US" sz="2000" dirty="0">
                <a:latin typeface="Times New Roman" pitchFamily="18" charset="0"/>
                <a:cs typeface="Times New Roman" pitchFamily="18" charset="0"/>
              </a:rPr>
              <a:t>We divide data in remote cloud into different kinds and utilize encryption mechanism to protect them respectively.</a:t>
            </a:r>
          </a:p>
          <a:p>
            <a:pPr lvl="0" algn="just">
              <a:lnSpc>
                <a:spcPct val="150000"/>
              </a:lnSpc>
              <a:buClr>
                <a:schemeClr val="bg2">
                  <a:lumMod val="50000"/>
                </a:schemeClr>
              </a:buClr>
              <a:buFont typeface="Wingdings" pitchFamily="2" charset="2"/>
              <a:buChar char="Ø"/>
            </a:pPr>
            <a:r>
              <a:rPr lang="en-US" sz="2000" dirty="0">
                <a:latin typeface="Times New Roman" pitchFamily="18" charset="0"/>
                <a:cs typeface="Times New Roman" pitchFamily="18" charset="0"/>
              </a:rPr>
              <a:t>We propose collaborative IDS based on cloudlet mesh to protect the whole healthcare system against malicious attacks.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142977" y="1527048"/>
            <a:ext cx="7786743" cy="4830910"/>
          </a:xfrm>
        </p:spPr>
        <p:txBody>
          <a:bodyPr>
            <a:normAutofit/>
          </a:bodyPr>
          <a:lstStyle/>
          <a:p>
            <a:pPr>
              <a:buNone/>
            </a:pPr>
            <a:endParaRPr lang="en-IN" dirty="0"/>
          </a:p>
          <a:p>
            <a:pPr>
              <a:buNone/>
            </a:pPr>
            <a:endParaRPr lang="en-IN" dirty="0"/>
          </a:p>
          <a:p>
            <a:pPr>
              <a:buNone/>
            </a:pPr>
            <a:endParaRPr lang="en-IN" dirty="0"/>
          </a:p>
          <a:p>
            <a:pPr>
              <a:buNone/>
            </a:pPr>
            <a:endParaRPr lang="en-IN" dirty="0"/>
          </a:p>
        </p:txBody>
      </p:sp>
      <p:sp>
        <p:nvSpPr>
          <p:cNvPr id="2" name="Title 1"/>
          <p:cNvSpPr>
            <a:spLocks noGrp="1"/>
          </p:cNvSpPr>
          <p:nvPr>
            <p:ph type="title"/>
          </p:nvPr>
        </p:nvSpPr>
        <p:spPr>
          <a:xfrm>
            <a:off x="896620" y="685800"/>
            <a:ext cx="8023860" cy="737870"/>
          </a:xfrm>
        </p:spPr>
        <p:txBody>
          <a:bodyPr>
            <a:normAutofit fontScale="90000"/>
          </a:bodyPr>
          <a:lstStyle/>
          <a:p>
            <a:r>
              <a:rPr lang="en-US" b="1" dirty="0">
                <a:latin typeface="Bookman Old Style" panose="02050604050505020204" pitchFamily="18" charset="0"/>
                <a:sym typeface="+mn-ea"/>
              </a:rPr>
              <a:t> </a:t>
            </a:r>
            <a:r>
              <a:rPr lang="en-US" sz="4000" b="1" dirty="0">
                <a:solidFill>
                  <a:schemeClr val="tx1"/>
                </a:solidFill>
                <a:latin typeface="Times New Roman" panose="02020603050405020304" pitchFamily="18" charset="0"/>
                <a:cs typeface="Times New Roman" panose="02020603050405020304" pitchFamily="18" charset="0"/>
                <a:sym typeface="+mn-ea"/>
              </a:rPr>
              <a:t>SYSTEM ARCHITECTURE</a:t>
            </a:r>
            <a:endParaRPr lang="en-US" sz="4000">
              <a:latin typeface="Times New Roman" panose="02020603050405020304" pitchFamily="18" charset="0"/>
              <a:cs typeface="Times New Roman" panose="02020603050405020304" pitchFamily="18" charset="0"/>
            </a:endParaRPr>
          </a:p>
        </p:txBody>
      </p:sp>
      <p:pic>
        <p:nvPicPr>
          <p:cNvPr id="5" name="Picture 2"/>
          <p:cNvPicPr>
            <a:picLocks noChangeAspect="1" noChangeArrowheads="1"/>
          </p:cNvPicPr>
          <p:nvPr/>
        </p:nvPicPr>
        <p:blipFill>
          <a:blip r:embed="rId2"/>
          <a:srcRect/>
          <a:stretch>
            <a:fillRect/>
          </a:stretch>
        </p:blipFill>
        <p:spPr bwMode="auto">
          <a:xfrm>
            <a:off x="304800" y="1752600"/>
            <a:ext cx="8388350" cy="38100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57580" y="704215"/>
            <a:ext cx="3204210" cy="781050"/>
          </a:xfrm>
        </p:spPr>
        <p:txBody>
          <a:bodyPr/>
          <a:lstStyle/>
          <a:p>
            <a:r>
              <a:rPr lang="en-US" sz="3600" b="1" dirty="0">
                <a:solidFill>
                  <a:schemeClr val="tx1"/>
                </a:solidFill>
                <a:latin typeface="Times New Roman" panose="02020603050405020304" pitchFamily="18" charset="0"/>
                <a:cs typeface="Times New Roman" panose="02020603050405020304" pitchFamily="18" charset="0"/>
                <a:sym typeface="+mn-ea"/>
              </a:rPr>
              <a:t> RESULT</a:t>
            </a:r>
          </a:p>
        </p:txBody>
      </p:sp>
      <p:pic>
        <p:nvPicPr>
          <p:cNvPr id="6" name="Picture 5"/>
          <p:cNvPicPr/>
          <p:nvPr/>
        </p:nvPicPr>
        <p:blipFill>
          <a:blip r:embed="rId3"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a14="http://schemas.microsoft.com/office/drawing/2010/main" xmlns:w="http://schemas.openxmlformats.org/wordprocessingml/2006/main" xmlns:w10="urn:schemas-microsoft-com:office:word" xmlns:v="urn:schemas-microsoft-com:vml" xmlns:o="urn:schemas-microsoft-com:office:office" xmlns:pic="http://schemas.openxmlformats.org/drawingml/2006/picture" xmlns:lc="http://schemas.openxmlformats.org/drawingml/2006/lockedCanvas" val="0"/>
              </a:ext>
            </a:extLst>
          </a:blip>
          <a:srcRect/>
          <a:stretch>
            <a:fillRect/>
          </a:stretch>
        </p:blipFill>
        <p:spPr>
          <a:xfrm>
            <a:off x="642911" y="1643050"/>
            <a:ext cx="5000659" cy="2214578"/>
          </a:xfrm>
          <a:prstGeom prst="rect">
            <a:avLst/>
          </a:prstGeom>
          <a:noFill/>
          <a:ln>
            <a:noFill/>
          </a:ln>
        </p:spPr>
      </p:pic>
      <p:pic>
        <p:nvPicPr>
          <p:cNvPr id="7" name="Picture 6"/>
          <p:cNvPicPr/>
          <p:nvPr/>
        </p:nvPicPr>
        <p:blipFill>
          <a:blip r:embed="rId4"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a14="http://schemas.microsoft.com/office/drawing/2010/main" xmlns:w="http://schemas.openxmlformats.org/wordprocessingml/2006/main" xmlns:w10="urn:schemas-microsoft-com:office:word" xmlns:v="urn:schemas-microsoft-com:vml" xmlns:o="urn:schemas-microsoft-com:office:office" xmlns:pic="http://schemas.openxmlformats.org/drawingml/2006/picture" xmlns:lc="http://schemas.openxmlformats.org/drawingml/2006/lockedCanvas" val="0"/>
              </a:ext>
            </a:extLst>
          </a:blip>
          <a:srcRect/>
          <a:stretch>
            <a:fillRect/>
          </a:stretch>
        </p:blipFill>
        <p:spPr>
          <a:xfrm>
            <a:off x="2786050" y="3857628"/>
            <a:ext cx="6000792" cy="271464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cstate="print"/>
          <a:stretch>
            <a:fillRect/>
          </a:stretch>
        </p:blipFill>
        <p:spPr>
          <a:xfrm>
            <a:off x="500035" y="928670"/>
            <a:ext cx="5929354" cy="2857520"/>
          </a:xfrm>
          <a:prstGeom prst="rect">
            <a:avLst/>
          </a:prstGeom>
        </p:spPr>
      </p:pic>
      <p:pic>
        <p:nvPicPr>
          <p:cNvPr id="4" name="Picture 3"/>
          <p:cNvPicPr/>
          <p:nvPr/>
        </p:nvPicPr>
        <p:blipFill>
          <a:blip r:embed="rId3"/>
          <a:stretch>
            <a:fillRect/>
          </a:stretch>
        </p:blipFill>
        <p:spPr>
          <a:xfrm>
            <a:off x="3071802" y="4000504"/>
            <a:ext cx="5643602" cy="2643206"/>
          </a:xfrm>
          <a:prstGeom prst="rect">
            <a:avLst/>
          </a:prstGeom>
        </p:spPr>
      </p:pic>
    </p:spTree>
    <p:extLst>
      <p:ext uri="{BB962C8B-B14F-4D97-AF65-F5344CB8AC3E}">
        <p14:creationId xmlns="" xmlns:p14="http://schemas.microsoft.com/office/powerpoint/2010/main" val="3672137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324600" y="1477010"/>
            <a:ext cx="2423795" cy="941070"/>
          </a:xfrm>
          <a:prstGeom prst="rect">
            <a:avLst/>
          </a:prstGeom>
          <a:noFill/>
        </p:spPr>
        <p:txBody>
          <a:bodyPr wrap="square" rtlCol="0">
            <a:noAutofit/>
          </a:bodyPr>
          <a:lstStyle/>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a14="http://schemas.microsoft.com/office/drawing/2010/main" xmlns:w="http://schemas.openxmlformats.org/wordprocessingml/2006/main" xmlns:w10="urn:schemas-microsoft-com:office:word" xmlns:v="urn:schemas-microsoft-com:vml" xmlns:o="urn:schemas-microsoft-com:office:office" xmlns:pic="http://schemas.openxmlformats.org/drawingml/2006/picture" xmlns:lc="http://schemas.openxmlformats.org/drawingml/2006/lockedCanvas" val="0"/>
              </a:ext>
            </a:extLst>
          </a:blip>
          <a:srcRect/>
          <a:stretch>
            <a:fillRect/>
          </a:stretch>
        </p:blipFill>
        <p:spPr>
          <a:xfrm>
            <a:off x="571472" y="857232"/>
            <a:ext cx="5786478" cy="2500330"/>
          </a:xfrm>
          <a:prstGeom prst="rect">
            <a:avLst/>
          </a:prstGeom>
          <a:noFill/>
          <a:ln>
            <a:noFill/>
          </a:ln>
        </p:spPr>
      </p:pic>
      <p:pic>
        <p:nvPicPr>
          <p:cNvPr id="8" name="Picture 7"/>
          <p:cNvPicPr/>
          <p:nvPr/>
        </p:nvPicPr>
        <p:blipFill>
          <a:blip r:embed="rId3"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a14="http://schemas.microsoft.com/office/drawing/2010/main" xmlns:w="http://schemas.openxmlformats.org/wordprocessingml/2006/main" xmlns:w10="urn:schemas-microsoft-com:office:word" xmlns:v="urn:schemas-microsoft-com:vml" xmlns:o="urn:schemas-microsoft-com:office:office" xmlns:pic="http://schemas.openxmlformats.org/drawingml/2006/picture" xmlns:lc="http://schemas.openxmlformats.org/drawingml/2006/lockedCanvas" val="0"/>
              </a:ext>
            </a:extLst>
          </a:blip>
          <a:srcRect/>
          <a:stretch>
            <a:fillRect/>
          </a:stretch>
        </p:blipFill>
        <p:spPr>
          <a:xfrm>
            <a:off x="2714612" y="3500438"/>
            <a:ext cx="6000792" cy="300039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a14="http://schemas.microsoft.com/office/drawing/2010/main" xmlns:w="http://schemas.openxmlformats.org/wordprocessingml/2006/main" xmlns:w10="urn:schemas-microsoft-com:office:word" xmlns:v="urn:schemas-microsoft-com:vml" xmlns:o="urn:schemas-microsoft-com:office:office" xmlns:pic="http://schemas.openxmlformats.org/drawingml/2006/picture" xmlns:lc="http://schemas.openxmlformats.org/drawingml/2006/lockedCanvas" val="0"/>
              </a:ext>
            </a:extLst>
          </a:blip>
          <a:srcRect/>
          <a:stretch>
            <a:fillRect/>
          </a:stretch>
        </p:blipFill>
        <p:spPr>
          <a:xfrm>
            <a:off x="500034" y="857232"/>
            <a:ext cx="5572163" cy="2643205"/>
          </a:xfrm>
          <a:prstGeom prst="rect">
            <a:avLst/>
          </a:prstGeom>
          <a:noFill/>
          <a:ln>
            <a:noFill/>
          </a:ln>
        </p:spPr>
      </p:pic>
      <p:pic>
        <p:nvPicPr>
          <p:cNvPr id="5" name="Picture 4"/>
          <p:cNvPicPr/>
          <p:nvPr/>
        </p:nvPicPr>
        <p:blipFill>
          <a:blip r:embed="rId3" cstate="print"/>
          <a:stretch>
            <a:fillRect/>
          </a:stretch>
        </p:blipFill>
        <p:spPr>
          <a:xfrm>
            <a:off x="2857488" y="4000504"/>
            <a:ext cx="5929354" cy="2786082"/>
          </a:xfrm>
          <a:prstGeom prst="rect">
            <a:avLst/>
          </a:prstGeom>
        </p:spPr>
      </p:pic>
    </p:spTree>
    <p:extLst>
      <p:ext uri="{BB962C8B-B14F-4D97-AF65-F5344CB8AC3E}">
        <p14:creationId xmlns="" xmlns:p14="http://schemas.microsoft.com/office/powerpoint/2010/main" val="4236001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81000" y="3352800"/>
            <a:ext cx="7162800" cy="706755"/>
          </a:xfrm>
          <a:prstGeom prst="rect">
            <a:avLst/>
          </a:prstGeom>
          <a:noFill/>
        </p:spPr>
        <p:txBody>
          <a:bodyPr wrap="square" rtlCol="0">
            <a:spAutoFit/>
          </a:bodyPr>
          <a:lstStyle/>
          <a:p>
            <a:pPr marL="1828800" lvl="4" indent="457200"/>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a14="http://schemas.microsoft.com/office/drawing/2010/main" xmlns:w="http://schemas.openxmlformats.org/wordprocessingml/2006/main" xmlns:w10="urn:schemas-microsoft-com:office:word" xmlns:v="urn:schemas-microsoft-com:vml" xmlns:o="urn:schemas-microsoft-com:office:office" xmlns:pic="http://schemas.openxmlformats.org/drawingml/2006/picture" xmlns:lc="http://schemas.openxmlformats.org/drawingml/2006/lockedCanvas" val="0"/>
              </a:ext>
            </a:extLst>
          </a:blip>
          <a:srcRect/>
          <a:stretch>
            <a:fillRect/>
          </a:stretch>
        </p:blipFill>
        <p:spPr>
          <a:xfrm>
            <a:off x="714349" y="785794"/>
            <a:ext cx="5786477" cy="2500329"/>
          </a:xfrm>
          <a:prstGeom prst="rect">
            <a:avLst/>
          </a:prstGeom>
          <a:noFill/>
          <a:ln>
            <a:noFill/>
          </a:ln>
        </p:spPr>
      </p:pic>
      <p:pic>
        <p:nvPicPr>
          <p:cNvPr id="6" name="Picture 5"/>
          <p:cNvPicPr/>
          <p:nvPr/>
        </p:nvPicPr>
        <p:blipFill>
          <a:blip r:embed="rId3"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a14="http://schemas.microsoft.com/office/drawing/2010/main" xmlns:w="http://schemas.openxmlformats.org/wordprocessingml/2006/main" xmlns:w10="urn:schemas-microsoft-com:office:word" xmlns:v="urn:schemas-microsoft-com:vml" xmlns:o="urn:schemas-microsoft-com:office:office" xmlns:pic="http://schemas.openxmlformats.org/drawingml/2006/picture" xmlns:lc="http://schemas.openxmlformats.org/drawingml/2006/lockedCanvas" val="0"/>
              </a:ext>
            </a:extLst>
          </a:blip>
          <a:srcRect/>
          <a:stretch>
            <a:fillRect/>
          </a:stretch>
        </p:blipFill>
        <p:spPr>
          <a:xfrm>
            <a:off x="1963142" y="3500438"/>
            <a:ext cx="6323634" cy="314327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cstate="print"/>
          <a:stretch>
            <a:fillRect/>
          </a:stretch>
        </p:blipFill>
        <p:spPr>
          <a:xfrm>
            <a:off x="714349" y="857233"/>
            <a:ext cx="5500726" cy="2643205"/>
          </a:xfrm>
          <a:prstGeom prst="rect">
            <a:avLst/>
          </a:prstGeom>
        </p:spPr>
      </p:pic>
      <p:pic>
        <p:nvPicPr>
          <p:cNvPr id="5" name="Picture 4"/>
          <p:cNvPicPr/>
          <p:nvPr/>
        </p:nvPicPr>
        <p:blipFill>
          <a:blip r:embed="rId3" cstate="print"/>
          <a:stretch>
            <a:fillRect/>
          </a:stretch>
        </p:blipFill>
        <p:spPr>
          <a:xfrm>
            <a:off x="2000232" y="3571876"/>
            <a:ext cx="6643734" cy="300039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3"/>
          <a:stretch>
            <a:fillRect/>
          </a:stretch>
        </p:blipFill>
        <p:spPr>
          <a:xfrm>
            <a:off x="714349" y="1000108"/>
            <a:ext cx="5072097" cy="2571768"/>
          </a:xfrm>
          <a:prstGeom prst="rect">
            <a:avLst/>
          </a:prstGeom>
        </p:spPr>
      </p:pic>
      <p:pic>
        <p:nvPicPr>
          <p:cNvPr id="5" name="Picture 4"/>
          <p:cNvPicPr/>
          <p:nvPr/>
        </p:nvPicPr>
        <p:blipFill>
          <a:blip r:embed="rId4"/>
          <a:stretch>
            <a:fillRect/>
          </a:stretch>
        </p:blipFill>
        <p:spPr>
          <a:xfrm>
            <a:off x="2357422" y="3643314"/>
            <a:ext cx="6429420" cy="300039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stretch>
            <a:fillRect/>
          </a:stretch>
        </p:blipFill>
        <p:spPr>
          <a:xfrm>
            <a:off x="857224" y="857233"/>
            <a:ext cx="5429288" cy="2286016"/>
          </a:xfrm>
          <a:prstGeom prst="rect">
            <a:avLst/>
          </a:prstGeom>
        </p:spPr>
      </p:pic>
      <p:pic>
        <p:nvPicPr>
          <p:cNvPr id="3" name="Picture 2"/>
          <p:cNvPicPr/>
          <p:nvPr/>
        </p:nvPicPr>
        <p:blipFill>
          <a:blip r:embed="rId3"/>
          <a:stretch>
            <a:fillRect/>
          </a:stretch>
        </p:blipFill>
        <p:spPr>
          <a:xfrm>
            <a:off x="2071670" y="3429000"/>
            <a:ext cx="6143668" cy="307183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09600" y="990600"/>
            <a:ext cx="6153785" cy="661035"/>
          </a:xfrm>
          <a:prstGeom prst="rect">
            <a:avLst/>
          </a:prstGeom>
          <a:noFill/>
        </p:spPr>
        <p:txBody>
          <a:bodyPr wrap="square" rtlCol="0" anchor="t">
            <a:noAutofit/>
          </a:bodyPr>
          <a:lstStyle/>
          <a:p>
            <a:r>
              <a:rPr lang="en-US" sz="4000" b="1" dirty="0">
                <a:latin typeface="Times New Roman" panose="02020603050405020304" pitchFamily="18" charset="0"/>
                <a:cs typeface="Times New Roman" panose="02020603050405020304" pitchFamily="18" charset="0"/>
                <a:sym typeface="+mn-ea"/>
              </a:rPr>
              <a:t>FUTURE SCOPE</a:t>
            </a:r>
          </a:p>
        </p:txBody>
      </p:sp>
      <p:sp>
        <p:nvSpPr>
          <p:cNvPr id="5" name="Text Box 4"/>
          <p:cNvSpPr txBox="1"/>
          <p:nvPr/>
        </p:nvSpPr>
        <p:spPr>
          <a:xfrm>
            <a:off x="494030" y="2302510"/>
            <a:ext cx="7955915" cy="3232150"/>
          </a:xfrm>
          <a:prstGeom prst="rect">
            <a:avLst/>
          </a:prstGeom>
          <a:noFill/>
        </p:spPr>
        <p:txBody>
          <a:bodyPr wrap="square" rtlCol="0" anchor="t">
            <a:noAutofit/>
          </a:bodyPr>
          <a:lstStyle/>
          <a:p>
            <a:pPr marL="285750" indent="-285750">
              <a:buClr>
                <a:srgbClr val="0BD0D9"/>
              </a:buClr>
              <a:buFont typeface="Wingdings" panose="05000000000000000000" charset="0"/>
              <a:buChar char="Ø"/>
            </a:pPr>
            <a:endParaRPr lang="en-US"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533400" y="1905000"/>
            <a:ext cx="7543800" cy="4955203"/>
          </a:xfrm>
          <a:prstGeom prst="rect">
            <a:avLst/>
          </a:prstGeom>
        </p:spPr>
        <p:txBody>
          <a:bodyPr wrap="square">
            <a:spAutoFit/>
          </a:bodyPr>
          <a:lstStyle/>
          <a:p>
            <a:r>
              <a:rPr lang="en-US" sz="2000" dirty="0">
                <a:latin typeface="Times New Roman" pitchFamily="18" charset="0"/>
                <a:cs typeface="Times New Roman" pitchFamily="18" charset="0"/>
              </a:rPr>
              <a:t>The future scope of personal health records (PHRs) in the cloud involves enhanced patient engagement, improved data accessibility, and advancements in healthcare delivery through technologies like AI and data analytics, while addressing security and privacy concerns.</a:t>
            </a:r>
          </a:p>
          <a:p>
            <a:r>
              <a:rPr lang="en-US" sz="2000" dirty="0">
                <a:latin typeface="Times New Roman" pitchFamily="18" charset="0"/>
                <a:cs typeface="Times New Roman" pitchFamily="18" charset="0"/>
              </a:rPr>
              <a:t> </a:t>
            </a:r>
          </a:p>
          <a:p>
            <a:r>
              <a:rPr lang="en-US" sz="2000" b="1" dirty="0">
                <a:latin typeface="Times New Roman" pitchFamily="18" charset="0"/>
                <a:cs typeface="Times New Roman" pitchFamily="18" charset="0"/>
              </a:rPr>
              <a:t>Enhanced Patient Engagement and Empowerment:</a:t>
            </a:r>
            <a:endParaRPr lang="en-US" sz="2000" dirty="0">
              <a:latin typeface="Times New Roman" pitchFamily="18" charset="0"/>
              <a:cs typeface="Times New Roman" pitchFamily="18" charset="0"/>
            </a:endParaRPr>
          </a:p>
          <a:p>
            <a:pPr fontAlgn="ctr"/>
            <a:r>
              <a:rPr lang="en-US" sz="2000" dirty="0">
                <a:latin typeface="Times New Roman" pitchFamily="18" charset="0"/>
                <a:cs typeface="Times New Roman" pitchFamily="18" charset="0"/>
              </a:rPr>
              <a:t>Cloud-based PHRs enable patients to access their medical history, test results, and appointments anytime, anywhere, fostering a more proactive approach to their health management. </a:t>
            </a:r>
          </a:p>
          <a:p>
            <a:pPr fontAlgn="ctr"/>
            <a:endParaRPr lang="en-US" sz="2000" dirty="0">
              <a:latin typeface="Times New Roman" pitchFamily="18" charset="0"/>
              <a:cs typeface="Times New Roman" pitchFamily="18" charset="0"/>
            </a:endParaRPr>
          </a:p>
          <a:p>
            <a:r>
              <a:rPr lang="en-US" sz="2000" b="1" dirty="0">
                <a:latin typeface="Times New Roman" pitchFamily="18" charset="0"/>
                <a:cs typeface="Times New Roman" pitchFamily="18" charset="0"/>
              </a:rPr>
              <a:t>Improved Data Accessibility and Interoperability:</a:t>
            </a: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Cloud storage facilitates seamless sharing of health information between healthcare providers, leading to better coordination of care and more informed decision-making. </a:t>
            </a:r>
          </a:p>
          <a:p>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18160" y="1010920"/>
            <a:ext cx="5989320" cy="1330960"/>
          </a:xfrm>
          <a:prstGeom prst="rect">
            <a:avLst/>
          </a:prstGeom>
          <a:noFill/>
        </p:spPr>
        <p:txBody>
          <a:bodyPr wrap="square" rtlCol="0" anchor="t">
            <a:noAutofit/>
          </a:bodyPr>
          <a:lstStyle/>
          <a:p>
            <a:r>
              <a:rPr lang="en-US" sz="4890" b="1" dirty="0">
                <a:latin typeface="Bodoni MT Black" panose="02070A03080606020203" pitchFamily="18" charset="0"/>
                <a:cs typeface="Bodoni MT Black" panose="02070A03080606020203" pitchFamily="18" charset="0"/>
                <a:sym typeface="+mn-ea"/>
              </a:rPr>
              <a:t> </a:t>
            </a:r>
            <a:r>
              <a:rPr lang="en-US" sz="3600" b="1" dirty="0" smtClean="0">
                <a:latin typeface="Times New Roman" panose="02020603050405020304" pitchFamily="18" charset="0"/>
                <a:cs typeface="Times New Roman" panose="02020603050405020304" pitchFamily="18" charset="0"/>
                <a:sym typeface="+mn-ea"/>
              </a:rPr>
              <a:t>CONCLUSION</a:t>
            </a:r>
            <a:endParaRPr lang="en-US" sz="3600" b="1" dirty="0">
              <a:latin typeface="Times New Roman" panose="02020603050405020304" pitchFamily="18" charset="0"/>
              <a:cs typeface="Times New Roman" panose="02020603050405020304" pitchFamily="18" charset="0"/>
              <a:sym typeface="+mn-ea"/>
            </a:endParaRPr>
          </a:p>
        </p:txBody>
      </p:sp>
      <p:sp>
        <p:nvSpPr>
          <p:cNvPr id="4" name="Text Box 3"/>
          <p:cNvSpPr txBox="1"/>
          <p:nvPr/>
        </p:nvSpPr>
        <p:spPr>
          <a:xfrm>
            <a:off x="596900" y="1752600"/>
            <a:ext cx="7767955" cy="4572000"/>
          </a:xfrm>
          <a:prstGeom prst="rect">
            <a:avLst/>
          </a:prstGeom>
          <a:noFill/>
        </p:spPr>
        <p:txBody>
          <a:bodyPr wrap="square" rtlCol="0" anchor="t">
            <a:noAutofit/>
          </a:bodyPr>
          <a:lstStyle/>
          <a:p>
            <a:pPr marL="285750" indent="-285750">
              <a:buClr>
                <a:srgbClr val="009DD9"/>
              </a:buClr>
              <a:buFont typeface="Wingdings" panose="05000000000000000000" charset="0"/>
              <a:buChar char="Ø"/>
            </a:pPr>
            <a:endParaRPr lang="en-US" dirty="0"/>
          </a:p>
        </p:txBody>
      </p:sp>
      <p:sp>
        <p:nvSpPr>
          <p:cNvPr id="5" name="Rectangle 4"/>
          <p:cNvSpPr/>
          <p:nvPr/>
        </p:nvSpPr>
        <p:spPr>
          <a:xfrm>
            <a:off x="381000" y="1981198"/>
            <a:ext cx="8305800" cy="4401205"/>
          </a:xfrm>
          <a:prstGeom prst="rect">
            <a:avLst/>
          </a:prstGeom>
        </p:spPr>
        <p:txBody>
          <a:bodyPr wrap="square">
            <a:spAutoFit/>
          </a:bodyPr>
          <a:lstStyle/>
          <a:p>
            <a:pPr>
              <a:buClr>
                <a:schemeClr val="bg2">
                  <a:lumMod val="50000"/>
                </a:schemeClr>
              </a:buClr>
              <a:buFont typeface="Wingdings" pitchFamily="2" charset="2"/>
              <a:buChar char="Ø"/>
            </a:pPr>
            <a:r>
              <a:rPr lang="en-US" sz="2000" dirty="0">
                <a:latin typeface="Times New Roman" pitchFamily="18" charset="0"/>
                <a:cs typeface="Times New Roman" pitchFamily="18" charset="0"/>
              </a:rPr>
              <a:t>We proposed a methodology to securely store and transmission of the PHRs to the authorized entities in the cloud. </a:t>
            </a:r>
          </a:p>
          <a:p>
            <a:endParaRPr lang="en-US" sz="2000" dirty="0">
              <a:latin typeface="Times New Roman" pitchFamily="18" charset="0"/>
              <a:cs typeface="Times New Roman" pitchFamily="18" charset="0"/>
            </a:endParaRPr>
          </a:p>
          <a:p>
            <a:pPr>
              <a:buClr>
                <a:schemeClr val="bg2">
                  <a:lumMod val="50000"/>
                </a:schemeClr>
              </a:buClr>
              <a:buFont typeface="Wingdings" pitchFamily="2" charset="2"/>
              <a:buChar char="Ø"/>
            </a:pPr>
            <a:r>
              <a:rPr lang="en-US" sz="2000" dirty="0">
                <a:latin typeface="Times New Roman" pitchFamily="18" charset="0"/>
                <a:cs typeface="Times New Roman" pitchFamily="18" charset="0"/>
              </a:rPr>
              <a:t>The methodology preserves the confidentiality of the PHRs and enforces a patient-centric access control to different portions of the PHRs based on the access provided  by the patients. </a:t>
            </a:r>
          </a:p>
          <a:p>
            <a:pPr>
              <a:buFont typeface="Wingdings" pitchFamily="2" charset="2"/>
              <a:buChar char="Ø"/>
            </a:pPr>
            <a:endParaRPr lang="en-US" sz="2000" dirty="0">
              <a:latin typeface="Times New Roman" pitchFamily="18" charset="0"/>
              <a:cs typeface="Times New Roman" pitchFamily="18" charset="0"/>
            </a:endParaRPr>
          </a:p>
          <a:p>
            <a:pPr>
              <a:buClr>
                <a:schemeClr val="bg2">
                  <a:lumMod val="50000"/>
                </a:schemeClr>
              </a:buClr>
              <a:buFont typeface="Wingdings" pitchFamily="2" charset="2"/>
              <a:buChar char="Ø"/>
            </a:pPr>
            <a:r>
              <a:rPr lang="en-US" sz="2000" dirty="0">
                <a:latin typeface="Times New Roman" pitchFamily="18" charset="0"/>
                <a:cs typeface="Times New Roman" pitchFamily="18" charset="0"/>
              </a:rPr>
              <a:t>We implemented a fine-grained access control method in such a way that even the valid system users cannot access those portions of the PHR for which they are not authorized. </a:t>
            </a:r>
          </a:p>
          <a:p>
            <a:endParaRPr lang="en-US" sz="2000" dirty="0">
              <a:latin typeface="Times New Roman" pitchFamily="18" charset="0"/>
              <a:cs typeface="Times New Roman" pitchFamily="18" charset="0"/>
            </a:endParaRPr>
          </a:p>
          <a:p>
            <a:pPr>
              <a:buClr>
                <a:schemeClr val="bg2">
                  <a:lumMod val="50000"/>
                </a:schemeClr>
              </a:buClr>
              <a:buFont typeface="Wingdings" pitchFamily="2" charset="2"/>
              <a:buChar char="Ø"/>
            </a:pPr>
            <a:r>
              <a:rPr lang="en-US" sz="2000" dirty="0">
                <a:latin typeface="Times New Roman" pitchFamily="18" charset="0"/>
                <a:cs typeface="Times New Roman" pitchFamily="18" charset="0"/>
              </a:rPr>
              <a:t>The PHR owners store the encrypted data on the cloud and only the authorized users possessing valid re- encryption keys issued by a semi trusted  proxy are able to decrypt the PHRs.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215"/>
            <a:ext cx="8153400" cy="929005"/>
          </a:xfrm>
        </p:spPr>
        <p:txBody>
          <a:bodyPr/>
          <a:lstStyle/>
          <a:p>
            <a:r>
              <a:rPr lang="en-US" sz="3600" b="1" dirty="0">
                <a:solidFill>
                  <a:schemeClr val="tx1"/>
                </a:solidFill>
                <a:latin typeface="Times New Roman" panose="02020603050405020304" pitchFamily="18" charset="0"/>
                <a:cs typeface="Times New Roman" panose="02020603050405020304" pitchFamily="18" charset="0"/>
                <a:sym typeface="+mn-ea"/>
              </a:rPr>
              <a:t>REFERENCES</a:t>
            </a:r>
          </a:p>
        </p:txBody>
      </p:sp>
      <p:sp>
        <p:nvSpPr>
          <p:cNvPr id="5" name="Text Box 4"/>
          <p:cNvSpPr txBox="1"/>
          <p:nvPr/>
        </p:nvSpPr>
        <p:spPr>
          <a:xfrm>
            <a:off x="720090" y="2012950"/>
            <a:ext cx="7863840" cy="4300220"/>
          </a:xfrm>
          <a:prstGeom prst="rect">
            <a:avLst/>
          </a:prstGeom>
          <a:noFill/>
        </p:spPr>
        <p:txBody>
          <a:bodyPr wrap="square" rtlCol="0" anchor="t">
            <a:noAutofit/>
          </a:bodyPr>
          <a:lstStyle/>
          <a:p>
            <a:endParaRPr lang="en-US"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28600" y="1828800"/>
            <a:ext cx="8915400" cy="4939814"/>
          </a:xfrm>
          <a:prstGeom prst="rect">
            <a:avLst/>
          </a:prstGeom>
        </p:spPr>
        <p:txBody>
          <a:bodyPr wrap="square">
            <a:spAutoFit/>
          </a:bodyPr>
          <a:lstStyle/>
          <a:p>
            <a:pPr algn="just">
              <a:lnSpc>
                <a:spcPct val="150000"/>
              </a:lnSpc>
            </a:pPr>
            <a:r>
              <a:rPr lang="en-US" dirty="0">
                <a:latin typeface="Times New Roman" pitchFamily="18" charset="0"/>
                <a:cs typeface="Times New Roman" pitchFamily="18" charset="0"/>
              </a:rPr>
              <a:t>[1]Min Chen, </a:t>
            </a:r>
            <a:r>
              <a:rPr lang="en-US" i="1" dirty="0">
                <a:latin typeface="Times New Roman" pitchFamily="18" charset="0"/>
                <a:cs typeface="Times New Roman" pitchFamily="18" charset="0"/>
              </a:rPr>
              <a:t>Senior Member, IEEE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Yongfeng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Qian</a:t>
            </a:r>
            <a:r>
              <a:rPr lang="en-US" dirty="0">
                <a:latin typeface="Times New Roman" pitchFamily="18" charset="0"/>
                <a:cs typeface="Times New Roman" pitchFamily="18" charset="0"/>
              </a:rPr>
              <a:t>, Jing </a:t>
            </a:r>
            <a:r>
              <a:rPr lang="en-US" dirty="0" err="1">
                <a:latin typeface="Times New Roman" pitchFamily="18" charset="0"/>
                <a:cs typeface="Times New Roman" pitchFamily="18" charset="0"/>
              </a:rPr>
              <a:t>Chen,Kai</a:t>
            </a:r>
            <a:r>
              <a:rPr lang="en-US" dirty="0">
                <a:latin typeface="Times New Roman" pitchFamily="18" charset="0"/>
                <a:cs typeface="Times New Roman" pitchFamily="18" charset="0"/>
              </a:rPr>
              <a:t> Hwang, </a:t>
            </a:r>
            <a:r>
              <a:rPr lang="en-US" i="1" dirty="0">
                <a:latin typeface="Times New Roman" pitchFamily="18" charset="0"/>
                <a:cs typeface="Times New Roman" pitchFamily="18" charset="0"/>
              </a:rPr>
              <a:t>Fellow, IEEE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Shiwen</a:t>
            </a:r>
            <a:r>
              <a:rPr lang="en-US" dirty="0">
                <a:latin typeface="Times New Roman" pitchFamily="18" charset="0"/>
                <a:cs typeface="Times New Roman" pitchFamily="18" charset="0"/>
              </a:rPr>
              <a:t> Mao, </a:t>
            </a:r>
            <a:r>
              <a:rPr lang="en-US" i="1" dirty="0">
                <a:latin typeface="Times New Roman" pitchFamily="18" charset="0"/>
                <a:cs typeface="Times New Roman" pitchFamily="18" charset="0"/>
              </a:rPr>
              <a:t>Senior Member</a:t>
            </a:r>
            <a:r>
              <a:rPr lang="en-US" dirty="0">
                <a:latin typeface="Times New Roman" pitchFamily="18" charset="0"/>
                <a:cs typeface="Times New Roman" pitchFamily="18" charset="0"/>
              </a:rPr>
              <a:t>, Long </a:t>
            </a:r>
            <a:r>
              <a:rPr lang="en-US" dirty="0" err="1">
                <a:latin typeface="Times New Roman" pitchFamily="18" charset="0"/>
                <a:cs typeface="Times New Roman" pitchFamily="18" charset="0"/>
              </a:rPr>
              <a:t>Hu</a:t>
            </a:r>
            <a:r>
              <a:rPr lang="en-US" dirty="0">
                <a:latin typeface="Times New Roman" pitchFamily="18" charset="0"/>
                <a:cs typeface="Times New Roman" pitchFamily="18" charset="0"/>
              </a:rPr>
              <a:t>, “Privacy Protection and Intrusion Avoidance for Cloudlet-based Medical Data Sharing”, </a:t>
            </a:r>
            <a:r>
              <a:rPr lang="en-US" b="1" dirty="0">
                <a:latin typeface="Times New Roman" pitchFamily="18" charset="0"/>
                <a:cs typeface="Times New Roman" pitchFamily="18" charset="0"/>
              </a:rPr>
              <a:t>IEEE Transactions on Cloud Computing, 2017.</a:t>
            </a:r>
          </a:p>
          <a:p>
            <a:pPr algn="just">
              <a:lnSpc>
                <a:spcPct val="150000"/>
              </a:lnSpc>
            </a:pPr>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[2]</a:t>
            </a:r>
            <a:r>
              <a:rPr lang="en-US" dirty="0" err="1">
                <a:latin typeface="Times New Roman" pitchFamily="18" charset="0"/>
                <a:cs typeface="Times New Roman" pitchFamily="18" charset="0"/>
              </a:rPr>
              <a:t>Tambe</a:t>
            </a:r>
            <a:r>
              <a:rPr lang="en-US" dirty="0">
                <a:latin typeface="Times New Roman" pitchFamily="18" charset="0"/>
                <a:cs typeface="Times New Roman" pitchFamily="18" charset="0"/>
              </a:rPr>
              <a:t>, G. </a:t>
            </a:r>
            <a:r>
              <a:rPr lang="en-US" dirty="0" err="1">
                <a:latin typeface="Times New Roman" pitchFamily="18" charset="0"/>
                <a:cs typeface="Times New Roman" pitchFamily="18" charset="0"/>
              </a:rPr>
              <a:t>SeSPHR</a:t>
            </a:r>
            <a:r>
              <a:rPr lang="en-US" dirty="0">
                <a:latin typeface="Times New Roman" pitchFamily="18" charset="0"/>
                <a:cs typeface="Times New Roman" pitchFamily="18" charset="0"/>
              </a:rPr>
              <a:t>: A METHODOLOGY FOR SECURE SHARING OF PERSONAL HEALTH RECORDS IN THE CLOUD. </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[3] K. </a:t>
            </a:r>
            <a:r>
              <a:rPr lang="en-US" dirty="0" err="1">
                <a:latin typeface="Times New Roman" pitchFamily="18" charset="0"/>
                <a:cs typeface="Times New Roman" pitchFamily="18" charset="0"/>
              </a:rPr>
              <a:t>Gai</a:t>
            </a:r>
            <a:r>
              <a:rPr lang="en-US" dirty="0">
                <a:latin typeface="Times New Roman" pitchFamily="18" charset="0"/>
                <a:cs typeface="Times New Roman" pitchFamily="18" charset="0"/>
              </a:rPr>
              <a:t>, M. </a:t>
            </a:r>
            <a:r>
              <a:rPr lang="en-US" dirty="0" err="1">
                <a:latin typeface="Times New Roman" pitchFamily="18" charset="0"/>
                <a:cs typeface="Times New Roman" pitchFamily="18" charset="0"/>
              </a:rPr>
              <a:t>Qiu</a:t>
            </a:r>
            <a:r>
              <a:rPr lang="en-US" dirty="0">
                <a:latin typeface="Times New Roman" pitchFamily="18" charset="0"/>
                <a:cs typeface="Times New Roman" pitchFamily="18" charset="0"/>
              </a:rPr>
              <a:t>, and X. Sun, “A survey on  </a:t>
            </a:r>
            <a:r>
              <a:rPr lang="en-US" dirty="0" err="1">
                <a:latin typeface="Times New Roman" pitchFamily="18" charset="0"/>
                <a:cs typeface="Times New Roman" pitchFamily="18" charset="0"/>
              </a:rPr>
              <a:t>FinTech</a:t>
            </a:r>
            <a:r>
              <a:rPr lang="en-US" dirty="0">
                <a:latin typeface="Times New Roman" pitchFamily="18" charset="0"/>
                <a:cs typeface="Times New Roman" pitchFamily="18" charset="0"/>
              </a:rPr>
              <a:t>,” Journal of Network and K. </a:t>
            </a:r>
            <a:r>
              <a:rPr lang="en-US" dirty="0" err="1">
                <a:latin typeface="Times New Roman" pitchFamily="18" charset="0"/>
                <a:cs typeface="Times New Roman" pitchFamily="18" charset="0"/>
              </a:rPr>
              <a:t>Gai</a:t>
            </a:r>
            <a:r>
              <a:rPr lang="en-US" dirty="0">
                <a:latin typeface="Times New Roman" pitchFamily="18" charset="0"/>
                <a:cs typeface="Times New Roman" pitchFamily="18" charset="0"/>
              </a:rPr>
              <a:t>, M. </a:t>
            </a:r>
            <a:r>
              <a:rPr lang="en-US" dirty="0" err="1">
                <a:latin typeface="Times New Roman" pitchFamily="18" charset="0"/>
                <a:cs typeface="Times New Roman" pitchFamily="18" charset="0"/>
              </a:rPr>
              <a:t>Qiu</a:t>
            </a:r>
            <a:r>
              <a:rPr lang="en-US" dirty="0">
                <a:latin typeface="Times New Roman" pitchFamily="18" charset="0"/>
                <a:cs typeface="Times New Roman" pitchFamily="18" charset="0"/>
              </a:rPr>
              <a:t>, Z. </a:t>
            </a:r>
            <a:r>
              <a:rPr lang="en-US" dirty="0" err="1">
                <a:latin typeface="Times New Roman" pitchFamily="18" charset="0"/>
                <a:cs typeface="Times New Roman" pitchFamily="18" charset="0"/>
              </a:rPr>
              <a:t>Xiong</a:t>
            </a:r>
            <a:r>
              <a:rPr lang="en-US" dirty="0">
                <a:latin typeface="Times New Roman" pitchFamily="18" charset="0"/>
                <a:cs typeface="Times New Roman" pitchFamily="18" charset="0"/>
              </a:rPr>
              <a:t>, and M. Liu</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[4]A. </a:t>
            </a:r>
            <a:r>
              <a:rPr lang="en-US" dirty="0" err="1">
                <a:latin typeface="Times New Roman" pitchFamily="18" charset="0"/>
                <a:cs typeface="Times New Roman" pitchFamily="18" charset="0"/>
              </a:rPr>
              <a:t>Abbas</a:t>
            </a:r>
            <a:r>
              <a:rPr lang="en-US" dirty="0">
                <a:latin typeface="Times New Roman" pitchFamily="18" charset="0"/>
                <a:cs typeface="Times New Roman" pitchFamily="18" charset="0"/>
              </a:rPr>
              <a:t>, K. </a:t>
            </a:r>
            <a:r>
              <a:rPr lang="en-US" dirty="0" err="1">
                <a:latin typeface="Times New Roman" pitchFamily="18" charset="0"/>
                <a:cs typeface="Times New Roman" pitchFamily="18" charset="0"/>
              </a:rPr>
              <a:t>Bilal</a:t>
            </a:r>
            <a:r>
              <a:rPr lang="en-US" dirty="0">
                <a:latin typeface="Times New Roman" pitchFamily="18" charset="0"/>
                <a:cs typeface="Times New Roman" pitchFamily="18" charset="0"/>
              </a:rPr>
              <a:t>, L. Zhang, and S. U. Khan, “A cloud based health insurance plan recommendation system: A user centered approach, “Future Generation Computer </a:t>
            </a:r>
          </a:p>
          <a:p>
            <a:r>
              <a:rPr lang="en-US" dirty="0">
                <a:latin typeface="Times New Roman" pitchFamily="18" charset="0"/>
                <a:cs typeface="Times New Roman" pitchFamily="18" charset="0"/>
              </a:rPr>
              <a:t>Systems, vols. 4344, pp</a:t>
            </a:r>
          </a:p>
          <a:p>
            <a:endParaRPr lang="en-US" dirty="0">
              <a:latin typeface="Times New Roman" pitchFamily="18" charset="0"/>
              <a:cs typeface="Times New Roman" pitchFamily="18" charset="0"/>
            </a:endParaRPr>
          </a:p>
          <a:p>
            <a:pPr algn="just">
              <a:lnSpc>
                <a:spcPct val="150000"/>
              </a:lnSpc>
            </a:pPr>
            <a:endParaRPr lang="en-US" b="1"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57290" y="571480"/>
            <a:ext cx="7498080" cy="4214842"/>
          </a:xfrm>
        </p:spPr>
        <p:txBody>
          <a:bodyPr/>
          <a:lstStyle/>
          <a:p>
            <a:r>
              <a:rPr lang="en-US" dirty="0"/>
              <a:t/>
            </a:r>
            <a:br>
              <a:rPr lang="en-US" dirty="0"/>
            </a:br>
            <a:endParaRPr lang="en-US" dirty="0">
              <a:solidFill>
                <a:schemeClr val="tx1"/>
              </a:solidFill>
            </a:endParaRPr>
          </a:p>
        </p:txBody>
      </p:sp>
      <p:pic>
        <p:nvPicPr>
          <p:cNvPr id="5" name="Picture 4" descr="1476271_7412.jpg"/>
          <p:cNvPicPr>
            <a:picLocks noChangeAspect="1"/>
          </p:cNvPicPr>
          <p:nvPr/>
        </p:nvPicPr>
        <p:blipFill>
          <a:blip r:embed="rId2" cstate="print"/>
          <a:stretch>
            <a:fillRect/>
          </a:stretch>
        </p:blipFill>
        <p:spPr>
          <a:xfrm>
            <a:off x="1500166" y="1071546"/>
            <a:ext cx="6488539" cy="4595283"/>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IV MINI PROJECT PPT REFERENCE TEMPLATE (2)</Template>
  <TotalTime>268</TotalTime>
  <Words>1224</Words>
  <Application>Microsoft Office PowerPoint</Application>
  <PresentationFormat>On-screen Show (4:3)</PresentationFormat>
  <Paragraphs>112</Paragraphs>
  <Slides>22</Slides>
  <Notes>7</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Flow</vt:lpstr>
      <vt:lpstr>     </vt:lpstr>
      <vt:lpstr>Slide 2</vt:lpstr>
      <vt:lpstr>   ABSTRACT</vt:lpstr>
      <vt:lpstr>INTRODUCTION</vt:lpstr>
      <vt:lpstr>SYSTEM ANALYSIS</vt:lpstr>
      <vt:lpstr>LITERATURE SURVEY</vt:lpstr>
      <vt:lpstr>PROPOSED METHOD</vt:lpstr>
      <vt:lpstr>Slide 8</vt:lpstr>
      <vt:lpstr>Slide 9</vt:lpstr>
      <vt:lpstr> SYSTEM ARCHITECTURE</vt:lpstr>
      <vt:lpstr> RESULT</vt:lpstr>
      <vt:lpstr>Slide 12</vt:lpstr>
      <vt:lpstr>Slide 13</vt:lpstr>
      <vt:lpstr>Slide 14</vt:lpstr>
      <vt:lpstr>Slide 15</vt:lpstr>
      <vt:lpstr>Slide 16</vt:lpstr>
      <vt:lpstr>Slide 17</vt:lpstr>
      <vt:lpstr>Slide 18</vt:lpstr>
      <vt:lpstr>Slide 19</vt:lpstr>
      <vt:lpstr>Slide 20</vt:lpstr>
      <vt:lpstr>REFERENCES</vt:lpstr>
      <vt:lpstr>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shaik</dc:creator>
  <cp:lastModifiedBy>pooja</cp:lastModifiedBy>
  <cp:revision>112</cp:revision>
  <dcterms:created xsi:type="dcterms:W3CDTF">2023-08-02T10:05:00Z</dcterms:created>
  <dcterms:modified xsi:type="dcterms:W3CDTF">2025-05-01T14:19:23Z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6FF7632787644AE895C4B2EB1B32CB91_12</vt:lpwstr>
  </property>
  <property fmtid="{D5CDD505-2E9C-101B-9397-08002B2CF9AE}" pid="3" name="KSOProductBuildVer">
    <vt:lpwstr>1033-12.2.0.18283</vt:lpwstr>
  </property>
</Properties>
</file>