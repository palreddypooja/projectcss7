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6" r:id="rId2"/>
    <p:sldId id="257" r:id="rId3"/>
    <p:sldId id="267" r:id="rId4"/>
    <p:sldId id="258" r:id="rId5"/>
    <p:sldId id="259" r:id="rId6"/>
    <p:sldId id="260" r:id="rId7"/>
    <p:sldId id="268" r:id="rId8"/>
    <p:sldId id="261" r:id="rId9"/>
    <p:sldId id="262" r:id="rId10"/>
    <p:sldId id="263" r:id="rId11"/>
    <p:sldId id="264" r:id="rId12"/>
    <p:sldId id="265"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86" d="100"/>
          <a:sy n="86" d="100"/>
        </p:scale>
        <p:origin x="-1494" y="-9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smtClean="0"/>
              <a:t>Click to edit Master title style</a:t>
            </a:r>
            <a:endParaRPr kumimoji="0" lang="en-US"/>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1D8BD707-D9CF-40AE-B4C6-C98DA3205C09}" type="datetimeFigureOut">
              <a:rPr lang="en-US" smtClean="0"/>
              <a:pPr/>
              <a:t>11/28/2017</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11/28/2017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smtClean="0"/>
              <a:t>Click to edit Master title style</a:t>
            </a:r>
            <a:endParaRPr kumimoji="0" lang="en-US"/>
          </a:p>
        </p:txBody>
      </p:sp>
      <p:sp>
        <p:nvSpPr>
          <p:cNvPr id="12" name="Date Placeholder 11"/>
          <p:cNvSpPr>
            <a:spLocks noGrp="1"/>
          </p:cNvSpPr>
          <p:nvPr>
            <p:ph type="dt" sz="half" idx="10"/>
          </p:nvPr>
        </p:nvSpPr>
        <p:spPr/>
        <p:txBody>
          <a:bodyPr/>
          <a:lstStyle/>
          <a:p>
            <a:fld id="{1D8BD707-D9CF-40AE-B4C6-C98DA3205C09}" type="datetimeFigureOut">
              <a:rPr lang="en-US" smtClean="0"/>
              <a:pPr/>
              <a:t>11/28/2017</a:t>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B6F15528-21DE-4FAA-801E-634DDDAF4B2B}" type="slidenum">
              <a:rPr lang="en-US" smtClean="0"/>
              <a:pPr/>
              <a:t>‹#›</a:t>
            </a:fld>
            <a:endParaRPr lang="en-US"/>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8" name="Date Placeholder 7"/>
          <p:cNvSpPr>
            <a:spLocks noGrp="1"/>
          </p:cNvSpPr>
          <p:nvPr>
            <p:ph type="dt" sz="half" idx="15"/>
          </p:nvPr>
        </p:nvSpPr>
        <p:spPr/>
        <p:txBody>
          <a:bodyPr rtlCol="0"/>
          <a:lstStyle/>
          <a:p>
            <a:fld id="{1D8BD707-D9CF-40AE-B4C6-C98DA3205C09}" type="datetimeFigureOut">
              <a:rPr lang="en-US" smtClean="0"/>
              <a:pPr/>
              <a:t>11/28/2017</a:t>
            </a:fld>
            <a:endParaRPr lang="en-US"/>
          </a:p>
        </p:txBody>
      </p:sp>
      <p:sp>
        <p:nvSpPr>
          <p:cNvPr id="10" name="Slide Number Placeholder 9"/>
          <p:cNvSpPr>
            <a:spLocks noGrp="1"/>
          </p:cNvSpPr>
          <p:nvPr>
            <p:ph type="sldNum" sz="quarter" idx="16"/>
          </p:nvPr>
        </p:nvSpPr>
        <p:spPr/>
        <p:txBody>
          <a:bodyPr rtlCol="0"/>
          <a:lstStyle/>
          <a:p>
            <a:fld id="{B6F15528-21DE-4FAA-801E-634DDDAF4B2B}" type="slidenum">
              <a:rPr lang="en-US" smtClean="0"/>
              <a:pPr/>
              <a:t>‹#›</a:t>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smtClean="0"/>
              <a:t>Click to edit Master title style</a:t>
            </a:r>
            <a:endParaRPr kumimoji="0" lang="en-US"/>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Date Placeholder 9"/>
          <p:cNvSpPr>
            <a:spLocks noGrp="1"/>
          </p:cNvSpPr>
          <p:nvPr>
            <p:ph type="dt" sz="half" idx="15"/>
          </p:nvPr>
        </p:nvSpPr>
        <p:spPr/>
        <p:txBody>
          <a:bodyPr rtlCol="0"/>
          <a:lstStyle/>
          <a:p>
            <a:fld id="{1D8BD707-D9CF-40AE-B4C6-C98DA3205C09}" type="datetimeFigureOut">
              <a:rPr lang="en-US" smtClean="0"/>
              <a:pPr/>
              <a:t>11/28/2017</a:t>
            </a:fld>
            <a:endParaRPr lang="en-US"/>
          </a:p>
        </p:txBody>
      </p:sp>
      <p:sp>
        <p:nvSpPr>
          <p:cNvPr id="12" name="Slide Number Placeholder 11"/>
          <p:cNvSpPr>
            <a:spLocks noGrp="1"/>
          </p:cNvSpPr>
          <p:nvPr>
            <p:ph type="sldNum" sz="quarter" idx="16"/>
          </p:nvPr>
        </p:nvSpPr>
        <p:spPr/>
        <p:txBody>
          <a:bodyPr rtlCol="0"/>
          <a:lstStyle/>
          <a:p>
            <a:fld id="{B6F15528-21DE-4FAA-801E-634DDDAF4B2B}" type="slidenum">
              <a:rPr lang="en-US" smtClean="0"/>
              <a:pP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D8BD707-D9CF-40AE-B4C6-C98DA3205C09}" type="datetimeFigureOut">
              <a:rPr lang="en-US" smtClean="0"/>
              <a:pPr/>
              <a:t>11/28/2017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11/28/2017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11/28/2017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smtClean="0"/>
              <a:t>Click to edit Master title style</a:t>
            </a:r>
            <a:endParaRPr kumimoji="0" lang="en-US"/>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1D8BD707-D9CF-40AE-B4C6-C98DA3205C09}" type="datetimeFigureOut">
              <a:rPr lang="en-US" smtClean="0"/>
              <a:pPr/>
              <a:t>11/28/2017</a:t>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B6F15528-21DE-4FAA-801E-634DDDAF4B2B}" type="slidenum">
              <a:rPr lang="en-US" smtClean="0"/>
              <a:pPr/>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smtClean="0"/>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11/28/2017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1D8BD707-D9CF-40AE-B4C6-C98DA3205C09}" type="datetimeFigureOut">
              <a:rPr lang="en-US" smtClean="0"/>
              <a:pPr/>
              <a:t>11/28/2017</a:t>
            </a:fld>
            <a:endParaRPr lang="en-US"/>
          </a:p>
        </p:txBody>
      </p:sp>
      <p:sp>
        <p:nvSpPr>
          <p:cNvPr id="5" name="Footer Placeholder 4"/>
          <p:cNvSpPr>
            <a:spLocks noGrp="1"/>
          </p:cNvSpPr>
          <p:nvPr>
            <p:ph type="ftr" sz="quarter" idx="11"/>
          </p:nvPr>
        </p:nvSpPr>
        <p:spPr>
          <a:xfrm>
            <a:off x="457201" y="6248207"/>
            <a:ext cx="5573483" cy="365125"/>
          </a:xfrm>
        </p:spPr>
        <p:txBody>
          <a:bodyPr/>
          <a:lstStyle/>
          <a:p>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1D8BD707-D9CF-40AE-B4C6-C98DA3205C09}" type="datetimeFigureOut">
              <a:rPr lang="en-US" smtClean="0"/>
              <a:pPr/>
              <a:t>11/28/2017</a:t>
            </a:fld>
            <a:endParaRPr 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 y="2438400"/>
            <a:ext cx="8534400" cy="1828800"/>
          </a:xfrm>
        </p:spPr>
        <p:txBody>
          <a:bodyPr>
            <a:normAutofit fontScale="90000"/>
          </a:bodyPr>
          <a:lstStyle/>
          <a:p>
            <a:pPr algn="ctr"/>
            <a:r>
              <a:rPr lang="en-US" b="1" dirty="0" smtClean="0"/>
              <a:t>Privacy Protection and Intrusion Avoidance </a:t>
            </a:r>
            <a:r>
              <a:rPr lang="en-US" b="1" dirty="0" smtClean="0"/>
              <a:t>for Cloudlet-based </a:t>
            </a:r>
            <a:r>
              <a:rPr lang="en-US" b="1" dirty="0" smtClean="0"/>
              <a:t>Medical Data Sharing</a:t>
            </a:r>
            <a:r>
              <a:rPr lang="en-US" dirty="0" smtClean="0"/>
              <a:t/>
            </a:r>
            <a:br>
              <a:rPr lang="en-US" dirty="0" smtClean="0"/>
            </a:b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ABSTRACT</a:t>
            </a:r>
            <a:endParaRPr lang="en-US" dirty="0"/>
          </a:p>
        </p:txBody>
      </p:sp>
      <p:sp>
        <p:nvSpPr>
          <p:cNvPr id="3" name="Content Placeholder 2"/>
          <p:cNvSpPr>
            <a:spLocks noGrp="1"/>
          </p:cNvSpPr>
          <p:nvPr>
            <p:ph sz="quarter" idx="1"/>
          </p:nvPr>
        </p:nvSpPr>
        <p:spPr>
          <a:xfrm>
            <a:off x="609600" y="1600200"/>
            <a:ext cx="8156448" cy="4724400"/>
          </a:xfrm>
        </p:spPr>
        <p:txBody>
          <a:bodyPr>
            <a:noAutofit/>
          </a:bodyPr>
          <a:lstStyle/>
          <a:p>
            <a:pPr algn="just">
              <a:lnSpc>
                <a:spcPct val="150000"/>
              </a:lnSpc>
            </a:pPr>
            <a:r>
              <a:rPr lang="en-US" sz="2000" dirty="0" smtClean="0">
                <a:latin typeface="Times New Roman" pitchFamily="18" charset="0"/>
                <a:cs typeface="Times New Roman" pitchFamily="18" charset="0"/>
              </a:rPr>
              <a:t>With the popularity of wearable devices, along with the development of clouds and cloudlet technology, there has </a:t>
            </a:r>
            <a:r>
              <a:rPr lang="en-US" sz="2000" dirty="0" err="1" smtClean="0">
                <a:latin typeface="Times New Roman" pitchFamily="18" charset="0"/>
                <a:cs typeface="Times New Roman" pitchFamily="18" charset="0"/>
              </a:rPr>
              <a:t>beenincreasing</a:t>
            </a:r>
            <a:r>
              <a:rPr lang="en-US" sz="2000" dirty="0" smtClean="0">
                <a:latin typeface="Times New Roman" pitchFamily="18" charset="0"/>
                <a:cs typeface="Times New Roman" pitchFamily="18" charset="0"/>
              </a:rPr>
              <a:t> need to provide better medical care. The processing chain of medical data mainly includes data collection, data storage </a:t>
            </a:r>
            <a:r>
              <a:rPr lang="en-US" sz="2000" dirty="0" err="1" smtClean="0">
                <a:latin typeface="Times New Roman" pitchFamily="18" charset="0"/>
                <a:cs typeface="Times New Roman" pitchFamily="18" charset="0"/>
              </a:rPr>
              <a:t>anddata</a:t>
            </a:r>
            <a:r>
              <a:rPr lang="en-US" sz="2000" dirty="0" smtClean="0">
                <a:latin typeface="Times New Roman" pitchFamily="18" charset="0"/>
                <a:cs typeface="Times New Roman" pitchFamily="18" charset="0"/>
              </a:rPr>
              <a:t> sharing, etc. Traditional healthcare system often requires the delivery of medical data to the cloud, which involves users’ </a:t>
            </a:r>
            <a:r>
              <a:rPr lang="en-US" sz="2000" dirty="0" err="1" smtClean="0">
                <a:latin typeface="Times New Roman" pitchFamily="18" charset="0"/>
                <a:cs typeface="Times New Roman" pitchFamily="18" charset="0"/>
              </a:rPr>
              <a:t>sensitiveinformation</a:t>
            </a:r>
            <a:r>
              <a:rPr lang="en-US" sz="2000" dirty="0" smtClean="0">
                <a:latin typeface="Times New Roman" pitchFamily="18" charset="0"/>
                <a:cs typeface="Times New Roman" pitchFamily="18" charset="0"/>
              </a:rPr>
              <a:t> and causes communication energy consumption. </a:t>
            </a:r>
            <a:endParaRPr lang="en-US" sz="2000" dirty="0" smtClean="0">
              <a:latin typeface="Times New Roman" pitchFamily="18" charset="0"/>
              <a:cs typeface="Times New Roman" pitchFamily="18" charset="0"/>
            </a:endParaRPr>
          </a:p>
          <a:p>
            <a:pPr algn="just">
              <a:lnSpc>
                <a:spcPct val="150000"/>
              </a:lnSpc>
            </a:pPr>
            <a:r>
              <a:rPr lang="en-US" sz="2000" dirty="0" smtClean="0">
                <a:latin typeface="Times New Roman" pitchFamily="18" charset="0"/>
                <a:cs typeface="Times New Roman" pitchFamily="18" charset="0"/>
              </a:rPr>
              <a:t>Practically</a:t>
            </a:r>
            <a:r>
              <a:rPr lang="en-US" sz="2000" dirty="0" smtClean="0">
                <a:latin typeface="Times New Roman" pitchFamily="18" charset="0"/>
                <a:cs typeface="Times New Roman" pitchFamily="18" charset="0"/>
              </a:rPr>
              <a:t>, medical data sharing is a critical and challenging issue. </a:t>
            </a:r>
            <a:r>
              <a:rPr lang="en-US" sz="2000" dirty="0" err="1" smtClean="0">
                <a:latin typeface="Times New Roman" pitchFamily="18" charset="0"/>
                <a:cs typeface="Times New Roman" pitchFamily="18" charset="0"/>
              </a:rPr>
              <a:t>Thusin</a:t>
            </a:r>
            <a:r>
              <a:rPr lang="en-US" sz="2000" dirty="0" smtClean="0">
                <a:latin typeface="Times New Roman" pitchFamily="18" charset="0"/>
                <a:cs typeface="Times New Roman" pitchFamily="18" charset="0"/>
              </a:rPr>
              <a:t> this paper, we build up a novel healthcare system by utilizing the flexibility of cloudlet. The functions of cloudlet include </a:t>
            </a:r>
            <a:r>
              <a:rPr lang="en-US" sz="2000" dirty="0" err="1" smtClean="0">
                <a:latin typeface="Times New Roman" pitchFamily="18" charset="0"/>
                <a:cs typeface="Times New Roman" pitchFamily="18" charset="0"/>
              </a:rPr>
              <a:t>privacyprotection</a:t>
            </a:r>
            <a:r>
              <a:rPr lang="en-US" sz="2000" dirty="0" smtClean="0">
                <a:latin typeface="Times New Roman" pitchFamily="18" charset="0"/>
                <a:cs typeface="Times New Roman" pitchFamily="18" charset="0"/>
              </a:rPr>
              <a:t>, data sharing and intrusion detection. </a:t>
            </a:r>
            <a:endParaRPr lang="en-US" sz="2000" dirty="0" smtClean="0">
              <a:latin typeface="Times New Roman"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sz="quarter" idx="1"/>
          </p:nvPr>
        </p:nvSpPr>
        <p:spPr>
          <a:xfrm>
            <a:off x="457200" y="1600200"/>
            <a:ext cx="8308848" cy="4495800"/>
          </a:xfrm>
        </p:spPr>
        <p:txBody>
          <a:bodyPr>
            <a:noAutofit/>
          </a:bodyPr>
          <a:lstStyle/>
          <a:p>
            <a:pPr algn="just">
              <a:lnSpc>
                <a:spcPct val="150000"/>
              </a:lnSpc>
            </a:pPr>
            <a:r>
              <a:rPr lang="en-US" sz="1800" dirty="0" smtClean="0">
                <a:latin typeface="Times New Roman" pitchFamily="18" charset="0"/>
                <a:cs typeface="Times New Roman" pitchFamily="18" charset="0"/>
              </a:rPr>
              <a:t>In the stage of data collection, we first utilize Number Theory Research Unit (NTRU)method to encrypt user’s body data collected by wearable devices. Those data will be transmitted to nearby cloudlet in an </a:t>
            </a:r>
            <a:r>
              <a:rPr lang="en-US" sz="1800" dirty="0" smtClean="0">
                <a:latin typeface="Times New Roman" pitchFamily="18" charset="0"/>
                <a:cs typeface="Times New Roman" pitchFamily="18" charset="0"/>
              </a:rPr>
              <a:t>energy efficient </a:t>
            </a:r>
            <a:r>
              <a:rPr lang="en-US" sz="1800" dirty="0" smtClean="0">
                <a:latin typeface="Times New Roman" pitchFamily="18" charset="0"/>
                <a:cs typeface="Times New Roman" pitchFamily="18" charset="0"/>
              </a:rPr>
              <a:t>fashion. Secondly, we present a new trust model to help users to select trustable partners who want to share stored data in </a:t>
            </a:r>
            <a:r>
              <a:rPr lang="en-US" sz="1800" dirty="0" smtClean="0">
                <a:latin typeface="Times New Roman" pitchFamily="18" charset="0"/>
                <a:cs typeface="Times New Roman" pitchFamily="18" charset="0"/>
              </a:rPr>
              <a:t>the cloudlet</a:t>
            </a:r>
            <a:r>
              <a:rPr lang="en-US" sz="1800" dirty="0" smtClean="0">
                <a:latin typeface="Times New Roman" pitchFamily="18" charset="0"/>
                <a:cs typeface="Times New Roman" pitchFamily="18" charset="0"/>
              </a:rPr>
              <a:t>. </a:t>
            </a:r>
          </a:p>
          <a:p>
            <a:pPr algn="just">
              <a:lnSpc>
                <a:spcPct val="150000"/>
              </a:lnSpc>
            </a:pPr>
            <a:r>
              <a:rPr lang="en-US" sz="1800" dirty="0" smtClean="0">
                <a:latin typeface="Times New Roman" pitchFamily="18" charset="0"/>
                <a:cs typeface="Times New Roman" pitchFamily="18" charset="0"/>
              </a:rPr>
              <a:t>The trust model also helps similar patients to communicate with each other about their diseases. Thirdly, we divide users</a:t>
            </a:r>
            <a:r>
              <a:rPr lang="en-US" sz="1800" dirty="0" smtClean="0">
                <a:latin typeface="Times New Roman" pitchFamily="18" charset="0"/>
                <a:cs typeface="Times New Roman" pitchFamily="18" charset="0"/>
              </a:rPr>
              <a:t>’ medical </a:t>
            </a:r>
            <a:r>
              <a:rPr lang="en-US" sz="1800" dirty="0" smtClean="0">
                <a:latin typeface="Times New Roman" pitchFamily="18" charset="0"/>
                <a:cs typeface="Times New Roman" pitchFamily="18" charset="0"/>
              </a:rPr>
              <a:t>data stored in remote cloud of hospital into three parts, and give them proper protection. </a:t>
            </a:r>
          </a:p>
          <a:p>
            <a:pPr algn="just">
              <a:lnSpc>
                <a:spcPct val="150000"/>
              </a:lnSpc>
            </a:pPr>
            <a:r>
              <a:rPr lang="en-US" sz="1800" dirty="0" smtClean="0">
                <a:latin typeface="Times New Roman" pitchFamily="18" charset="0"/>
                <a:cs typeface="Times New Roman" pitchFamily="18" charset="0"/>
              </a:rPr>
              <a:t>Finally, in order to protect </a:t>
            </a:r>
            <a:r>
              <a:rPr lang="en-US" sz="1800" dirty="0" smtClean="0">
                <a:latin typeface="Times New Roman" pitchFamily="18" charset="0"/>
                <a:cs typeface="Times New Roman" pitchFamily="18" charset="0"/>
              </a:rPr>
              <a:t>the healthcare </a:t>
            </a:r>
            <a:r>
              <a:rPr lang="en-US" sz="1800" dirty="0" smtClean="0">
                <a:latin typeface="Times New Roman" pitchFamily="18" charset="0"/>
                <a:cs typeface="Times New Roman" pitchFamily="18" charset="0"/>
              </a:rPr>
              <a:t>system from malicious attacks, we develop a novel collaborative intrusion detection system (IDS) method based on </a:t>
            </a:r>
            <a:r>
              <a:rPr lang="en-US" sz="1800" dirty="0" smtClean="0">
                <a:latin typeface="Times New Roman" pitchFamily="18" charset="0"/>
                <a:cs typeface="Times New Roman" pitchFamily="18" charset="0"/>
              </a:rPr>
              <a:t>cloudlet mesh</a:t>
            </a:r>
            <a:r>
              <a:rPr lang="en-US" sz="1800" dirty="0" smtClean="0">
                <a:latin typeface="Times New Roman" pitchFamily="18" charset="0"/>
                <a:cs typeface="Times New Roman" pitchFamily="18" charset="0"/>
              </a:rPr>
              <a:t>, which can effectively prevent the remote healthcare big data cloud from attacks. Our experiments demonstrate the </a:t>
            </a:r>
            <a:r>
              <a:rPr lang="en-US" sz="1800" dirty="0" smtClean="0">
                <a:latin typeface="Times New Roman" pitchFamily="18" charset="0"/>
                <a:cs typeface="Times New Roman" pitchFamily="18" charset="0"/>
              </a:rPr>
              <a:t>effectiveness of </a:t>
            </a:r>
            <a:r>
              <a:rPr lang="en-US" sz="1800" dirty="0" smtClean="0">
                <a:latin typeface="Times New Roman" pitchFamily="18" charset="0"/>
                <a:cs typeface="Times New Roman" pitchFamily="18" charset="0"/>
              </a:rPr>
              <a:t>the proposed scheme.</a:t>
            </a:r>
          </a:p>
          <a:p>
            <a:pPr algn="just">
              <a:lnSpc>
                <a:spcPct val="150000"/>
              </a:lnSpc>
            </a:pPr>
            <a:endParaRPr lang="en-US" sz="1800" dirty="0" smtClean="0">
              <a:latin typeface="Times New Roman" pitchFamily="18" charset="0"/>
              <a:cs typeface="Times New Roman" pitchFamily="18" charset="0"/>
            </a:endParaRPr>
          </a:p>
          <a:p>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EXISTING SYSTEM</a:t>
            </a:r>
            <a:endParaRPr lang="en-US" dirty="0"/>
          </a:p>
        </p:txBody>
      </p:sp>
      <p:sp>
        <p:nvSpPr>
          <p:cNvPr id="3" name="Content Placeholder 2"/>
          <p:cNvSpPr>
            <a:spLocks noGrp="1"/>
          </p:cNvSpPr>
          <p:nvPr>
            <p:ph sz="quarter" idx="1"/>
          </p:nvPr>
        </p:nvSpPr>
        <p:spPr>
          <a:xfrm>
            <a:off x="304800" y="1371600"/>
            <a:ext cx="8461248" cy="4495800"/>
          </a:xfrm>
        </p:spPr>
        <p:txBody>
          <a:bodyPr>
            <a:noAutofit/>
          </a:bodyPr>
          <a:lstStyle/>
          <a:p>
            <a:pPr lvl="0" algn="just">
              <a:lnSpc>
                <a:spcPct val="150000"/>
              </a:lnSpc>
            </a:pPr>
            <a:r>
              <a:rPr lang="en-US" sz="1900" dirty="0" smtClean="0">
                <a:latin typeface="Times New Roman" pitchFamily="18" charset="0"/>
                <a:cs typeface="Times New Roman" pitchFamily="18" charset="0"/>
              </a:rPr>
              <a:t>Lu </a:t>
            </a:r>
            <a:r>
              <a:rPr lang="en-US" sz="1900" dirty="0" err="1" smtClean="0">
                <a:latin typeface="Times New Roman" pitchFamily="18" charset="0"/>
                <a:cs typeface="Times New Roman" pitchFamily="18" charset="0"/>
              </a:rPr>
              <a:t>etal</a:t>
            </a:r>
            <a:r>
              <a:rPr lang="en-US" sz="1900" dirty="0" smtClean="0">
                <a:latin typeface="Times New Roman" pitchFamily="18" charset="0"/>
                <a:cs typeface="Times New Roman" pitchFamily="18" charset="0"/>
              </a:rPr>
              <a:t>. proposed a system called SPOC, which stands for the </a:t>
            </a:r>
            <a:r>
              <a:rPr lang="en-US" sz="1900" dirty="0" smtClean="0">
                <a:latin typeface="Times New Roman" pitchFamily="18" charset="0"/>
                <a:cs typeface="Times New Roman" pitchFamily="18" charset="0"/>
              </a:rPr>
              <a:t>secure and </a:t>
            </a:r>
            <a:r>
              <a:rPr lang="en-US" sz="1900" dirty="0" smtClean="0">
                <a:latin typeface="Times New Roman" pitchFamily="18" charset="0"/>
                <a:cs typeface="Times New Roman" pitchFamily="18" charset="0"/>
              </a:rPr>
              <a:t>privacy-preserving opportunistic computing framework, </a:t>
            </a:r>
            <a:r>
              <a:rPr lang="en-US" sz="1900" dirty="0" smtClean="0">
                <a:latin typeface="Times New Roman" pitchFamily="18" charset="0"/>
                <a:cs typeface="Times New Roman" pitchFamily="18" charset="0"/>
              </a:rPr>
              <a:t>was proposed </a:t>
            </a:r>
            <a:r>
              <a:rPr lang="en-US" sz="1900" dirty="0" smtClean="0">
                <a:latin typeface="Times New Roman" pitchFamily="18" charset="0"/>
                <a:cs typeface="Times New Roman" pitchFamily="18" charset="0"/>
              </a:rPr>
              <a:t>to treat the storage problem of healthcare data in </a:t>
            </a:r>
            <a:r>
              <a:rPr lang="en-US" sz="1900" dirty="0" smtClean="0">
                <a:latin typeface="Times New Roman" pitchFamily="18" charset="0"/>
                <a:cs typeface="Times New Roman" pitchFamily="18" charset="0"/>
              </a:rPr>
              <a:t>a cloud </a:t>
            </a:r>
            <a:r>
              <a:rPr lang="en-US" sz="1900" dirty="0" smtClean="0">
                <a:latin typeface="Times New Roman" pitchFamily="18" charset="0"/>
                <a:cs typeface="Times New Roman" pitchFamily="18" charset="0"/>
              </a:rPr>
              <a:t>environment and addressed the problem of security </a:t>
            </a:r>
            <a:r>
              <a:rPr lang="en-US" sz="1900" dirty="0" smtClean="0">
                <a:latin typeface="Times New Roman" pitchFamily="18" charset="0"/>
                <a:cs typeface="Times New Roman" pitchFamily="18" charset="0"/>
              </a:rPr>
              <a:t>and privacy </a:t>
            </a:r>
            <a:r>
              <a:rPr lang="en-US" sz="1900" dirty="0" smtClean="0">
                <a:latin typeface="Times New Roman" pitchFamily="18" charset="0"/>
                <a:cs typeface="Times New Roman" pitchFamily="18" charset="0"/>
              </a:rPr>
              <a:t>protection under such an environment.</a:t>
            </a:r>
          </a:p>
          <a:p>
            <a:pPr lvl="0" algn="just">
              <a:lnSpc>
                <a:spcPct val="150000"/>
              </a:lnSpc>
            </a:pPr>
            <a:r>
              <a:rPr lang="en-US" sz="1900" dirty="0" smtClean="0">
                <a:latin typeface="Times New Roman" pitchFamily="18" charset="0"/>
                <a:cs typeface="Times New Roman" pitchFamily="18" charset="0"/>
              </a:rPr>
              <a:t>Cao et al., an MRSE (</a:t>
            </a:r>
            <a:r>
              <a:rPr lang="en-US" sz="1900" dirty="0" smtClean="0">
                <a:latin typeface="Times New Roman" pitchFamily="18" charset="0"/>
                <a:cs typeface="Times New Roman" pitchFamily="18" charset="0"/>
              </a:rPr>
              <a:t>multi keyword </a:t>
            </a:r>
            <a:r>
              <a:rPr lang="en-US" sz="1900" dirty="0" smtClean="0">
                <a:latin typeface="Times New Roman" pitchFamily="18" charset="0"/>
                <a:cs typeface="Times New Roman" pitchFamily="18" charset="0"/>
              </a:rPr>
              <a:t>ranked search over encrypted data in cloud computing) privacy protection system was presented, which aims to provide users with a multi-keyword method for the cloud’s encrypted data. Although this method can provide result ranking, in which people are interested, the amount of calculation could be cumbersome. </a:t>
            </a:r>
          </a:p>
          <a:p>
            <a:pPr lvl="0" algn="just">
              <a:lnSpc>
                <a:spcPct val="150000"/>
              </a:lnSpc>
            </a:pPr>
            <a:r>
              <a:rPr lang="en-US" sz="1900" dirty="0" smtClean="0">
                <a:latin typeface="Times New Roman" pitchFamily="18" charset="0"/>
                <a:cs typeface="Times New Roman" pitchFamily="18" charset="0"/>
              </a:rPr>
              <a:t>In Zhang et al., a priority based health data aggregation (PHDA) scheme was presented to protect and aggregate different types of healthcare date in cloud assisted wireless </a:t>
            </a:r>
            <a:r>
              <a:rPr lang="en-US" sz="1900" dirty="0" err="1" smtClean="0">
                <a:latin typeface="Times New Roman" pitchFamily="18" charset="0"/>
                <a:cs typeface="Times New Roman" pitchFamily="18" charset="0"/>
              </a:rPr>
              <a:t>boby</a:t>
            </a:r>
            <a:r>
              <a:rPr lang="en-US" sz="1900" dirty="0" smtClean="0">
                <a:latin typeface="Times New Roman" pitchFamily="18" charset="0"/>
                <a:cs typeface="Times New Roman" pitchFamily="18" charset="0"/>
              </a:rPr>
              <a:t> area network (WBANs). </a:t>
            </a:r>
          </a:p>
          <a:p>
            <a:pPr algn="just">
              <a:lnSpc>
                <a:spcPct val="150000"/>
              </a:lnSpc>
            </a:pPr>
            <a:endParaRPr lang="en-US" sz="1900" dirty="0">
              <a:latin typeface="Times New Roman" pitchFamily="18" charset="0"/>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DISADVANTAGES OF EXISTING SYSTEM</a:t>
            </a:r>
            <a:endParaRPr lang="en-US" dirty="0"/>
          </a:p>
        </p:txBody>
      </p:sp>
      <p:sp>
        <p:nvSpPr>
          <p:cNvPr id="3" name="Content Placeholder 2"/>
          <p:cNvSpPr>
            <a:spLocks noGrp="1"/>
          </p:cNvSpPr>
          <p:nvPr>
            <p:ph sz="quarter" idx="1"/>
          </p:nvPr>
        </p:nvSpPr>
        <p:spPr/>
        <p:txBody>
          <a:bodyPr>
            <a:normAutofit/>
          </a:bodyPr>
          <a:lstStyle/>
          <a:p>
            <a:pPr lvl="0" algn="just">
              <a:lnSpc>
                <a:spcPct val="150000"/>
              </a:lnSpc>
            </a:pPr>
            <a:r>
              <a:rPr lang="en-US" sz="2000" dirty="0" smtClean="0">
                <a:latin typeface="Times New Roman" pitchFamily="18" charset="0"/>
                <a:cs typeface="Times New Roman" pitchFamily="18" charset="0"/>
              </a:rPr>
              <a:t>Causes communication energy consumption.</a:t>
            </a:r>
          </a:p>
          <a:p>
            <a:pPr lvl="0" algn="just">
              <a:lnSpc>
                <a:spcPct val="150000"/>
              </a:lnSpc>
            </a:pPr>
            <a:r>
              <a:rPr lang="en-US" sz="2000" dirty="0" smtClean="0">
                <a:latin typeface="Times New Roman" pitchFamily="18" charset="0"/>
                <a:cs typeface="Times New Roman" pitchFamily="18" charset="0"/>
              </a:rPr>
              <a:t>Practically, medical data sharing is a critical and challenging issue</a:t>
            </a:r>
          </a:p>
          <a:p>
            <a:pPr lvl="0" algn="just">
              <a:lnSpc>
                <a:spcPct val="150000"/>
              </a:lnSpc>
            </a:pPr>
            <a:r>
              <a:rPr lang="en-US" sz="2000" dirty="0" smtClean="0">
                <a:latin typeface="Times New Roman" pitchFamily="18" charset="0"/>
                <a:cs typeface="Times New Roman" pitchFamily="18" charset="0"/>
              </a:rPr>
              <a:t>No Trust.</a:t>
            </a:r>
          </a:p>
          <a:p>
            <a:pPr algn="just">
              <a:lnSpc>
                <a:spcPct val="150000"/>
              </a:lnSpc>
            </a:pPr>
            <a:endParaRPr lang="en-US" sz="2000" dirty="0">
              <a:latin typeface="Times New Roman" pitchFamily="18" charset="0"/>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PROPOSED SYSTEM</a:t>
            </a:r>
            <a:endParaRPr lang="en-US" dirty="0"/>
          </a:p>
        </p:txBody>
      </p:sp>
      <p:sp>
        <p:nvSpPr>
          <p:cNvPr id="3" name="Content Placeholder 2"/>
          <p:cNvSpPr>
            <a:spLocks noGrp="1"/>
          </p:cNvSpPr>
          <p:nvPr>
            <p:ph sz="quarter" idx="1"/>
          </p:nvPr>
        </p:nvSpPr>
        <p:spPr>
          <a:xfrm>
            <a:off x="612648" y="1600200"/>
            <a:ext cx="8153400" cy="5257800"/>
          </a:xfrm>
        </p:spPr>
        <p:txBody>
          <a:bodyPr>
            <a:normAutofit/>
          </a:bodyPr>
          <a:lstStyle/>
          <a:p>
            <a:pPr lvl="0" algn="just">
              <a:lnSpc>
                <a:spcPct val="160000"/>
              </a:lnSpc>
            </a:pPr>
            <a:r>
              <a:rPr lang="en-US" sz="2000" dirty="0" smtClean="0">
                <a:latin typeface="Times New Roman" pitchFamily="18" charset="0"/>
                <a:cs typeface="Times New Roman" pitchFamily="18" charset="0"/>
              </a:rPr>
              <a:t>This paper proposes a </a:t>
            </a:r>
            <a:r>
              <a:rPr lang="en-US" sz="2000" dirty="0" smtClean="0">
                <a:latin typeface="Times New Roman" pitchFamily="18" charset="0"/>
                <a:cs typeface="Times New Roman" pitchFamily="18" charset="0"/>
              </a:rPr>
              <a:t>cloudlet based </a:t>
            </a:r>
            <a:r>
              <a:rPr lang="en-US" sz="2000" dirty="0" smtClean="0">
                <a:latin typeface="Times New Roman" pitchFamily="18" charset="0"/>
                <a:cs typeface="Times New Roman" pitchFamily="18" charset="0"/>
              </a:rPr>
              <a:t>healthcare system. The body data collected by </a:t>
            </a:r>
            <a:r>
              <a:rPr lang="en-US" sz="2000" dirty="0" smtClean="0">
                <a:latin typeface="Times New Roman" pitchFamily="18" charset="0"/>
                <a:cs typeface="Times New Roman" pitchFamily="18" charset="0"/>
              </a:rPr>
              <a:t>wearable devices </a:t>
            </a:r>
            <a:r>
              <a:rPr lang="en-US" sz="2000" dirty="0" smtClean="0">
                <a:latin typeface="Times New Roman" pitchFamily="18" charset="0"/>
                <a:cs typeface="Times New Roman" pitchFamily="18" charset="0"/>
              </a:rPr>
              <a:t>are transmitted to the nearby cloudlet. Those data </a:t>
            </a:r>
            <a:r>
              <a:rPr lang="en-US" sz="2000" dirty="0" smtClean="0">
                <a:latin typeface="Times New Roman" pitchFamily="18" charset="0"/>
                <a:cs typeface="Times New Roman" pitchFamily="18" charset="0"/>
              </a:rPr>
              <a:t>are further </a:t>
            </a:r>
            <a:r>
              <a:rPr lang="en-US" sz="2000" dirty="0" smtClean="0">
                <a:latin typeface="Times New Roman" pitchFamily="18" charset="0"/>
                <a:cs typeface="Times New Roman" pitchFamily="18" charset="0"/>
              </a:rPr>
              <a:t>delivered to the remote cloud where doctors can access </a:t>
            </a:r>
            <a:r>
              <a:rPr lang="en-US" sz="2000" dirty="0" smtClean="0">
                <a:latin typeface="Times New Roman" pitchFamily="18" charset="0"/>
                <a:cs typeface="Times New Roman" pitchFamily="18" charset="0"/>
              </a:rPr>
              <a:t>for disease </a:t>
            </a:r>
            <a:r>
              <a:rPr lang="en-US" sz="2000" dirty="0" smtClean="0">
                <a:latin typeface="Times New Roman" pitchFamily="18" charset="0"/>
                <a:cs typeface="Times New Roman" pitchFamily="18" charset="0"/>
              </a:rPr>
              <a:t>diagnosis. </a:t>
            </a:r>
          </a:p>
          <a:p>
            <a:pPr lvl="0" algn="just">
              <a:lnSpc>
                <a:spcPct val="160000"/>
              </a:lnSpc>
            </a:pPr>
            <a:r>
              <a:rPr lang="en-US" sz="2000" dirty="0" smtClean="0">
                <a:latin typeface="Times New Roman" pitchFamily="18" charset="0"/>
                <a:cs typeface="Times New Roman" pitchFamily="18" charset="0"/>
              </a:rPr>
              <a:t>According to data delivery chain, we </a:t>
            </a:r>
            <a:r>
              <a:rPr lang="en-US" sz="2000" dirty="0" smtClean="0">
                <a:latin typeface="Times New Roman" pitchFamily="18" charset="0"/>
                <a:cs typeface="Times New Roman" pitchFamily="18" charset="0"/>
              </a:rPr>
              <a:t>separate the </a:t>
            </a:r>
            <a:r>
              <a:rPr lang="en-US" sz="2000" dirty="0" smtClean="0">
                <a:latin typeface="Times New Roman" pitchFamily="18" charset="0"/>
                <a:cs typeface="Times New Roman" pitchFamily="18" charset="0"/>
              </a:rPr>
              <a:t>privacy protection into three stages. In the first stage, </a:t>
            </a:r>
            <a:r>
              <a:rPr lang="en-US" sz="2000" dirty="0" smtClean="0">
                <a:latin typeface="Times New Roman" pitchFamily="18" charset="0"/>
                <a:cs typeface="Times New Roman" pitchFamily="18" charset="0"/>
              </a:rPr>
              <a:t>user’s vital </a:t>
            </a:r>
            <a:r>
              <a:rPr lang="en-US" sz="2000" dirty="0" smtClean="0">
                <a:latin typeface="Times New Roman" pitchFamily="18" charset="0"/>
                <a:cs typeface="Times New Roman" pitchFamily="18" charset="0"/>
              </a:rPr>
              <a:t>signs collected by wearable devices are delivered to </a:t>
            </a:r>
            <a:r>
              <a:rPr lang="en-US" sz="2000" dirty="0" smtClean="0">
                <a:latin typeface="Times New Roman" pitchFamily="18" charset="0"/>
                <a:cs typeface="Times New Roman" pitchFamily="18" charset="0"/>
              </a:rPr>
              <a:t>a closet </a:t>
            </a:r>
            <a:r>
              <a:rPr lang="en-US" sz="2000" dirty="0" smtClean="0">
                <a:latin typeface="Times New Roman" pitchFamily="18" charset="0"/>
                <a:cs typeface="Times New Roman" pitchFamily="18" charset="0"/>
              </a:rPr>
              <a:t>gateway of cloudlet. During this stage, data privacy is </a:t>
            </a:r>
            <a:r>
              <a:rPr lang="en-US" sz="2000" dirty="0" smtClean="0">
                <a:latin typeface="Times New Roman" pitchFamily="18" charset="0"/>
                <a:cs typeface="Times New Roman" pitchFamily="18" charset="0"/>
              </a:rPr>
              <a:t>the main </a:t>
            </a:r>
            <a:r>
              <a:rPr lang="en-US" sz="2000" dirty="0" smtClean="0">
                <a:latin typeface="Times New Roman" pitchFamily="18" charset="0"/>
                <a:cs typeface="Times New Roman" pitchFamily="18" charset="0"/>
              </a:rPr>
              <a:t>concern. In the second stage, user’s data will be </a:t>
            </a:r>
            <a:r>
              <a:rPr lang="en-US" sz="2000" dirty="0" smtClean="0">
                <a:latin typeface="Times New Roman" pitchFamily="18" charset="0"/>
                <a:cs typeface="Times New Roman" pitchFamily="18" charset="0"/>
              </a:rPr>
              <a:t>further delivered </a:t>
            </a:r>
            <a:r>
              <a:rPr lang="en-US" sz="2000" dirty="0" smtClean="0">
                <a:latin typeface="Times New Roman" pitchFamily="18" charset="0"/>
                <a:cs typeface="Times New Roman" pitchFamily="18" charset="0"/>
              </a:rPr>
              <a:t>toward remote cloud through cloudlets.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sz="quarter" idx="1"/>
          </p:nvPr>
        </p:nvSpPr>
        <p:spPr/>
        <p:txBody>
          <a:bodyPr>
            <a:normAutofit fontScale="92500" lnSpcReduction="10000"/>
          </a:bodyPr>
          <a:lstStyle/>
          <a:p>
            <a:pPr algn="just">
              <a:lnSpc>
                <a:spcPct val="150000"/>
              </a:lnSpc>
            </a:pPr>
            <a:r>
              <a:rPr lang="en-US" sz="2000" dirty="0" smtClean="0">
                <a:latin typeface="Times New Roman" pitchFamily="18" charset="0"/>
                <a:cs typeface="Times New Roman" pitchFamily="18" charset="0"/>
              </a:rPr>
              <a:t>A cloudlet </a:t>
            </a:r>
            <a:r>
              <a:rPr lang="en-US" sz="2000" dirty="0" smtClean="0">
                <a:latin typeface="Times New Roman" pitchFamily="18" charset="0"/>
                <a:cs typeface="Times New Roman" pitchFamily="18" charset="0"/>
              </a:rPr>
              <a:t>is formed </a:t>
            </a:r>
            <a:r>
              <a:rPr lang="en-US" sz="2000" dirty="0" smtClean="0">
                <a:latin typeface="Times New Roman" pitchFamily="18" charset="0"/>
                <a:cs typeface="Times New Roman" pitchFamily="18" charset="0"/>
              </a:rPr>
              <a:t>by a certain number of mobile devices whose </a:t>
            </a:r>
            <a:r>
              <a:rPr lang="en-US" sz="2000" dirty="0" smtClean="0">
                <a:latin typeface="Times New Roman" pitchFamily="18" charset="0"/>
                <a:cs typeface="Times New Roman" pitchFamily="18" charset="0"/>
              </a:rPr>
              <a:t>owners may </a:t>
            </a:r>
            <a:r>
              <a:rPr lang="en-US" sz="2000" dirty="0" smtClean="0">
                <a:latin typeface="Times New Roman" pitchFamily="18" charset="0"/>
                <a:cs typeface="Times New Roman" pitchFamily="18" charset="0"/>
              </a:rPr>
              <a:t>require and/or share some specific data contents. Thus, </a:t>
            </a:r>
            <a:r>
              <a:rPr lang="en-US" sz="2000" dirty="0" smtClean="0">
                <a:latin typeface="Times New Roman" pitchFamily="18" charset="0"/>
                <a:cs typeface="Times New Roman" pitchFamily="18" charset="0"/>
              </a:rPr>
              <a:t>both privacy </a:t>
            </a:r>
            <a:r>
              <a:rPr lang="en-US" sz="2000" dirty="0" smtClean="0">
                <a:latin typeface="Times New Roman" pitchFamily="18" charset="0"/>
                <a:cs typeface="Times New Roman" pitchFamily="18" charset="0"/>
              </a:rPr>
              <a:t>protection and data sharing are considered in this stage</a:t>
            </a:r>
            <a:r>
              <a:rPr lang="en-US" sz="2000" dirty="0" smtClean="0">
                <a:latin typeface="Times New Roman" pitchFamily="18" charset="0"/>
                <a:cs typeface="Times New Roman" pitchFamily="18" charset="0"/>
              </a:rPr>
              <a:t>. Especially</a:t>
            </a:r>
            <a:r>
              <a:rPr lang="en-US" sz="2000" dirty="0" smtClean="0">
                <a:latin typeface="Times New Roman" pitchFamily="18" charset="0"/>
                <a:cs typeface="Times New Roman" pitchFamily="18" charset="0"/>
              </a:rPr>
              <a:t>, we use trust model to evaluate trust level between </a:t>
            </a:r>
            <a:r>
              <a:rPr lang="en-US" sz="2000" dirty="0" smtClean="0">
                <a:latin typeface="Times New Roman" pitchFamily="18" charset="0"/>
                <a:cs typeface="Times New Roman" pitchFamily="18" charset="0"/>
              </a:rPr>
              <a:t>users to </a:t>
            </a:r>
            <a:r>
              <a:rPr lang="en-US" sz="2000" dirty="0" smtClean="0">
                <a:latin typeface="Times New Roman" pitchFamily="18" charset="0"/>
                <a:cs typeface="Times New Roman" pitchFamily="18" charset="0"/>
              </a:rPr>
              <a:t>determine sharing data or not. </a:t>
            </a:r>
          </a:p>
          <a:p>
            <a:pPr lvl="0" algn="just">
              <a:lnSpc>
                <a:spcPct val="150000"/>
              </a:lnSpc>
            </a:pPr>
            <a:r>
              <a:rPr lang="en-US" sz="2000" dirty="0" smtClean="0">
                <a:latin typeface="Times New Roman" pitchFamily="18" charset="0"/>
                <a:cs typeface="Times New Roman" pitchFamily="18" charset="0"/>
              </a:rPr>
              <a:t>Considering </a:t>
            </a:r>
            <a:r>
              <a:rPr lang="en-US" sz="2000" dirty="0" smtClean="0">
                <a:latin typeface="Times New Roman" pitchFamily="18" charset="0"/>
                <a:cs typeface="Times New Roman" pitchFamily="18" charset="0"/>
              </a:rPr>
              <a:t>the users’ </a:t>
            </a:r>
            <a:r>
              <a:rPr lang="en-US" sz="2000" dirty="0" smtClean="0">
                <a:latin typeface="Times New Roman" pitchFamily="18" charset="0"/>
                <a:cs typeface="Times New Roman" pitchFamily="18" charset="0"/>
              </a:rPr>
              <a:t>medical data </a:t>
            </a:r>
            <a:r>
              <a:rPr lang="en-US" sz="2000" dirty="0" smtClean="0">
                <a:latin typeface="Times New Roman" pitchFamily="18" charset="0"/>
                <a:cs typeface="Times New Roman" pitchFamily="18" charset="0"/>
              </a:rPr>
              <a:t>are stored in remote cloud, we classify these medical </a:t>
            </a:r>
            <a:r>
              <a:rPr lang="en-US" sz="2000" dirty="0" smtClean="0">
                <a:latin typeface="Times New Roman" pitchFamily="18" charset="0"/>
                <a:cs typeface="Times New Roman" pitchFamily="18" charset="0"/>
              </a:rPr>
              <a:t>data into </a:t>
            </a:r>
            <a:r>
              <a:rPr lang="en-US" sz="2000" dirty="0" smtClean="0">
                <a:latin typeface="Times New Roman" pitchFamily="18" charset="0"/>
                <a:cs typeface="Times New Roman" pitchFamily="18" charset="0"/>
              </a:rPr>
              <a:t>different kinds and take the corresponding security policy. </a:t>
            </a:r>
          </a:p>
          <a:p>
            <a:pPr lvl="0" algn="just">
              <a:lnSpc>
                <a:spcPct val="150000"/>
              </a:lnSpc>
            </a:pPr>
            <a:r>
              <a:rPr lang="en-US" sz="2000" dirty="0" smtClean="0">
                <a:latin typeface="Times New Roman" pitchFamily="18" charset="0"/>
                <a:cs typeface="Times New Roman" pitchFamily="18" charset="0"/>
              </a:rPr>
              <a:t>In addition </a:t>
            </a:r>
            <a:r>
              <a:rPr lang="en-US" sz="2000" dirty="0" smtClean="0">
                <a:latin typeface="Times New Roman" pitchFamily="18" charset="0"/>
                <a:cs typeface="Times New Roman" pitchFamily="18" charset="0"/>
              </a:rPr>
              <a:t>to above three stages based data privacy protection, </a:t>
            </a:r>
            <a:r>
              <a:rPr lang="en-US" sz="2000" dirty="0" smtClean="0">
                <a:latin typeface="Times New Roman" pitchFamily="18" charset="0"/>
                <a:cs typeface="Times New Roman" pitchFamily="18" charset="0"/>
              </a:rPr>
              <a:t>we also </a:t>
            </a:r>
            <a:r>
              <a:rPr lang="en-US" sz="2000" dirty="0" smtClean="0">
                <a:latin typeface="Times New Roman" pitchFamily="18" charset="0"/>
                <a:cs typeface="Times New Roman" pitchFamily="18" charset="0"/>
              </a:rPr>
              <a:t>consider collaborative IDS based on cloudlet mesh to </a:t>
            </a:r>
            <a:r>
              <a:rPr lang="en-US" sz="2000" dirty="0" smtClean="0">
                <a:latin typeface="Times New Roman" pitchFamily="18" charset="0"/>
                <a:cs typeface="Times New Roman" pitchFamily="18" charset="0"/>
              </a:rPr>
              <a:t>protect the </a:t>
            </a:r>
            <a:r>
              <a:rPr lang="en-US" sz="2000" dirty="0" smtClean="0">
                <a:latin typeface="Times New Roman" pitchFamily="18" charset="0"/>
                <a:cs typeface="Times New Roman" pitchFamily="18" charset="0"/>
              </a:rPr>
              <a:t>cloud ecosystem.</a:t>
            </a:r>
          </a:p>
          <a:p>
            <a:pPr algn="just">
              <a:lnSpc>
                <a:spcPct val="150000"/>
              </a:lnSpc>
            </a:pPr>
            <a:endParaRPr lang="en-US" sz="2000" dirty="0">
              <a:latin typeface="Times New Roman" pitchFamily="18" charset="0"/>
              <a:cs typeface="Times New Roman"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ADVANTAGES OF PROPOSED SYSTEM</a:t>
            </a:r>
            <a:endParaRPr lang="en-US" dirty="0"/>
          </a:p>
        </p:txBody>
      </p:sp>
      <p:sp>
        <p:nvSpPr>
          <p:cNvPr id="3" name="Content Placeholder 2"/>
          <p:cNvSpPr>
            <a:spLocks noGrp="1"/>
          </p:cNvSpPr>
          <p:nvPr>
            <p:ph sz="quarter" idx="1"/>
          </p:nvPr>
        </p:nvSpPr>
        <p:spPr>
          <a:xfrm>
            <a:off x="612648" y="1600200"/>
            <a:ext cx="8153400" cy="5029200"/>
          </a:xfrm>
        </p:spPr>
        <p:txBody>
          <a:bodyPr>
            <a:normAutofit fontScale="92500" lnSpcReduction="10000"/>
          </a:bodyPr>
          <a:lstStyle/>
          <a:p>
            <a:pPr lvl="0" algn="just">
              <a:lnSpc>
                <a:spcPct val="150000"/>
              </a:lnSpc>
            </a:pPr>
            <a:r>
              <a:rPr lang="en-US" sz="2000" dirty="0" smtClean="0">
                <a:latin typeface="Times New Roman" pitchFamily="18" charset="0"/>
                <a:cs typeface="Times New Roman" pitchFamily="18" charset="0"/>
              </a:rPr>
              <a:t>A cloudlet based healthcare system is presented, </a:t>
            </a:r>
            <a:r>
              <a:rPr lang="en-US" sz="2000" dirty="0" smtClean="0">
                <a:latin typeface="Times New Roman" pitchFamily="18" charset="0"/>
                <a:cs typeface="Times New Roman" pitchFamily="18" charset="0"/>
              </a:rPr>
              <a:t>where the </a:t>
            </a:r>
            <a:r>
              <a:rPr lang="en-US" sz="2000" dirty="0" smtClean="0">
                <a:latin typeface="Times New Roman" pitchFamily="18" charset="0"/>
                <a:cs typeface="Times New Roman" pitchFamily="18" charset="0"/>
              </a:rPr>
              <a:t>privacy of users’ physiological data and the </a:t>
            </a:r>
            <a:r>
              <a:rPr lang="en-US" sz="2000" dirty="0" smtClean="0">
                <a:latin typeface="Times New Roman" pitchFamily="18" charset="0"/>
                <a:cs typeface="Times New Roman" pitchFamily="18" charset="0"/>
              </a:rPr>
              <a:t>efficiency of </a:t>
            </a:r>
            <a:r>
              <a:rPr lang="en-US" sz="2000" dirty="0" smtClean="0">
                <a:latin typeface="Times New Roman" pitchFamily="18" charset="0"/>
                <a:cs typeface="Times New Roman" pitchFamily="18" charset="0"/>
              </a:rPr>
              <a:t>data transmissions are our main concern. We </a:t>
            </a:r>
            <a:r>
              <a:rPr lang="en-US" sz="2000" dirty="0" smtClean="0">
                <a:latin typeface="Times New Roman" pitchFamily="18" charset="0"/>
                <a:cs typeface="Times New Roman" pitchFamily="18" charset="0"/>
              </a:rPr>
              <a:t>use NTRU </a:t>
            </a:r>
            <a:r>
              <a:rPr lang="en-US" sz="2000" dirty="0" smtClean="0">
                <a:latin typeface="Times New Roman" pitchFamily="18" charset="0"/>
                <a:cs typeface="Times New Roman" pitchFamily="18" charset="0"/>
              </a:rPr>
              <a:t>for data protection during data transmissions to </a:t>
            </a:r>
            <a:r>
              <a:rPr lang="en-US" sz="2000" dirty="0" smtClean="0">
                <a:latin typeface="Times New Roman" pitchFamily="18" charset="0"/>
                <a:cs typeface="Times New Roman" pitchFamily="18" charset="0"/>
              </a:rPr>
              <a:t>the cloudlet</a:t>
            </a:r>
            <a:r>
              <a:rPr lang="en-US" sz="2000" dirty="0" smtClean="0">
                <a:latin typeface="Times New Roman" pitchFamily="18" charset="0"/>
                <a:cs typeface="Times New Roman" pitchFamily="18" charset="0"/>
              </a:rPr>
              <a:t>.</a:t>
            </a:r>
          </a:p>
          <a:p>
            <a:pPr lvl="0" algn="just">
              <a:lnSpc>
                <a:spcPct val="150000"/>
              </a:lnSpc>
            </a:pPr>
            <a:r>
              <a:rPr lang="en-US" sz="2000" dirty="0" smtClean="0">
                <a:latin typeface="Times New Roman" pitchFamily="18" charset="0"/>
                <a:cs typeface="Times New Roman" pitchFamily="18" charset="0"/>
              </a:rPr>
              <a:t>In order to share data in the cloudlet, we use users</a:t>
            </a:r>
            <a:r>
              <a:rPr lang="en-US" sz="2000" dirty="0" smtClean="0">
                <a:latin typeface="Times New Roman" pitchFamily="18" charset="0"/>
                <a:cs typeface="Times New Roman" pitchFamily="18" charset="0"/>
              </a:rPr>
              <a:t>’ similarity </a:t>
            </a:r>
            <a:r>
              <a:rPr lang="en-US" sz="2000" dirty="0" smtClean="0">
                <a:latin typeface="Times New Roman" pitchFamily="18" charset="0"/>
                <a:cs typeface="Times New Roman" pitchFamily="18" charset="0"/>
              </a:rPr>
              <a:t>and reputation to build up trust model. </a:t>
            </a:r>
            <a:r>
              <a:rPr lang="en-US" sz="2000" dirty="0" smtClean="0">
                <a:latin typeface="Times New Roman" pitchFamily="18" charset="0"/>
                <a:cs typeface="Times New Roman" pitchFamily="18" charset="0"/>
              </a:rPr>
              <a:t>Based on </a:t>
            </a:r>
            <a:r>
              <a:rPr lang="en-US" sz="2000" dirty="0" smtClean="0">
                <a:latin typeface="Times New Roman" pitchFamily="18" charset="0"/>
                <a:cs typeface="Times New Roman" pitchFamily="18" charset="0"/>
              </a:rPr>
              <a:t>the measured users’ trust level, the system </a:t>
            </a:r>
            <a:r>
              <a:rPr lang="en-US" sz="2000" dirty="0" smtClean="0">
                <a:latin typeface="Times New Roman" pitchFamily="18" charset="0"/>
                <a:cs typeface="Times New Roman" pitchFamily="18" charset="0"/>
              </a:rPr>
              <a:t>determines whether </a:t>
            </a:r>
            <a:r>
              <a:rPr lang="en-US" sz="2000" dirty="0" smtClean="0">
                <a:latin typeface="Times New Roman" pitchFamily="18" charset="0"/>
                <a:cs typeface="Times New Roman" pitchFamily="18" charset="0"/>
              </a:rPr>
              <a:t>data sharing is performed.</a:t>
            </a:r>
          </a:p>
          <a:p>
            <a:pPr lvl="0" algn="just">
              <a:lnSpc>
                <a:spcPct val="150000"/>
              </a:lnSpc>
            </a:pPr>
            <a:r>
              <a:rPr lang="en-US" sz="2000" dirty="0" smtClean="0">
                <a:latin typeface="Times New Roman" pitchFamily="18" charset="0"/>
                <a:cs typeface="Times New Roman" pitchFamily="18" charset="0"/>
              </a:rPr>
              <a:t>We divide data in remote cloud into different kinds </a:t>
            </a:r>
            <a:r>
              <a:rPr lang="en-US" sz="2000" dirty="0" smtClean="0">
                <a:latin typeface="Times New Roman" pitchFamily="18" charset="0"/>
                <a:cs typeface="Times New Roman" pitchFamily="18" charset="0"/>
              </a:rPr>
              <a:t>and utilize </a:t>
            </a:r>
            <a:r>
              <a:rPr lang="en-US" sz="2000" dirty="0" smtClean="0">
                <a:latin typeface="Times New Roman" pitchFamily="18" charset="0"/>
                <a:cs typeface="Times New Roman" pitchFamily="18" charset="0"/>
              </a:rPr>
              <a:t>encryption mechanism to protect them respectively.</a:t>
            </a:r>
          </a:p>
          <a:p>
            <a:pPr lvl="0" algn="just">
              <a:lnSpc>
                <a:spcPct val="150000"/>
              </a:lnSpc>
            </a:pPr>
            <a:r>
              <a:rPr lang="en-US" sz="2000" dirty="0" smtClean="0">
                <a:latin typeface="Times New Roman" pitchFamily="18" charset="0"/>
                <a:cs typeface="Times New Roman" pitchFamily="18" charset="0"/>
              </a:rPr>
              <a:t>We propose collaborative IDS based on cloudlet </a:t>
            </a:r>
            <a:r>
              <a:rPr lang="en-US" sz="2000" dirty="0" smtClean="0">
                <a:latin typeface="Times New Roman" pitchFamily="18" charset="0"/>
                <a:cs typeface="Times New Roman" pitchFamily="18" charset="0"/>
              </a:rPr>
              <a:t>mesh to </a:t>
            </a:r>
            <a:r>
              <a:rPr lang="en-US" sz="2000" dirty="0" smtClean="0">
                <a:latin typeface="Times New Roman" pitchFamily="18" charset="0"/>
                <a:cs typeface="Times New Roman" pitchFamily="18" charset="0"/>
              </a:rPr>
              <a:t>protect the whole healthcare system against </a:t>
            </a:r>
            <a:r>
              <a:rPr lang="en-US" sz="2000" dirty="0" smtClean="0">
                <a:latin typeface="Times New Roman" pitchFamily="18" charset="0"/>
                <a:cs typeface="Times New Roman" pitchFamily="18" charset="0"/>
              </a:rPr>
              <a:t>malicious attacks</a:t>
            </a:r>
            <a:r>
              <a:rPr lang="en-US" sz="2000" dirty="0" smtClean="0">
                <a:latin typeface="Times New Roman" pitchFamily="18" charset="0"/>
                <a:cs typeface="Times New Roman" pitchFamily="18" charset="0"/>
              </a:rPr>
              <a:t>.</a:t>
            </a:r>
          </a:p>
          <a:p>
            <a:pPr algn="just">
              <a:lnSpc>
                <a:spcPct val="150000"/>
              </a:lnSpc>
            </a:pPr>
            <a:endParaRPr lang="en-US" sz="2000" dirty="0">
              <a:latin typeface="Times New Roman" pitchFamily="18" charset="0"/>
              <a:cs typeface="Times New Roman"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SYSTEM ARCHITECTURE</a:t>
            </a:r>
            <a:endParaRPr lang="en-US" dirty="0"/>
          </a:p>
        </p:txBody>
      </p:sp>
      <p:sp>
        <p:nvSpPr>
          <p:cNvPr id="5" name="Content Placeholder 4"/>
          <p:cNvSpPr>
            <a:spLocks noGrp="1"/>
          </p:cNvSpPr>
          <p:nvPr>
            <p:ph sz="quarter" idx="1"/>
          </p:nvPr>
        </p:nvSpPr>
        <p:spPr/>
        <p:txBody>
          <a:bodyPr/>
          <a:lstStyle/>
          <a:p>
            <a:endParaRPr lang="en-US" dirty="0"/>
          </a:p>
        </p:txBody>
      </p:sp>
      <p:pic>
        <p:nvPicPr>
          <p:cNvPr id="1026" name="Picture 2"/>
          <p:cNvPicPr>
            <a:picLocks noChangeAspect="1" noChangeArrowheads="1"/>
          </p:cNvPicPr>
          <p:nvPr/>
        </p:nvPicPr>
        <p:blipFill>
          <a:blip r:embed="rId2"/>
          <a:srcRect/>
          <a:stretch>
            <a:fillRect/>
          </a:stretch>
        </p:blipFill>
        <p:spPr bwMode="auto">
          <a:xfrm>
            <a:off x="304800" y="2057400"/>
            <a:ext cx="8388350" cy="3505200"/>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HARDWARE REQUIREMENTS</a:t>
            </a:r>
            <a:endParaRPr lang="en-US" dirty="0"/>
          </a:p>
        </p:txBody>
      </p:sp>
      <p:sp>
        <p:nvSpPr>
          <p:cNvPr id="3" name="Content Placeholder 2"/>
          <p:cNvSpPr>
            <a:spLocks noGrp="1"/>
          </p:cNvSpPr>
          <p:nvPr>
            <p:ph sz="quarter" idx="1"/>
          </p:nvPr>
        </p:nvSpPr>
        <p:spPr/>
        <p:txBody>
          <a:bodyPr/>
          <a:lstStyle/>
          <a:p>
            <a:pPr lvl="0"/>
            <a:r>
              <a:rPr lang="en-GB" dirty="0" smtClean="0"/>
              <a:t>System			: 	Pentium Dual Core.</a:t>
            </a:r>
            <a:endParaRPr lang="en-US" dirty="0" smtClean="0"/>
          </a:p>
          <a:p>
            <a:pPr lvl="0"/>
            <a:r>
              <a:rPr lang="en-GB" dirty="0" smtClean="0"/>
              <a:t>Hard Disk 		: 	120 GB.</a:t>
            </a:r>
            <a:endParaRPr lang="en-US" dirty="0" smtClean="0"/>
          </a:p>
          <a:p>
            <a:pPr lvl="0"/>
            <a:r>
              <a:rPr lang="en-GB" dirty="0" smtClean="0"/>
              <a:t>Monitor			: 	15’’ LED</a:t>
            </a:r>
            <a:endParaRPr lang="en-US" dirty="0" smtClean="0"/>
          </a:p>
          <a:p>
            <a:pPr lvl="0"/>
            <a:r>
              <a:rPr lang="en-GB" dirty="0" smtClean="0"/>
              <a:t>Input Devices		: 	Keyboard, Mouse</a:t>
            </a:r>
            <a:endParaRPr lang="en-US" dirty="0" smtClean="0"/>
          </a:p>
          <a:p>
            <a:pPr lvl="0"/>
            <a:r>
              <a:rPr lang="en-GB" dirty="0" smtClean="0"/>
              <a:t>Ram			:	1 GB</a:t>
            </a:r>
            <a:endParaRPr lang="en-US" dirty="0" smtClean="0"/>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REQUIREMENTS</a:t>
            </a:r>
            <a:endParaRPr lang="en-US" dirty="0"/>
          </a:p>
        </p:txBody>
      </p:sp>
      <p:sp>
        <p:nvSpPr>
          <p:cNvPr id="3" name="Content Placeholder 2"/>
          <p:cNvSpPr>
            <a:spLocks noGrp="1"/>
          </p:cNvSpPr>
          <p:nvPr>
            <p:ph sz="quarter" idx="1"/>
          </p:nvPr>
        </p:nvSpPr>
        <p:spPr/>
        <p:txBody>
          <a:bodyPr/>
          <a:lstStyle/>
          <a:p>
            <a:pPr lvl="0"/>
            <a:r>
              <a:rPr lang="en-US" dirty="0" smtClean="0"/>
              <a:t>Operating system 	: 	Windows 7.</a:t>
            </a:r>
          </a:p>
          <a:p>
            <a:pPr lvl="0"/>
            <a:r>
              <a:rPr lang="en-US" dirty="0" smtClean="0"/>
              <a:t>Coding Language</a:t>
            </a:r>
            <a:r>
              <a:rPr lang="en-US" smtClean="0"/>
              <a:t>	:</a:t>
            </a:r>
            <a:r>
              <a:rPr lang="en-US" dirty="0" smtClean="0"/>
              <a:t>	JAVA/J2EE</a:t>
            </a:r>
          </a:p>
          <a:p>
            <a:pPr lvl="0"/>
            <a:r>
              <a:rPr lang="en-US" dirty="0" smtClean="0"/>
              <a:t>Tool				:	</a:t>
            </a:r>
            <a:r>
              <a:rPr lang="en-US" dirty="0" err="1" smtClean="0"/>
              <a:t>Netbeans</a:t>
            </a:r>
            <a:r>
              <a:rPr lang="en-US" dirty="0" smtClean="0"/>
              <a:t> 7.2.1</a:t>
            </a:r>
          </a:p>
          <a:p>
            <a:pPr lvl="0"/>
            <a:r>
              <a:rPr lang="en-US" dirty="0" smtClean="0"/>
              <a:t>Database			:	MYSQL</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a:t>
            </a:r>
            <a:endParaRPr lang="en-US" dirty="0"/>
          </a:p>
        </p:txBody>
      </p:sp>
      <p:sp>
        <p:nvSpPr>
          <p:cNvPr id="3" name="Content Placeholder 2"/>
          <p:cNvSpPr>
            <a:spLocks noGrp="1"/>
          </p:cNvSpPr>
          <p:nvPr>
            <p:ph sz="quarter" idx="1"/>
          </p:nvPr>
        </p:nvSpPr>
        <p:spPr/>
        <p:txBody>
          <a:bodyPr>
            <a:normAutofit/>
          </a:bodyPr>
          <a:lstStyle/>
          <a:p>
            <a:pPr algn="just">
              <a:lnSpc>
                <a:spcPct val="150000"/>
              </a:lnSpc>
            </a:pPr>
            <a:r>
              <a:rPr lang="en-US" sz="2000" dirty="0" smtClean="0">
                <a:latin typeface="Times New Roman" pitchFamily="18" charset="0"/>
                <a:cs typeface="Times New Roman" pitchFamily="18" charset="0"/>
              </a:rPr>
              <a:t>Min Chen, </a:t>
            </a:r>
            <a:r>
              <a:rPr lang="en-US" sz="2000" i="1" dirty="0" smtClean="0">
                <a:latin typeface="Times New Roman" pitchFamily="18" charset="0"/>
                <a:cs typeface="Times New Roman" pitchFamily="18" charset="0"/>
              </a:rPr>
              <a:t>Senior Member, IEEE</a:t>
            </a:r>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Yongfeng</a:t>
            </a:r>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Qian</a:t>
            </a:r>
            <a:r>
              <a:rPr lang="en-US" sz="2000" dirty="0" smtClean="0">
                <a:latin typeface="Times New Roman" pitchFamily="18" charset="0"/>
                <a:cs typeface="Times New Roman" pitchFamily="18" charset="0"/>
              </a:rPr>
              <a:t>, Jing </a:t>
            </a:r>
            <a:r>
              <a:rPr lang="en-US" sz="2000" dirty="0" err="1" smtClean="0">
                <a:latin typeface="Times New Roman" pitchFamily="18" charset="0"/>
                <a:cs typeface="Times New Roman" pitchFamily="18" charset="0"/>
              </a:rPr>
              <a:t>Chen,Kai</a:t>
            </a:r>
            <a:r>
              <a:rPr lang="en-US" sz="2000" dirty="0" smtClean="0">
                <a:latin typeface="Times New Roman" pitchFamily="18" charset="0"/>
                <a:cs typeface="Times New Roman" pitchFamily="18" charset="0"/>
              </a:rPr>
              <a:t> Hwang, </a:t>
            </a:r>
            <a:r>
              <a:rPr lang="en-US" sz="2000" i="1" dirty="0" smtClean="0">
                <a:latin typeface="Times New Roman" pitchFamily="18" charset="0"/>
                <a:cs typeface="Times New Roman" pitchFamily="18" charset="0"/>
              </a:rPr>
              <a:t>Fellow, IEEE</a:t>
            </a:r>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Shiwen</a:t>
            </a:r>
            <a:r>
              <a:rPr lang="en-US" sz="2000" dirty="0" smtClean="0">
                <a:latin typeface="Times New Roman" pitchFamily="18" charset="0"/>
                <a:cs typeface="Times New Roman" pitchFamily="18" charset="0"/>
              </a:rPr>
              <a:t> Mao, </a:t>
            </a:r>
            <a:r>
              <a:rPr lang="en-US" sz="2000" i="1" dirty="0" smtClean="0">
                <a:latin typeface="Times New Roman" pitchFamily="18" charset="0"/>
                <a:cs typeface="Times New Roman" pitchFamily="18" charset="0"/>
              </a:rPr>
              <a:t>Senior Member</a:t>
            </a:r>
            <a:r>
              <a:rPr lang="en-US" sz="2000" dirty="0" smtClean="0">
                <a:latin typeface="Times New Roman" pitchFamily="18" charset="0"/>
                <a:cs typeface="Times New Roman" pitchFamily="18" charset="0"/>
              </a:rPr>
              <a:t>, Long </a:t>
            </a:r>
            <a:r>
              <a:rPr lang="en-US" sz="2000" dirty="0" err="1" smtClean="0">
                <a:latin typeface="Times New Roman" pitchFamily="18" charset="0"/>
                <a:cs typeface="Times New Roman" pitchFamily="18" charset="0"/>
              </a:rPr>
              <a:t>Hu</a:t>
            </a:r>
            <a:r>
              <a:rPr lang="en-US" sz="2000" dirty="0" smtClean="0">
                <a:latin typeface="Times New Roman" pitchFamily="18" charset="0"/>
                <a:cs typeface="Times New Roman" pitchFamily="18" charset="0"/>
              </a:rPr>
              <a:t>, “Privacy Protection and Intrusion Avoidance </a:t>
            </a:r>
            <a:r>
              <a:rPr lang="en-US" sz="2000" dirty="0" smtClean="0">
                <a:latin typeface="Times New Roman" pitchFamily="18" charset="0"/>
                <a:cs typeface="Times New Roman" pitchFamily="18" charset="0"/>
              </a:rPr>
              <a:t>for Cloudlet-based </a:t>
            </a:r>
            <a:r>
              <a:rPr lang="en-US" sz="2000" dirty="0" smtClean="0">
                <a:latin typeface="Times New Roman" pitchFamily="18" charset="0"/>
                <a:cs typeface="Times New Roman" pitchFamily="18" charset="0"/>
              </a:rPr>
              <a:t>Medical Data Sharing”, </a:t>
            </a:r>
            <a:r>
              <a:rPr lang="en-US" sz="2000" b="1" dirty="0" smtClean="0">
                <a:latin typeface="Times New Roman" pitchFamily="18" charset="0"/>
                <a:cs typeface="Times New Roman" pitchFamily="18" charset="0"/>
              </a:rPr>
              <a:t>IEEE Transactions on Cloud Computing, 2017.</a:t>
            </a:r>
            <a:endParaRPr lang="en-US" sz="2000" dirty="0" smtClean="0">
              <a:latin typeface="Times New Roman" pitchFamily="18" charset="0"/>
              <a:cs typeface="Times New Roman" pitchFamily="18" charset="0"/>
            </a:endParaRPr>
          </a:p>
          <a:p>
            <a:pPr algn="just">
              <a:lnSpc>
                <a:spcPct val="150000"/>
              </a:lnSpc>
            </a:pPr>
            <a:endParaRPr lang="en-US" sz="2000" dirty="0">
              <a:latin typeface="Times New Roman" pitchFamily="18" charset="0"/>
              <a:cs typeface="Times New Roman" pitchFamily="18" charset="0"/>
            </a:endParaRPr>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23</TotalTime>
  <Words>848</Words>
  <Application>Microsoft Office PowerPoint</Application>
  <PresentationFormat>On-screen Show (4:3)</PresentationFormat>
  <Paragraphs>42</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Median</vt:lpstr>
      <vt:lpstr>Privacy Protection and Intrusion Avoidance for Cloudlet-based Medical Data Sharing </vt:lpstr>
      <vt:lpstr>ABSTRACT</vt:lpstr>
      <vt:lpstr>CONT..</vt:lpstr>
      <vt:lpstr>EXISTING SYSTEM</vt:lpstr>
      <vt:lpstr>DISADVANTAGES OF EXISTING SYSTEM</vt:lpstr>
      <vt:lpstr>PROPOSED SYSTEM</vt:lpstr>
      <vt:lpstr>CONT..</vt:lpstr>
      <vt:lpstr>ADVANTAGES OF PROPOSED SYSTEM</vt:lpstr>
      <vt:lpstr>SYSTEM ARCHITECTURE</vt:lpstr>
      <vt:lpstr>HARDWARE REQUIREMENTS</vt:lpstr>
      <vt:lpstr>SOFTWARE REQUIREMENTS</vt:lpstr>
      <vt:lpstr>REFERENCE</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frontoffice</cp:lastModifiedBy>
  <cp:revision>10</cp:revision>
  <dcterms:created xsi:type="dcterms:W3CDTF">2006-08-16T00:00:00Z</dcterms:created>
  <dcterms:modified xsi:type="dcterms:W3CDTF">2017-11-28T10:43:23Z</dcterms:modified>
</cp:coreProperties>
</file>